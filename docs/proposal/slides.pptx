
<file path=[Content_Types].xml><?xml version="1.0" encoding="utf-8"?>
<Types xmlns="http://schemas.openxmlformats.org/package/2006/content-types">
  <Default ContentType="image/jpeg" Extension="jpg"/>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y="6858000" cx="9144000"/>
  <p:notesSz cx="7315200" cy="96012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DCBE433-D38A-414C-8CE7-A03D4E96D332}">
  <a:tblStyle styleId="{6DCBE433-D38A-414C-8CE7-A03D4E96D33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219425" y="720075"/>
            <a:ext cx="4877025"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2" name="Google Shape;82;p1:notes"/>
          <p:cNvSpPr/>
          <p:nvPr>
            <p:ph idx="2" type="sldImg"/>
          </p:nvPr>
        </p:nvSpPr>
        <p:spPr>
          <a:xfrm>
            <a:off x="1219425" y="720075"/>
            <a:ext cx="4877025"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p2: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9" name="Google Shape;89;p2:notes"/>
          <p:cNvSpPr/>
          <p:nvPr>
            <p:ph idx="2" type="sldImg"/>
          </p:nvPr>
        </p:nvSpPr>
        <p:spPr>
          <a:xfrm>
            <a:off x="1219425" y="720075"/>
            <a:ext cx="4877025"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3: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95" name="Google Shape;95;p3:notes"/>
          <p:cNvSpPr/>
          <p:nvPr>
            <p:ph idx="2" type="sldImg"/>
          </p:nvPr>
        </p:nvSpPr>
        <p:spPr>
          <a:xfrm>
            <a:off x="1257300" y="720725"/>
            <a:ext cx="4800600"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4: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1" name="Google Shape;101;p4:notes"/>
          <p:cNvSpPr/>
          <p:nvPr>
            <p:ph idx="2" type="sldImg"/>
          </p:nvPr>
        </p:nvSpPr>
        <p:spPr>
          <a:xfrm>
            <a:off x="1257300" y="720725"/>
            <a:ext cx="4800600"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5: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7" name="Google Shape;107;p5:notes"/>
          <p:cNvSpPr/>
          <p:nvPr>
            <p:ph idx="2" type="sldImg"/>
          </p:nvPr>
        </p:nvSpPr>
        <p:spPr>
          <a:xfrm>
            <a:off x="1219425" y="720075"/>
            <a:ext cx="4877025"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6: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1" name="Google Shape;121;p6:notes"/>
          <p:cNvSpPr/>
          <p:nvPr>
            <p:ph idx="2" type="sldImg"/>
          </p:nvPr>
        </p:nvSpPr>
        <p:spPr>
          <a:xfrm>
            <a:off x="1219425" y="720075"/>
            <a:ext cx="4877025"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7: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7" name="Google Shape;127;p7:notes"/>
          <p:cNvSpPr/>
          <p:nvPr>
            <p:ph idx="2" type="sldImg"/>
          </p:nvPr>
        </p:nvSpPr>
        <p:spPr>
          <a:xfrm>
            <a:off x="1219425" y="720075"/>
            <a:ext cx="4877025"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f9fbfbdbe5_5_69:notes"/>
          <p:cNvSpPr txBox="1"/>
          <p:nvPr>
            <p:ph idx="1" type="body"/>
          </p:nvPr>
        </p:nvSpPr>
        <p:spPr>
          <a:xfrm>
            <a:off x="731500" y="4560550"/>
            <a:ext cx="5852100" cy="432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33" name="Google Shape;133;g3f9fbfbdbe5_5_69:notes"/>
          <p:cNvSpPr/>
          <p:nvPr>
            <p:ph idx="2" type="sldImg"/>
          </p:nvPr>
        </p:nvSpPr>
        <p:spPr>
          <a:xfrm>
            <a:off x="1219425" y="720075"/>
            <a:ext cx="4877100" cy="36006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8:notes"/>
          <p:cNvSpPr txBox="1"/>
          <p:nvPr>
            <p:ph idx="1" type="body"/>
          </p:nvPr>
        </p:nvSpPr>
        <p:spPr>
          <a:xfrm>
            <a:off x="731500" y="4560550"/>
            <a:ext cx="5852100" cy="432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39" name="Google Shape;139;p8:notes"/>
          <p:cNvSpPr/>
          <p:nvPr>
            <p:ph idx="2" type="sldImg"/>
          </p:nvPr>
        </p:nvSpPr>
        <p:spPr>
          <a:xfrm>
            <a:off x="1219425" y="720075"/>
            <a:ext cx="4877100" cy="36006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9:notes"/>
          <p:cNvSpPr txBox="1"/>
          <p:nvPr>
            <p:ph idx="1" type="body"/>
          </p:nvPr>
        </p:nvSpPr>
        <p:spPr>
          <a:xfrm>
            <a:off x="731500" y="4560550"/>
            <a:ext cx="5852100" cy="432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45" name="Google Shape;145;p9:notes"/>
          <p:cNvSpPr/>
          <p:nvPr>
            <p:ph idx="2" type="sldImg"/>
          </p:nvPr>
        </p:nvSpPr>
        <p:spPr>
          <a:xfrm>
            <a:off x="1219425" y="720075"/>
            <a:ext cx="4877100" cy="36006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g3fa1e6576f6_0_190:notes"/>
          <p:cNvSpPr txBox="1"/>
          <p:nvPr>
            <p:ph idx="1" type="body"/>
          </p:nvPr>
        </p:nvSpPr>
        <p:spPr>
          <a:xfrm>
            <a:off x="731500" y="4560550"/>
            <a:ext cx="5852100" cy="432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53" name="Google Shape;153;g3fa1e6576f6_0_190:notes"/>
          <p:cNvSpPr/>
          <p:nvPr>
            <p:ph idx="2" type="sldImg"/>
          </p:nvPr>
        </p:nvSpPr>
        <p:spPr>
          <a:xfrm>
            <a:off x="1219425" y="720075"/>
            <a:ext cx="4877100" cy="36006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p10: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1" name="Google Shape;161;p10:notes"/>
          <p:cNvSpPr/>
          <p:nvPr>
            <p:ph idx="2" type="sldImg"/>
          </p:nvPr>
        </p:nvSpPr>
        <p:spPr>
          <a:xfrm>
            <a:off x="1219425" y="720075"/>
            <a:ext cx="4877025"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11: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7" name="Google Shape;167;p11:notes"/>
          <p:cNvSpPr/>
          <p:nvPr>
            <p:ph idx="2" type="sldImg"/>
          </p:nvPr>
        </p:nvSpPr>
        <p:spPr>
          <a:xfrm>
            <a:off x="1219425" y="720075"/>
            <a:ext cx="4877025"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2: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73" name="Google Shape;173;p12:notes"/>
          <p:cNvSpPr/>
          <p:nvPr>
            <p:ph idx="2" type="sldImg"/>
          </p:nvPr>
        </p:nvSpPr>
        <p:spPr>
          <a:xfrm>
            <a:off x="1257300" y="720725"/>
            <a:ext cx="4800600"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15: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79" name="Google Shape;179;p15:notes"/>
          <p:cNvSpPr/>
          <p:nvPr>
            <p:ph idx="2" type="sldImg"/>
          </p:nvPr>
        </p:nvSpPr>
        <p:spPr>
          <a:xfrm>
            <a:off x="1219425" y="720075"/>
            <a:ext cx="4877025"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13: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88" name="Google Shape;188;p13:notes"/>
          <p:cNvSpPr/>
          <p:nvPr>
            <p:ph idx="2" type="sldImg"/>
          </p:nvPr>
        </p:nvSpPr>
        <p:spPr>
          <a:xfrm>
            <a:off x="1219425" y="720075"/>
            <a:ext cx="4877025"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4: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39" name="Google Shape;239;p14:notes"/>
          <p:cNvSpPr/>
          <p:nvPr>
            <p:ph idx="2" type="sldImg"/>
          </p:nvPr>
        </p:nvSpPr>
        <p:spPr>
          <a:xfrm>
            <a:off x="1219425" y="720075"/>
            <a:ext cx="4877025"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g3fa1e6576f6_0_95:notes"/>
          <p:cNvSpPr txBox="1"/>
          <p:nvPr>
            <p:ph idx="1" type="body"/>
          </p:nvPr>
        </p:nvSpPr>
        <p:spPr>
          <a:xfrm>
            <a:off x="731500" y="4560550"/>
            <a:ext cx="5852100" cy="432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45" name="Google Shape;245;g3fa1e6576f6_0_95:notes"/>
          <p:cNvSpPr/>
          <p:nvPr>
            <p:ph idx="2" type="sldImg"/>
          </p:nvPr>
        </p:nvSpPr>
        <p:spPr>
          <a:xfrm>
            <a:off x="1219425" y="720075"/>
            <a:ext cx="4877100" cy="36006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g3fa1e6576f6_0_156:notes"/>
          <p:cNvSpPr txBox="1"/>
          <p:nvPr>
            <p:ph idx="1" type="body"/>
          </p:nvPr>
        </p:nvSpPr>
        <p:spPr>
          <a:xfrm>
            <a:off x="731500" y="4560550"/>
            <a:ext cx="5852100" cy="432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51" name="Google Shape;251;g3fa1e6576f6_0_156:notes"/>
          <p:cNvSpPr/>
          <p:nvPr>
            <p:ph idx="2" type="sldImg"/>
          </p:nvPr>
        </p:nvSpPr>
        <p:spPr>
          <a:xfrm>
            <a:off x="1257300" y="720725"/>
            <a:ext cx="4800600" cy="36006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p17: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57" name="Google Shape;257;p17:notes"/>
          <p:cNvSpPr/>
          <p:nvPr>
            <p:ph idx="2" type="sldImg"/>
          </p:nvPr>
        </p:nvSpPr>
        <p:spPr>
          <a:xfrm>
            <a:off x="1257300" y="720725"/>
            <a:ext cx="4800600"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g3fa40b541af_0_3:notes"/>
          <p:cNvSpPr txBox="1"/>
          <p:nvPr>
            <p:ph idx="1" type="body"/>
          </p:nvPr>
        </p:nvSpPr>
        <p:spPr>
          <a:xfrm>
            <a:off x="731500" y="4560550"/>
            <a:ext cx="5852100" cy="432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63" name="Google Shape;263;g3fa40b541af_0_3:notes"/>
          <p:cNvSpPr/>
          <p:nvPr>
            <p:ph idx="2" type="sldImg"/>
          </p:nvPr>
        </p:nvSpPr>
        <p:spPr>
          <a:xfrm>
            <a:off x="1257300" y="720725"/>
            <a:ext cx="4800600" cy="36006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fa40b541af_0_8:notes"/>
          <p:cNvSpPr txBox="1"/>
          <p:nvPr>
            <p:ph idx="1" type="body"/>
          </p:nvPr>
        </p:nvSpPr>
        <p:spPr>
          <a:xfrm>
            <a:off x="731500" y="4560550"/>
            <a:ext cx="5852100" cy="432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69" name="Google Shape;269;g3fa40b541af_0_8:notes"/>
          <p:cNvSpPr/>
          <p:nvPr>
            <p:ph idx="2" type="sldImg"/>
          </p:nvPr>
        </p:nvSpPr>
        <p:spPr>
          <a:xfrm>
            <a:off x="1257300" y="720725"/>
            <a:ext cx="4800600" cy="36006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fa1e6576f6_0_163:notes"/>
          <p:cNvSpPr txBox="1"/>
          <p:nvPr>
            <p:ph idx="1" type="body"/>
          </p:nvPr>
        </p:nvSpPr>
        <p:spPr>
          <a:xfrm>
            <a:off x="731500" y="4560550"/>
            <a:ext cx="5852100" cy="432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75" name="Google Shape;275;g3fa1e6576f6_0_163:notes"/>
          <p:cNvSpPr/>
          <p:nvPr>
            <p:ph idx="2" type="sldImg"/>
          </p:nvPr>
        </p:nvSpPr>
        <p:spPr>
          <a:xfrm>
            <a:off x="1257300" y="720725"/>
            <a:ext cx="4800600" cy="36006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16: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81" name="Google Shape;281;p16:notes"/>
          <p:cNvSpPr/>
          <p:nvPr>
            <p:ph idx="2" type="sldImg"/>
          </p:nvPr>
        </p:nvSpPr>
        <p:spPr>
          <a:xfrm>
            <a:off x="1257300" y="720725"/>
            <a:ext cx="4800600"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g3fa1e6576f6_0_107:notes"/>
          <p:cNvSpPr txBox="1"/>
          <p:nvPr>
            <p:ph idx="1" type="body"/>
          </p:nvPr>
        </p:nvSpPr>
        <p:spPr>
          <a:xfrm>
            <a:off x="731500" y="4560550"/>
            <a:ext cx="5852100" cy="432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87" name="Google Shape;287;g3fa1e6576f6_0_107:notes"/>
          <p:cNvSpPr/>
          <p:nvPr>
            <p:ph idx="2" type="sldImg"/>
          </p:nvPr>
        </p:nvSpPr>
        <p:spPr>
          <a:xfrm>
            <a:off x="1257300" y="720725"/>
            <a:ext cx="4800600" cy="36006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fa40b541af_0_19:notes"/>
          <p:cNvSpPr txBox="1"/>
          <p:nvPr>
            <p:ph idx="1" type="body"/>
          </p:nvPr>
        </p:nvSpPr>
        <p:spPr>
          <a:xfrm>
            <a:off x="731500" y="4560550"/>
            <a:ext cx="5852100" cy="432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93" name="Google Shape;293;g3fa40b541af_0_19:notes"/>
          <p:cNvSpPr/>
          <p:nvPr>
            <p:ph idx="2" type="sldImg"/>
          </p:nvPr>
        </p:nvSpPr>
        <p:spPr>
          <a:xfrm>
            <a:off x="1257300" y="720725"/>
            <a:ext cx="4800600" cy="36006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2"/>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3" name="Google Shape;13;p2"/>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14" name="Google Shape;14;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 name="Google Shape;15;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 name="Google Shape;16;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7" name="Shape 17"/>
        <p:cNvGrpSpPr/>
        <p:nvPr/>
      </p:nvGrpSpPr>
      <p:grpSpPr>
        <a:xfrm>
          <a:off x="0" y="0"/>
          <a:ext cx="0" cy="0"/>
          <a:chOff x="0" y="0"/>
          <a:chExt cx="0" cy="0"/>
        </a:xfrm>
      </p:grpSpPr>
      <p:sp>
        <p:nvSpPr>
          <p:cNvPr id="18" name="Google Shape;18;p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9" name="Google Shape;19;p3"/>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0" name="Google Shape;20;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 name="Google Shape;21;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 name="Google Shape;22;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3" name="Shape 23"/>
        <p:cNvGrpSpPr/>
        <p:nvPr/>
      </p:nvGrpSpPr>
      <p:grpSpPr>
        <a:xfrm>
          <a:off x="0" y="0"/>
          <a:ext cx="0" cy="0"/>
          <a:chOff x="0" y="0"/>
          <a:chExt cx="0" cy="0"/>
        </a:xfrm>
      </p:grpSpPr>
      <p:sp>
        <p:nvSpPr>
          <p:cNvPr id="24" name="Google Shape;24;p4"/>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Autofit/>
          </a:bodyPr>
          <a:lstStyle>
            <a:lvl1pPr lvl="0" algn="l">
              <a:lnSpc>
                <a:spcPct val="100000"/>
              </a:lnSpc>
              <a:spcBef>
                <a:spcPts val="0"/>
              </a:spcBef>
              <a:spcAft>
                <a:spcPts val="0"/>
              </a:spcAft>
              <a:buSzPts val="1400"/>
              <a:buNone/>
              <a:defRPr b="1" sz="4000" cap="none"/>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25" name="Google Shape;25;p4"/>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26" name="Google Shape;26;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7" name="Google Shape;27;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8" name="Google Shape;28;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9" name="Shape 29"/>
        <p:cNvGrpSpPr/>
        <p:nvPr/>
      </p:nvGrpSpPr>
      <p:grpSpPr>
        <a:xfrm>
          <a:off x="0" y="0"/>
          <a:ext cx="0" cy="0"/>
          <a:chOff x="0" y="0"/>
          <a:chExt cx="0" cy="0"/>
        </a:xfrm>
      </p:grpSpPr>
      <p:sp>
        <p:nvSpPr>
          <p:cNvPr id="30" name="Google Shape;30;p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31" name="Google Shape;31;p5"/>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2" name="Google Shape;32;p5"/>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3" name="Google Shape;33;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4" name="Google Shape;34;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6" name="Shape 36"/>
        <p:cNvGrpSpPr/>
        <p:nvPr/>
      </p:nvGrpSpPr>
      <p:grpSpPr>
        <a:xfrm>
          <a:off x="0" y="0"/>
          <a:ext cx="0" cy="0"/>
          <a:chOff x="0" y="0"/>
          <a:chExt cx="0" cy="0"/>
        </a:xfrm>
      </p:grpSpPr>
      <p:sp>
        <p:nvSpPr>
          <p:cNvPr id="37" name="Google Shape;37;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38" name="Google Shape;38;p6"/>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39" name="Google Shape;39;p6"/>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0" name="Google Shape;40;p6"/>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1" name="Google Shape;41;p6"/>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2" name="Google Shape;42;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5" name="Shape 45"/>
        <p:cNvGrpSpPr/>
        <p:nvPr/>
      </p:nvGrpSpPr>
      <p:grpSpPr>
        <a:xfrm>
          <a:off x="0" y="0"/>
          <a:ext cx="0" cy="0"/>
          <a:chOff x="0" y="0"/>
          <a:chExt cx="0" cy="0"/>
        </a:xfrm>
      </p:grpSpPr>
      <p:sp>
        <p:nvSpPr>
          <p:cNvPr id="46" name="Google Shape;46;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47" name="Google Shape;47;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9" name="Google Shape;49;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0" name="Shape 50"/>
        <p:cNvGrpSpPr/>
        <p:nvPr/>
      </p:nvGrpSpPr>
      <p:grpSpPr>
        <a:xfrm>
          <a:off x="0" y="0"/>
          <a:ext cx="0" cy="0"/>
          <a:chOff x="0" y="0"/>
          <a:chExt cx="0" cy="0"/>
        </a:xfrm>
      </p:grpSpPr>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Autofit/>
          </a:bodyPr>
          <a:lstStyle>
            <a:lvl1pPr lvl="0" algn="l">
              <a:lnSpc>
                <a:spcPct val="100000"/>
              </a:lnSpc>
              <a:spcBef>
                <a:spcPts val="0"/>
              </a:spcBef>
              <a:spcAft>
                <a:spcPts val="0"/>
              </a:spcAft>
              <a:buSzPts val="1400"/>
              <a:buNone/>
              <a:defRPr b="1" sz="20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Autofit/>
          </a:bodyPr>
          <a:lstStyle>
            <a:lvl1pPr lvl="0" algn="l">
              <a:lnSpc>
                <a:spcPct val="100000"/>
              </a:lnSpc>
              <a:spcBef>
                <a:spcPts val="0"/>
              </a:spcBef>
              <a:spcAft>
                <a:spcPts val="0"/>
              </a:spcAft>
              <a:buSzPts val="1400"/>
              <a:buNone/>
              <a:defRPr b="1" sz="20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70" name="Google Shape;70;p11"/>
          <p:cNvSpPr txBox="1"/>
          <p:nvPr>
            <p:ph idx="1" type="body"/>
          </p:nvPr>
        </p:nvSpPr>
        <p:spPr>
          <a:xfrm rot="5400000">
            <a:off x="2309018" y="-251619"/>
            <a:ext cx="4525963" cy="8229600"/>
          </a:xfrm>
          <a:prstGeom prst="rect">
            <a:avLst/>
          </a:prstGeom>
          <a:noFill/>
          <a:ln>
            <a:noFill/>
          </a:ln>
        </p:spPr>
        <p:txBody>
          <a:bodyPr anchorCtr="0" anchor="t" bIns="45700" lIns="91425" spcFirstLastPara="1" rIns="91425" wrap="square" tIns="45700">
            <a:no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7" y="2171700"/>
            <a:ext cx="5851525" cy="20574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76" name="Google Shape;76;p12"/>
          <p:cNvSpPr txBox="1"/>
          <p:nvPr>
            <p:ph idx="1" type="body"/>
          </p:nvPr>
        </p:nvSpPr>
        <p:spPr>
          <a:xfrm rot="5400000">
            <a:off x="541338" y="190501"/>
            <a:ext cx="5851525" cy="6019800"/>
          </a:xfrm>
          <a:prstGeom prst="rect">
            <a:avLst/>
          </a:prstGeom>
          <a:noFill/>
          <a:ln>
            <a:noFill/>
          </a:ln>
        </p:spPr>
        <p:txBody>
          <a:bodyPr anchorCtr="0" anchor="t" bIns="45700" lIns="91425" spcFirstLastPara="1" rIns="91425" wrap="square" tIns="45700">
            <a:no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theme" Target="../theme/theme2.xml"/><Relationship Id="rId12" Type="http://schemas.openxmlformats.org/officeDocument/2006/relationships/slideLayout" Target="../slideLayouts/slideLayout11.xml"/><Relationship Id="rId1" Type="http://schemas.openxmlformats.org/officeDocument/2006/relationships/image" Target="../media/image1.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4400" u="none" cap="none" strike="noStrike">
                <a:solidFill>
                  <a:schemeClr val="dk1"/>
                </a:solidFill>
                <a:latin typeface="Calibri"/>
                <a:ea typeface="Calibri"/>
                <a:cs typeface="Calibri"/>
                <a:sym typeface="Calibri"/>
              </a:defRPr>
            </a:lvl1pPr>
            <a:lvl2pPr lvl="1" marR="0" rtl="0" algn="ctr">
              <a:lnSpc>
                <a:spcPct val="100000"/>
              </a:lnSpc>
              <a:spcBef>
                <a:spcPts val="0"/>
              </a:spcBef>
              <a:spcAft>
                <a:spcPts val="0"/>
              </a:spcAft>
              <a:buClr>
                <a:srgbClr val="000000"/>
              </a:buClr>
              <a:buSzPts val="1400"/>
              <a:buFont typeface="Arial"/>
              <a:buNone/>
              <a:defRPr b="0" i="0" sz="4400" u="none" cap="none" strike="noStrike">
                <a:solidFill>
                  <a:schemeClr val="dk1"/>
                </a:solidFill>
                <a:latin typeface="Calibri"/>
                <a:ea typeface="Calibri"/>
                <a:cs typeface="Calibri"/>
                <a:sym typeface="Calibri"/>
              </a:defRPr>
            </a:lvl2pPr>
            <a:lvl3pPr lvl="2" marR="0" rtl="0" algn="ctr">
              <a:lnSpc>
                <a:spcPct val="100000"/>
              </a:lnSpc>
              <a:spcBef>
                <a:spcPts val="0"/>
              </a:spcBef>
              <a:spcAft>
                <a:spcPts val="0"/>
              </a:spcAft>
              <a:buClr>
                <a:srgbClr val="000000"/>
              </a:buClr>
              <a:buSzPts val="1400"/>
              <a:buFont typeface="Arial"/>
              <a:buNone/>
              <a:defRPr b="0" i="0" sz="4400" u="none" cap="none" strike="noStrike">
                <a:solidFill>
                  <a:schemeClr val="dk1"/>
                </a:solidFill>
                <a:latin typeface="Calibri"/>
                <a:ea typeface="Calibri"/>
                <a:cs typeface="Calibri"/>
                <a:sym typeface="Calibri"/>
              </a:defRPr>
            </a:lvl3pPr>
            <a:lvl4pPr lvl="3" marR="0" rtl="0" algn="ctr">
              <a:lnSpc>
                <a:spcPct val="100000"/>
              </a:lnSpc>
              <a:spcBef>
                <a:spcPts val="0"/>
              </a:spcBef>
              <a:spcAft>
                <a:spcPts val="0"/>
              </a:spcAft>
              <a:buClr>
                <a:srgbClr val="000000"/>
              </a:buClr>
              <a:buSzPts val="1400"/>
              <a:buFont typeface="Arial"/>
              <a:buNone/>
              <a:defRPr b="0" i="0" sz="4400" u="none" cap="none" strike="noStrike">
                <a:solidFill>
                  <a:schemeClr val="dk1"/>
                </a:solidFill>
                <a:latin typeface="Calibri"/>
                <a:ea typeface="Calibri"/>
                <a:cs typeface="Calibri"/>
                <a:sym typeface="Calibri"/>
              </a:defRPr>
            </a:lvl4pPr>
            <a:lvl5pPr lvl="4" marR="0" rtl="0" algn="ctr">
              <a:lnSpc>
                <a:spcPct val="100000"/>
              </a:lnSpc>
              <a:spcBef>
                <a:spcPts val="0"/>
              </a:spcBef>
              <a:spcAft>
                <a:spcPts val="0"/>
              </a:spcAft>
              <a:buClr>
                <a:srgbClr val="000000"/>
              </a:buClr>
              <a:buSzPts val="1400"/>
              <a:buFont typeface="Arial"/>
              <a:buNone/>
              <a:defRPr b="0" i="0" sz="4400" u="none" cap="none" strike="noStrike">
                <a:solidFill>
                  <a:schemeClr val="dk1"/>
                </a:solidFill>
                <a:latin typeface="Calibri"/>
                <a:ea typeface="Calibri"/>
                <a:cs typeface="Calibri"/>
                <a:sym typeface="Calibri"/>
              </a:defRPr>
            </a:lvl5pPr>
            <a:lvl6pPr lvl="5" marR="0" rtl="0" algn="ctr">
              <a:lnSpc>
                <a:spcPct val="100000"/>
              </a:lnSpc>
              <a:spcBef>
                <a:spcPts val="0"/>
              </a:spcBef>
              <a:spcAft>
                <a:spcPts val="0"/>
              </a:spcAft>
              <a:buClr>
                <a:srgbClr val="000000"/>
              </a:buClr>
              <a:buSzPts val="1400"/>
              <a:buFont typeface="Arial"/>
              <a:buNone/>
              <a:defRPr b="0" i="0" sz="4400" u="none" cap="none" strike="noStrike">
                <a:solidFill>
                  <a:schemeClr val="dk1"/>
                </a:solidFill>
                <a:latin typeface="Calibri"/>
                <a:ea typeface="Calibri"/>
                <a:cs typeface="Calibri"/>
                <a:sym typeface="Calibri"/>
              </a:defRPr>
            </a:lvl6pPr>
            <a:lvl7pPr lvl="6" marR="0" rtl="0" algn="ctr">
              <a:lnSpc>
                <a:spcPct val="100000"/>
              </a:lnSpc>
              <a:spcBef>
                <a:spcPts val="0"/>
              </a:spcBef>
              <a:spcAft>
                <a:spcPts val="0"/>
              </a:spcAft>
              <a:buClr>
                <a:srgbClr val="000000"/>
              </a:buClr>
              <a:buSzPts val="1400"/>
              <a:buFont typeface="Arial"/>
              <a:buNone/>
              <a:defRPr b="0" i="0" sz="4400" u="none" cap="none" strike="noStrike">
                <a:solidFill>
                  <a:schemeClr val="dk1"/>
                </a:solidFill>
                <a:latin typeface="Calibri"/>
                <a:ea typeface="Calibri"/>
                <a:cs typeface="Calibri"/>
                <a:sym typeface="Calibri"/>
              </a:defRPr>
            </a:lvl7pPr>
            <a:lvl8pPr lvl="7" marR="0" rtl="0" algn="ctr">
              <a:lnSpc>
                <a:spcPct val="100000"/>
              </a:lnSpc>
              <a:spcBef>
                <a:spcPts val="0"/>
              </a:spcBef>
              <a:spcAft>
                <a:spcPts val="0"/>
              </a:spcAft>
              <a:buClr>
                <a:srgbClr val="000000"/>
              </a:buClr>
              <a:buSzPts val="1400"/>
              <a:buFont typeface="Arial"/>
              <a:buNone/>
              <a:defRPr b="0" i="0" sz="4400" u="none" cap="none" strike="noStrike">
                <a:solidFill>
                  <a:schemeClr val="dk1"/>
                </a:solidFill>
                <a:latin typeface="Calibri"/>
                <a:ea typeface="Calibri"/>
                <a:cs typeface="Calibri"/>
                <a:sym typeface="Calibri"/>
              </a:defRPr>
            </a:lvl8pPr>
            <a:lvl9pPr lvl="8" marR="0" rtl="0" algn="ctr">
              <a:lnSpc>
                <a:spcPct val="100000"/>
              </a:lnSpc>
              <a:spcBef>
                <a:spcPts val="0"/>
              </a:spcBef>
              <a:spcAft>
                <a:spcPts val="0"/>
              </a:spcAft>
              <a:buClr>
                <a:srgbClr val="000000"/>
              </a:buClr>
              <a:buSzPts val="1400"/>
              <a:buFont typeface="Arial"/>
              <a:buNone/>
              <a:defRPr b="0" i="0" sz="4400" u="none" cap="none" strike="noStrike">
                <a:solidFill>
                  <a:schemeClr val="dk1"/>
                </a:solidFill>
                <a:latin typeface="Calibri"/>
                <a:ea typeface="Calibri"/>
                <a:cs typeface="Calibri"/>
                <a:sym typeface="Calibri"/>
              </a:defRPr>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transition spd="med">
    <p:fade/>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jp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3" name="Shape 83"/>
        <p:cNvGrpSpPr/>
        <p:nvPr/>
      </p:nvGrpSpPr>
      <p:grpSpPr>
        <a:xfrm>
          <a:off x="0" y="0"/>
          <a:ext cx="0" cy="0"/>
          <a:chOff x="0" y="0"/>
          <a:chExt cx="0" cy="0"/>
        </a:xfrm>
      </p:grpSpPr>
      <p:sp>
        <p:nvSpPr>
          <p:cNvPr id="84" name="Google Shape;84;p1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1400"/>
              <a:buNone/>
            </a:pPr>
            <a:r>
              <a:rPr lang="en-US">
                <a:solidFill>
                  <a:srgbClr val="0B3D59"/>
                </a:solidFill>
              </a:rPr>
              <a:t>Final Year Project Proposal</a:t>
            </a:r>
            <a:endParaRPr>
              <a:solidFill>
                <a:srgbClr val="0B3D59"/>
              </a:solidFill>
            </a:endParaRPr>
          </a:p>
        </p:txBody>
      </p:sp>
      <p:sp>
        <p:nvSpPr>
          <p:cNvPr id="85" name="Google Shape;85;p1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lnSpcReduction="10000"/>
          </a:bodyPr>
          <a:lstStyle/>
          <a:p>
            <a:pPr indent="0" lvl="0" marL="63500" rtl="0" algn="ctr">
              <a:lnSpc>
                <a:spcPct val="100000"/>
              </a:lnSpc>
              <a:spcBef>
                <a:spcPts val="0"/>
              </a:spcBef>
              <a:spcAft>
                <a:spcPts val="0"/>
              </a:spcAft>
              <a:buClr>
                <a:srgbClr val="888888"/>
              </a:buClr>
              <a:buSzPts val="3200"/>
              <a:buFont typeface="Arial"/>
              <a:buNone/>
            </a:pPr>
            <a:r>
              <a:rPr lang="en-US"/>
              <a:t>GLANCE </a:t>
            </a:r>
            <a:r>
              <a:rPr lang="en-US"/>
              <a:t>– General Look-based Assessment for Non-invasive Care &amp; Evaluation</a:t>
            </a:r>
            <a:endParaRPr/>
          </a:p>
          <a:p>
            <a:pPr indent="0" lvl="0" marL="63500" rtl="0" algn="ctr">
              <a:lnSpc>
                <a:spcPct val="100000"/>
              </a:lnSpc>
              <a:spcBef>
                <a:spcPts val="280"/>
              </a:spcBef>
              <a:spcAft>
                <a:spcPts val="0"/>
              </a:spcAft>
              <a:buClr>
                <a:srgbClr val="888888"/>
              </a:buClr>
              <a:buSzPts val="1400"/>
              <a:buFont typeface="Arial"/>
              <a:buNone/>
            </a:pPr>
            <a:r>
              <a:rPr lang="en-US" sz="1600"/>
              <a:t>Supervised By: M. Islam Abbasi (Lecturer)</a:t>
            </a:r>
            <a:endParaRPr sz="3400"/>
          </a:p>
        </p:txBody>
      </p:sp>
      <p:pic>
        <p:nvPicPr>
          <p:cNvPr descr="Riphah.jpg" id="86" name="Google Shape;86;p13"/>
          <p:cNvPicPr preferRelativeResize="0"/>
          <p:nvPr/>
        </p:nvPicPr>
        <p:blipFill rotWithShape="1">
          <a:blip r:embed="rId4">
            <a:alphaModFix/>
          </a:blip>
          <a:srcRect b="4925" l="3033" r="6926" t="4065"/>
          <a:stretch/>
        </p:blipFill>
        <p:spPr>
          <a:xfrm>
            <a:off x="4076700" y="1295400"/>
            <a:ext cx="990600" cy="12954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1400"/>
              <a:buNone/>
            </a:pPr>
            <a:r>
              <a:rPr lang="en-US">
                <a:solidFill>
                  <a:srgbClr val="0B3D59"/>
                </a:solidFill>
              </a:rPr>
              <a:t>Project Team</a:t>
            </a:r>
            <a:endParaRPr>
              <a:solidFill>
                <a:srgbClr val="0B3D59"/>
              </a:solidFill>
            </a:endParaRPr>
          </a:p>
        </p:txBody>
      </p:sp>
      <p:sp>
        <p:nvSpPr>
          <p:cNvPr id="92" name="Google Shape;92;p14"/>
          <p:cNvSpPr txBox="1"/>
          <p:nvPr>
            <p:ph idx="1" type="body"/>
          </p:nvPr>
        </p:nvSpPr>
        <p:spPr>
          <a:xfrm>
            <a:off x="457200" y="1600200"/>
            <a:ext cx="8229600" cy="4526100"/>
          </a:xfrm>
          <a:prstGeom prst="rect">
            <a:avLst/>
          </a:prstGeom>
          <a:noFill/>
          <a:ln>
            <a:noFill/>
          </a:ln>
        </p:spPr>
        <p:txBody>
          <a:bodyPr anchorCtr="0" anchor="t" bIns="45700" lIns="91425" spcFirstLastPara="1" rIns="91425" wrap="square" tIns="45700">
            <a:noAutofit/>
          </a:bodyPr>
          <a:lstStyle/>
          <a:p>
            <a:pPr indent="-342900" lvl="0" marL="342900" rtl="0" algn="l">
              <a:lnSpc>
                <a:spcPct val="100000"/>
              </a:lnSpc>
              <a:spcBef>
                <a:spcPts val="0"/>
              </a:spcBef>
              <a:spcAft>
                <a:spcPts val="0"/>
              </a:spcAft>
              <a:buClr>
                <a:srgbClr val="0B3D59"/>
              </a:buClr>
              <a:buSzPts val="3200"/>
              <a:buChar char="•"/>
            </a:pPr>
            <a:r>
              <a:rPr lang="en-US">
                <a:solidFill>
                  <a:srgbClr val="0B3D59"/>
                </a:solidFill>
              </a:rPr>
              <a:t>Syed Jaffar Raza Kazmi (57375)</a:t>
            </a:r>
            <a:endParaRPr>
              <a:solidFill>
                <a:srgbClr val="0B3D59"/>
              </a:solidFill>
            </a:endParaRPr>
          </a:p>
          <a:p>
            <a:pPr indent="-342900" lvl="0" marL="342900" rtl="0" algn="l">
              <a:lnSpc>
                <a:spcPct val="100000"/>
              </a:lnSpc>
              <a:spcBef>
                <a:spcPts val="640"/>
              </a:spcBef>
              <a:spcAft>
                <a:spcPts val="0"/>
              </a:spcAft>
              <a:buClr>
                <a:srgbClr val="0B3D59"/>
              </a:buClr>
              <a:buSzPts val="3200"/>
              <a:buChar char="•"/>
            </a:pPr>
            <a:r>
              <a:rPr lang="en-US">
                <a:solidFill>
                  <a:srgbClr val="0B3D59"/>
                </a:solidFill>
              </a:rPr>
              <a:t>Shahroz Khalid (53531)</a:t>
            </a:r>
            <a:endParaRPr>
              <a:solidFill>
                <a:srgbClr val="0B3D59"/>
              </a:solidFill>
            </a:endParaRPr>
          </a:p>
          <a:p>
            <a:pPr indent="-342900" lvl="0" marL="342900" rtl="0" algn="l">
              <a:lnSpc>
                <a:spcPct val="100000"/>
              </a:lnSpc>
              <a:spcBef>
                <a:spcPts val="640"/>
              </a:spcBef>
              <a:spcAft>
                <a:spcPts val="0"/>
              </a:spcAft>
              <a:buClr>
                <a:srgbClr val="0B3D59"/>
              </a:buClr>
              <a:buSzPts val="3200"/>
              <a:buChar char="•"/>
            </a:pPr>
            <a:r>
              <a:rPr lang="en-US">
                <a:solidFill>
                  <a:srgbClr val="0B3D59"/>
                </a:solidFill>
              </a:rPr>
              <a:t>Muhammad Sarmad Chughtai (54915)</a:t>
            </a:r>
            <a:endParaRPr>
              <a:solidFill>
                <a:srgbClr val="0B3D59"/>
              </a:solidFill>
            </a:endParaRPr>
          </a:p>
          <a:p>
            <a:pPr indent="-139700" lvl="0" marL="342900" rtl="0" algn="l">
              <a:lnSpc>
                <a:spcPct val="100000"/>
              </a:lnSpc>
              <a:spcBef>
                <a:spcPts val="640"/>
              </a:spcBef>
              <a:spcAft>
                <a:spcPts val="0"/>
              </a:spcAft>
              <a:buClr>
                <a:schemeClr val="dk1"/>
              </a:buClr>
              <a:buSzPts val="3200"/>
              <a:buNone/>
            </a:pPr>
            <a:r>
              <a:t/>
            </a:r>
            <a:endParaRPr>
              <a:solidFill>
                <a:srgbClr val="0B3D59"/>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sp>
        <p:nvSpPr>
          <p:cNvPr id="97" name="Google Shape;97;p1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1400"/>
              <a:buNone/>
            </a:pPr>
            <a:r>
              <a:rPr lang="en-US">
                <a:solidFill>
                  <a:srgbClr val="0B3D59"/>
                </a:solidFill>
              </a:rPr>
              <a:t>Table of Content</a:t>
            </a:r>
            <a:endParaRPr>
              <a:solidFill>
                <a:srgbClr val="0B3D59"/>
              </a:solidFill>
            </a:endParaRPr>
          </a:p>
        </p:txBody>
      </p:sp>
      <p:sp>
        <p:nvSpPr>
          <p:cNvPr id="98" name="Google Shape;98;p15"/>
          <p:cNvSpPr txBox="1"/>
          <p:nvPr>
            <p:ph idx="1" type="body"/>
          </p:nvPr>
        </p:nvSpPr>
        <p:spPr>
          <a:xfrm>
            <a:off x="457200" y="1447800"/>
            <a:ext cx="8229600" cy="4526100"/>
          </a:xfrm>
          <a:prstGeom prst="rect">
            <a:avLst/>
          </a:prstGeom>
          <a:noFill/>
          <a:ln>
            <a:noFill/>
          </a:ln>
        </p:spPr>
        <p:txBody>
          <a:bodyPr anchorCtr="0" anchor="t" bIns="45700" lIns="91425" spcFirstLastPara="1" rIns="91425" wrap="square" tIns="45700">
            <a:noAutofit/>
          </a:bodyPr>
          <a:lstStyle/>
          <a:p>
            <a:pPr indent="-342900" lvl="0" marL="342900" rtl="0" algn="l">
              <a:lnSpc>
                <a:spcPct val="100000"/>
              </a:lnSpc>
              <a:spcBef>
                <a:spcPts val="0"/>
              </a:spcBef>
              <a:spcAft>
                <a:spcPts val="0"/>
              </a:spcAft>
              <a:buClr>
                <a:srgbClr val="0B3D59"/>
              </a:buClr>
              <a:buSzPts val="3200"/>
              <a:buChar char="•"/>
            </a:pPr>
            <a:r>
              <a:rPr lang="en-US">
                <a:solidFill>
                  <a:srgbClr val="0B3D59"/>
                </a:solidFill>
              </a:rPr>
              <a:t>Introduction and Background</a:t>
            </a:r>
            <a:endParaRPr>
              <a:solidFill>
                <a:srgbClr val="0B3D59"/>
              </a:solidFill>
            </a:endParaRPr>
          </a:p>
          <a:p>
            <a:pPr indent="-342900" lvl="0" marL="342900" rtl="0" algn="l">
              <a:lnSpc>
                <a:spcPct val="100000"/>
              </a:lnSpc>
              <a:spcBef>
                <a:spcPts val="640"/>
              </a:spcBef>
              <a:spcAft>
                <a:spcPts val="0"/>
              </a:spcAft>
              <a:buClr>
                <a:srgbClr val="0B3D59"/>
              </a:buClr>
              <a:buSzPts val="3200"/>
              <a:buChar char="•"/>
            </a:pPr>
            <a:r>
              <a:rPr lang="en-US">
                <a:solidFill>
                  <a:srgbClr val="0B3D59"/>
                </a:solidFill>
              </a:rPr>
              <a:t>Literature Review and Summary Table</a:t>
            </a:r>
            <a:endParaRPr>
              <a:solidFill>
                <a:srgbClr val="0B3D59"/>
              </a:solidFill>
            </a:endParaRPr>
          </a:p>
          <a:p>
            <a:pPr indent="-342900" lvl="0" marL="342900" rtl="0" algn="l">
              <a:lnSpc>
                <a:spcPct val="100000"/>
              </a:lnSpc>
              <a:spcBef>
                <a:spcPts val="640"/>
              </a:spcBef>
              <a:spcAft>
                <a:spcPts val="0"/>
              </a:spcAft>
              <a:buClr>
                <a:srgbClr val="0B3D59"/>
              </a:buClr>
              <a:buSzPts val="3200"/>
              <a:buChar char="•"/>
            </a:pPr>
            <a:r>
              <a:rPr lang="en-US">
                <a:solidFill>
                  <a:srgbClr val="0B3D59"/>
                </a:solidFill>
              </a:rPr>
              <a:t>Gap Analysis</a:t>
            </a:r>
            <a:endParaRPr>
              <a:solidFill>
                <a:srgbClr val="0B3D59"/>
              </a:solidFill>
            </a:endParaRPr>
          </a:p>
          <a:p>
            <a:pPr indent="-342900" lvl="0" marL="342900" rtl="0" algn="l">
              <a:lnSpc>
                <a:spcPct val="100000"/>
              </a:lnSpc>
              <a:spcBef>
                <a:spcPts val="640"/>
              </a:spcBef>
              <a:spcAft>
                <a:spcPts val="0"/>
              </a:spcAft>
              <a:buClr>
                <a:srgbClr val="0B3D59"/>
              </a:buClr>
              <a:buSzPts val="3200"/>
              <a:buChar char="•"/>
            </a:pPr>
            <a:r>
              <a:rPr lang="en-US">
                <a:solidFill>
                  <a:srgbClr val="0B3D59"/>
                </a:solidFill>
              </a:rPr>
              <a:t>Problem Statement</a:t>
            </a:r>
            <a:endParaRPr>
              <a:solidFill>
                <a:srgbClr val="0B3D59"/>
              </a:solidFill>
            </a:endParaRPr>
          </a:p>
          <a:p>
            <a:pPr indent="-342900" lvl="0" marL="342900" rtl="0" algn="l">
              <a:lnSpc>
                <a:spcPct val="100000"/>
              </a:lnSpc>
              <a:spcBef>
                <a:spcPts val="640"/>
              </a:spcBef>
              <a:spcAft>
                <a:spcPts val="0"/>
              </a:spcAft>
              <a:buClr>
                <a:srgbClr val="0B3D59"/>
              </a:buClr>
              <a:buSzPts val="3200"/>
              <a:buChar char="•"/>
            </a:pPr>
            <a:r>
              <a:rPr lang="en-US">
                <a:solidFill>
                  <a:srgbClr val="0B3D59"/>
                </a:solidFill>
              </a:rPr>
              <a:t>Proposed Solution &amp; Methodology</a:t>
            </a:r>
            <a:endParaRPr>
              <a:solidFill>
                <a:srgbClr val="0B3D59"/>
              </a:solidFill>
            </a:endParaRPr>
          </a:p>
          <a:p>
            <a:pPr indent="-342900" lvl="0" marL="342900" rtl="0" algn="l">
              <a:lnSpc>
                <a:spcPct val="100000"/>
              </a:lnSpc>
              <a:spcBef>
                <a:spcPts val="640"/>
              </a:spcBef>
              <a:spcAft>
                <a:spcPts val="0"/>
              </a:spcAft>
              <a:buClr>
                <a:srgbClr val="0B3D59"/>
              </a:buClr>
              <a:buSzPts val="3200"/>
              <a:buChar char="•"/>
            </a:pPr>
            <a:r>
              <a:rPr lang="en-US">
                <a:solidFill>
                  <a:srgbClr val="0B3D59"/>
                </a:solidFill>
              </a:rPr>
              <a:t>Project Scope</a:t>
            </a:r>
            <a:endParaRPr>
              <a:solidFill>
                <a:srgbClr val="0B3D59"/>
              </a:solidFill>
            </a:endParaRPr>
          </a:p>
          <a:p>
            <a:pPr indent="-342900" lvl="0" marL="342900" rtl="0" algn="l">
              <a:lnSpc>
                <a:spcPct val="100000"/>
              </a:lnSpc>
              <a:spcBef>
                <a:spcPts val="640"/>
              </a:spcBef>
              <a:spcAft>
                <a:spcPts val="0"/>
              </a:spcAft>
              <a:buClr>
                <a:srgbClr val="0B3D59"/>
              </a:buClr>
              <a:buSzPts val="3200"/>
              <a:buChar char="•"/>
            </a:pPr>
            <a:r>
              <a:rPr lang="en-US">
                <a:solidFill>
                  <a:srgbClr val="0B3D59"/>
                </a:solidFill>
              </a:rPr>
              <a:t>Work Breakdown Structure</a:t>
            </a:r>
            <a:endParaRPr>
              <a:solidFill>
                <a:srgbClr val="0B3D59"/>
              </a:solidFill>
            </a:endParaRPr>
          </a:p>
          <a:p>
            <a:pPr indent="-342900" lvl="0" marL="342900" rtl="0" algn="l">
              <a:lnSpc>
                <a:spcPct val="100000"/>
              </a:lnSpc>
              <a:spcBef>
                <a:spcPts val="640"/>
              </a:spcBef>
              <a:spcAft>
                <a:spcPts val="0"/>
              </a:spcAft>
              <a:buClr>
                <a:srgbClr val="0B3D59"/>
              </a:buClr>
              <a:buSzPts val="3200"/>
              <a:buChar char="•"/>
            </a:pPr>
            <a:r>
              <a:rPr lang="en-US">
                <a:solidFill>
                  <a:srgbClr val="0B3D59"/>
                </a:solidFill>
              </a:rPr>
              <a:t>Roles and Responsibilities</a:t>
            </a:r>
            <a:endParaRPr>
              <a:solidFill>
                <a:srgbClr val="0B3D59"/>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16"/>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SzPts val="1400"/>
              <a:buNone/>
            </a:pPr>
            <a:r>
              <a:rPr lang="en-US">
                <a:solidFill>
                  <a:srgbClr val="0B3D59"/>
                </a:solidFill>
              </a:rPr>
              <a:t>INTRODUCTION AND BACKGROUND</a:t>
            </a:r>
            <a:endParaRPr>
              <a:solidFill>
                <a:srgbClr val="0B3D59"/>
              </a:solidFill>
            </a:endParaRPr>
          </a:p>
        </p:txBody>
      </p:sp>
      <p:sp>
        <p:nvSpPr>
          <p:cNvPr id="104" name="Google Shape;104;p16"/>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p>
            <a:pPr indent="0" lvl="0" marL="44450" rtl="0" algn="l">
              <a:lnSpc>
                <a:spcPct val="100000"/>
              </a:lnSpc>
              <a:spcBef>
                <a:spcPts val="0"/>
              </a:spcBef>
              <a:spcAft>
                <a:spcPts val="0"/>
              </a:spcAft>
              <a:buClr>
                <a:srgbClr val="888888"/>
              </a:buClr>
              <a:buSzPts val="2000"/>
              <a:buFont typeface="Arial"/>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1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SzPts val="1400"/>
              <a:buNone/>
            </a:pPr>
            <a:r>
              <a:rPr b="1" lang="en-US" sz="4000">
                <a:solidFill>
                  <a:srgbClr val="0B3D59"/>
                </a:solidFill>
              </a:rPr>
              <a:t>INTRODUCTION AND BACKGROUND</a:t>
            </a:r>
            <a:endParaRPr>
              <a:solidFill>
                <a:srgbClr val="0B3D59"/>
              </a:solidFill>
            </a:endParaRPr>
          </a:p>
        </p:txBody>
      </p:sp>
      <p:sp>
        <p:nvSpPr>
          <p:cNvPr id="110" name="Google Shape;110;p17"/>
          <p:cNvSpPr/>
          <p:nvPr/>
        </p:nvSpPr>
        <p:spPr>
          <a:xfrm>
            <a:off x="548653" y="1580406"/>
            <a:ext cx="164700" cy="164700"/>
          </a:xfrm>
          <a:prstGeom prst="ellipse">
            <a:avLst/>
          </a:prstGeom>
          <a:solidFill>
            <a:srgbClr val="02C39A"/>
          </a:solidFill>
          <a:ln>
            <a:noFill/>
          </a:ln>
        </p:spPr>
        <p:txBody>
          <a:bodyPr anchorCtr="0" anchor="ctr" bIns="117575" lIns="117575" spcFirstLastPara="1" rIns="117575" wrap="square" tIns="117575">
            <a:noAutofit/>
          </a:bodyPr>
          <a:lstStyle/>
          <a:p>
            <a:pPr indent="0" lvl="0" marL="0" rtl="0" algn="l">
              <a:spcBef>
                <a:spcPts val="0"/>
              </a:spcBef>
              <a:spcAft>
                <a:spcPts val="0"/>
              </a:spcAft>
              <a:buNone/>
            </a:pPr>
            <a:r>
              <a:t/>
            </a:r>
            <a:endParaRPr>
              <a:solidFill>
                <a:schemeClr val="dk1"/>
              </a:solidFill>
              <a:latin typeface="Calibri"/>
              <a:ea typeface="Calibri"/>
              <a:cs typeface="Calibri"/>
              <a:sym typeface="Calibri"/>
            </a:endParaRPr>
          </a:p>
        </p:txBody>
      </p:sp>
      <p:sp>
        <p:nvSpPr>
          <p:cNvPr id="111" name="Google Shape;111;p17"/>
          <p:cNvSpPr/>
          <p:nvPr/>
        </p:nvSpPr>
        <p:spPr>
          <a:xfrm>
            <a:off x="896165" y="1443109"/>
            <a:ext cx="7761900" cy="411600"/>
          </a:xfrm>
          <a:prstGeom prst="rect">
            <a:avLst/>
          </a:prstGeom>
          <a:noFill/>
          <a:ln>
            <a:noFill/>
          </a:ln>
        </p:spPr>
        <p:txBody>
          <a:bodyPr anchorCtr="0" anchor="ctr" bIns="58775" lIns="117575" spcFirstLastPara="1" rIns="117575" wrap="square" tIns="58775">
            <a:noAutofit/>
          </a:bodyPr>
          <a:lstStyle/>
          <a:p>
            <a:pPr indent="0" lvl="0" marL="0" marR="0" rtl="0" algn="l">
              <a:spcBef>
                <a:spcPts val="0"/>
              </a:spcBef>
              <a:spcAft>
                <a:spcPts val="0"/>
              </a:spcAft>
              <a:buClr>
                <a:srgbClr val="0B3D59"/>
              </a:buClr>
              <a:buSzPts val="2058"/>
              <a:buFont typeface="Cambria"/>
              <a:buNone/>
            </a:pPr>
            <a:r>
              <a:rPr b="1" i="0" lang="en-US" sz="2058" u="none" cap="none" strike="noStrike">
                <a:solidFill>
                  <a:srgbClr val="0B3D59"/>
                </a:solidFill>
                <a:latin typeface="Calibri"/>
                <a:ea typeface="Calibri"/>
                <a:cs typeface="Calibri"/>
                <a:sym typeface="Calibri"/>
              </a:rPr>
              <a:t>The problem space</a:t>
            </a:r>
            <a:endParaRPr i="0" sz="2058" u="none" cap="none" strike="noStrike">
              <a:solidFill>
                <a:srgbClr val="0B3D59"/>
              </a:solidFill>
              <a:latin typeface="Calibri"/>
              <a:ea typeface="Calibri"/>
              <a:cs typeface="Calibri"/>
              <a:sym typeface="Calibri"/>
            </a:endParaRPr>
          </a:p>
        </p:txBody>
      </p:sp>
      <p:sp>
        <p:nvSpPr>
          <p:cNvPr id="112" name="Google Shape;112;p17"/>
          <p:cNvSpPr/>
          <p:nvPr/>
        </p:nvSpPr>
        <p:spPr>
          <a:xfrm>
            <a:off x="924980" y="1775085"/>
            <a:ext cx="7761900" cy="764400"/>
          </a:xfrm>
          <a:prstGeom prst="rect">
            <a:avLst/>
          </a:prstGeom>
          <a:noFill/>
          <a:ln>
            <a:noFill/>
          </a:ln>
        </p:spPr>
        <p:txBody>
          <a:bodyPr anchorCtr="0" anchor="t" bIns="58775" lIns="117575" spcFirstLastPara="1" rIns="117575" wrap="square" tIns="58775">
            <a:noAutofit/>
          </a:bodyPr>
          <a:lstStyle/>
          <a:p>
            <a:pPr indent="0" lvl="0" marL="0" marR="0" rtl="0" algn="just">
              <a:lnSpc>
                <a:spcPct val="115000"/>
              </a:lnSpc>
              <a:spcBef>
                <a:spcPts val="0"/>
              </a:spcBef>
              <a:spcAft>
                <a:spcPts val="0"/>
              </a:spcAft>
              <a:buClr>
                <a:srgbClr val="13232E"/>
              </a:buClr>
              <a:buSzPts val="1608"/>
              <a:buFont typeface="Calibri"/>
              <a:buNone/>
            </a:pPr>
            <a:r>
              <a:rPr i="0" lang="en-US" sz="2000" u="none" cap="none" strike="noStrike">
                <a:solidFill>
                  <a:schemeClr val="dk1"/>
                </a:solidFill>
                <a:latin typeface="Calibri"/>
                <a:ea typeface="Calibri"/>
                <a:cs typeface="Calibri"/>
                <a:sym typeface="Calibri"/>
              </a:rPr>
              <a:t>Many systemic diseases first surface as visible changes on body surfaces (</a:t>
            </a:r>
            <a:r>
              <a:rPr lang="en-US" sz="2000">
                <a:solidFill>
                  <a:schemeClr val="dk1"/>
                </a:solidFill>
                <a:latin typeface="Calibri"/>
                <a:ea typeface="Calibri"/>
                <a:cs typeface="Calibri"/>
                <a:sym typeface="Calibri"/>
              </a:rPr>
              <a:t>e.g</a:t>
            </a:r>
            <a:r>
              <a:rPr i="0" lang="en-US" sz="2000" u="none" cap="none" strike="noStrike">
                <a:solidFill>
                  <a:schemeClr val="dk1"/>
                </a:solidFill>
                <a:latin typeface="Calibri"/>
                <a:ea typeface="Calibri"/>
                <a:cs typeface="Calibri"/>
                <a:sym typeface="Calibri"/>
              </a:rPr>
              <a:t> oral lesions, nail clubbing, conjunctival pallor, tongue coating, palmar signs </a:t>
            </a:r>
            <a:r>
              <a:rPr lang="en-US" sz="2000">
                <a:solidFill>
                  <a:schemeClr val="dk1"/>
                </a:solidFill>
                <a:latin typeface="Calibri"/>
                <a:ea typeface="Calibri"/>
                <a:cs typeface="Calibri"/>
                <a:sym typeface="Calibri"/>
              </a:rPr>
              <a:t>etc)</a:t>
            </a:r>
            <a:r>
              <a:rPr i="0" lang="en-US" sz="2000" u="none" cap="none" strike="noStrike">
                <a:solidFill>
                  <a:schemeClr val="dk1"/>
                </a:solidFill>
                <a:latin typeface="Calibri"/>
                <a:ea typeface="Calibri"/>
                <a:cs typeface="Calibri"/>
                <a:sym typeface="Calibri"/>
              </a:rPr>
              <a:t> long before lab-confirmed diagnosis.</a:t>
            </a:r>
            <a:endParaRPr i="0" sz="2000" u="none" cap="none" strike="noStrike">
              <a:solidFill>
                <a:schemeClr val="dk1"/>
              </a:solidFill>
              <a:latin typeface="Calibri"/>
              <a:ea typeface="Calibri"/>
              <a:cs typeface="Calibri"/>
              <a:sym typeface="Calibri"/>
            </a:endParaRPr>
          </a:p>
        </p:txBody>
      </p:sp>
      <p:sp>
        <p:nvSpPr>
          <p:cNvPr id="113" name="Google Shape;113;p17"/>
          <p:cNvSpPr/>
          <p:nvPr/>
        </p:nvSpPr>
        <p:spPr>
          <a:xfrm>
            <a:off x="548653" y="3088678"/>
            <a:ext cx="164700" cy="164700"/>
          </a:xfrm>
          <a:prstGeom prst="ellipse">
            <a:avLst/>
          </a:prstGeom>
          <a:solidFill>
            <a:srgbClr val="02C39A"/>
          </a:solidFill>
          <a:ln>
            <a:noFill/>
          </a:ln>
        </p:spPr>
        <p:txBody>
          <a:bodyPr anchorCtr="0" anchor="ctr" bIns="117575" lIns="117575" spcFirstLastPara="1" rIns="117575" wrap="square" tIns="117575">
            <a:noAutofit/>
          </a:bodyPr>
          <a:lstStyle/>
          <a:p>
            <a:pPr indent="0" lvl="0" marL="0" rtl="0" algn="l">
              <a:spcBef>
                <a:spcPts val="0"/>
              </a:spcBef>
              <a:spcAft>
                <a:spcPts val="0"/>
              </a:spcAft>
              <a:buNone/>
            </a:pPr>
            <a:r>
              <a:t/>
            </a:r>
            <a:endParaRPr>
              <a:solidFill>
                <a:schemeClr val="dk1"/>
              </a:solidFill>
              <a:latin typeface="Calibri"/>
              <a:ea typeface="Calibri"/>
              <a:cs typeface="Calibri"/>
              <a:sym typeface="Calibri"/>
            </a:endParaRPr>
          </a:p>
        </p:txBody>
      </p:sp>
      <p:sp>
        <p:nvSpPr>
          <p:cNvPr id="114" name="Google Shape;114;p17"/>
          <p:cNvSpPr/>
          <p:nvPr/>
        </p:nvSpPr>
        <p:spPr>
          <a:xfrm>
            <a:off x="924980" y="2942835"/>
            <a:ext cx="7761900" cy="411600"/>
          </a:xfrm>
          <a:prstGeom prst="rect">
            <a:avLst/>
          </a:prstGeom>
          <a:noFill/>
          <a:ln>
            <a:noFill/>
          </a:ln>
        </p:spPr>
        <p:txBody>
          <a:bodyPr anchorCtr="0" anchor="ctr" bIns="58775" lIns="117575" spcFirstLastPara="1" rIns="117575" wrap="square" tIns="58775">
            <a:noAutofit/>
          </a:bodyPr>
          <a:lstStyle/>
          <a:p>
            <a:pPr indent="0" lvl="0" marL="0" marR="0" rtl="0" algn="l">
              <a:spcBef>
                <a:spcPts val="0"/>
              </a:spcBef>
              <a:spcAft>
                <a:spcPts val="0"/>
              </a:spcAft>
              <a:buClr>
                <a:srgbClr val="0B3D59"/>
              </a:buClr>
              <a:buSzPts val="2058"/>
              <a:buFont typeface="Cambria"/>
              <a:buNone/>
            </a:pPr>
            <a:r>
              <a:rPr b="1" i="0" lang="en-US" sz="2058" u="none" cap="none" strike="noStrike">
                <a:solidFill>
                  <a:srgbClr val="0B3D59"/>
                </a:solidFill>
                <a:latin typeface="Calibri"/>
                <a:ea typeface="Calibri"/>
                <a:cs typeface="Calibri"/>
                <a:sym typeface="Calibri"/>
              </a:rPr>
              <a:t>The opportunity</a:t>
            </a:r>
            <a:endParaRPr i="0" sz="2058" u="none" cap="none" strike="noStrike">
              <a:solidFill>
                <a:srgbClr val="0B3D59"/>
              </a:solidFill>
              <a:latin typeface="Calibri"/>
              <a:ea typeface="Calibri"/>
              <a:cs typeface="Calibri"/>
              <a:sym typeface="Calibri"/>
            </a:endParaRPr>
          </a:p>
        </p:txBody>
      </p:sp>
      <p:sp>
        <p:nvSpPr>
          <p:cNvPr id="115" name="Google Shape;115;p17"/>
          <p:cNvSpPr/>
          <p:nvPr/>
        </p:nvSpPr>
        <p:spPr>
          <a:xfrm>
            <a:off x="924980" y="3278034"/>
            <a:ext cx="7761900" cy="764400"/>
          </a:xfrm>
          <a:prstGeom prst="rect">
            <a:avLst/>
          </a:prstGeom>
          <a:noFill/>
          <a:ln>
            <a:noFill/>
          </a:ln>
        </p:spPr>
        <p:txBody>
          <a:bodyPr anchorCtr="0" anchor="t" bIns="58775" lIns="117575" spcFirstLastPara="1" rIns="117575" wrap="square" tIns="58775">
            <a:noAutofit/>
          </a:bodyPr>
          <a:lstStyle/>
          <a:p>
            <a:pPr indent="0" lvl="0" marL="0" marR="0" rtl="0" algn="just">
              <a:lnSpc>
                <a:spcPct val="115000"/>
              </a:lnSpc>
              <a:spcBef>
                <a:spcPts val="0"/>
              </a:spcBef>
              <a:spcAft>
                <a:spcPts val="0"/>
              </a:spcAft>
              <a:buClr>
                <a:srgbClr val="13232E"/>
              </a:buClr>
              <a:buSzPts val="1608"/>
              <a:buFont typeface="Calibri"/>
              <a:buNone/>
            </a:pPr>
            <a:r>
              <a:rPr i="0" lang="en-US" sz="2000" u="none" cap="none" strike="noStrike">
                <a:solidFill>
                  <a:schemeClr val="dk1"/>
                </a:solidFill>
                <a:latin typeface="Calibri"/>
                <a:ea typeface="Calibri"/>
                <a:cs typeface="Calibri"/>
                <a:sym typeface="Calibri"/>
              </a:rPr>
              <a:t>Smartphones are now ubiquitous even where clinicians and diagnostic labs are scarce, making camera-based pre-screening a realistic first triage layer.</a:t>
            </a:r>
            <a:endParaRPr i="0" sz="2000" u="none" cap="none" strike="noStrike">
              <a:solidFill>
                <a:schemeClr val="dk1"/>
              </a:solidFill>
              <a:latin typeface="Calibri"/>
              <a:ea typeface="Calibri"/>
              <a:cs typeface="Calibri"/>
              <a:sym typeface="Calibri"/>
            </a:endParaRPr>
          </a:p>
        </p:txBody>
      </p:sp>
      <p:sp>
        <p:nvSpPr>
          <p:cNvPr id="116" name="Google Shape;116;p17"/>
          <p:cNvSpPr/>
          <p:nvPr/>
        </p:nvSpPr>
        <p:spPr>
          <a:xfrm>
            <a:off x="548653" y="4513144"/>
            <a:ext cx="164700" cy="164700"/>
          </a:xfrm>
          <a:prstGeom prst="ellipse">
            <a:avLst/>
          </a:prstGeom>
          <a:solidFill>
            <a:srgbClr val="02C39A"/>
          </a:solidFill>
          <a:ln>
            <a:noFill/>
          </a:ln>
        </p:spPr>
        <p:txBody>
          <a:bodyPr anchorCtr="0" anchor="ctr" bIns="117575" lIns="117575" spcFirstLastPara="1" rIns="117575" wrap="square" tIns="117575">
            <a:noAutofit/>
          </a:bodyPr>
          <a:lstStyle/>
          <a:p>
            <a:pPr indent="0" lvl="0" marL="0" rtl="0" algn="l">
              <a:spcBef>
                <a:spcPts val="0"/>
              </a:spcBef>
              <a:spcAft>
                <a:spcPts val="0"/>
              </a:spcAft>
              <a:buNone/>
            </a:pPr>
            <a:r>
              <a:t/>
            </a:r>
            <a:endParaRPr>
              <a:solidFill>
                <a:schemeClr val="dk1"/>
              </a:solidFill>
              <a:latin typeface="Calibri"/>
              <a:ea typeface="Calibri"/>
              <a:cs typeface="Calibri"/>
              <a:sym typeface="Calibri"/>
            </a:endParaRPr>
          </a:p>
        </p:txBody>
      </p:sp>
      <p:sp>
        <p:nvSpPr>
          <p:cNvPr id="117" name="Google Shape;117;p17"/>
          <p:cNvSpPr/>
          <p:nvPr/>
        </p:nvSpPr>
        <p:spPr>
          <a:xfrm>
            <a:off x="881757" y="4378487"/>
            <a:ext cx="7761900" cy="411600"/>
          </a:xfrm>
          <a:prstGeom prst="rect">
            <a:avLst/>
          </a:prstGeom>
          <a:noFill/>
          <a:ln>
            <a:noFill/>
          </a:ln>
        </p:spPr>
        <p:txBody>
          <a:bodyPr anchorCtr="0" anchor="ctr" bIns="58775" lIns="117575" spcFirstLastPara="1" rIns="117575" wrap="square" tIns="58775">
            <a:noAutofit/>
          </a:bodyPr>
          <a:lstStyle/>
          <a:p>
            <a:pPr indent="0" lvl="0" marL="0" marR="0" rtl="0" algn="l">
              <a:spcBef>
                <a:spcPts val="0"/>
              </a:spcBef>
              <a:spcAft>
                <a:spcPts val="0"/>
              </a:spcAft>
              <a:buClr>
                <a:srgbClr val="0B3D59"/>
              </a:buClr>
              <a:buSzPts val="2058"/>
              <a:buFont typeface="Cambria"/>
              <a:buNone/>
            </a:pPr>
            <a:r>
              <a:rPr b="1" i="0" lang="en-US" sz="2058" u="none" cap="none" strike="noStrike">
                <a:solidFill>
                  <a:srgbClr val="0B3D59"/>
                </a:solidFill>
                <a:latin typeface="Calibri"/>
                <a:ea typeface="Calibri"/>
                <a:cs typeface="Calibri"/>
                <a:sym typeface="Calibri"/>
              </a:rPr>
              <a:t>The technical angle</a:t>
            </a:r>
            <a:endParaRPr i="0" sz="2058" u="none" cap="none" strike="noStrike">
              <a:solidFill>
                <a:srgbClr val="0B3D59"/>
              </a:solidFill>
              <a:latin typeface="Calibri"/>
              <a:ea typeface="Calibri"/>
              <a:cs typeface="Calibri"/>
              <a:sym typeface="Calibri"/>
            </a:endParaRPr>
          </a:p>
        </p:txBody>
      </p:sp>
      <p:sp>
        <p:nvSpPr>
          <p:cNvPr id="118" name="Google Shape;118;p17"/>
          <p:cNvSpPr/>
          <p:nvPr/>
        </p:nvSpPr>
        <p:spPr>
          <a:xfrm>
            <a:off x="924980" y="4737760"/>
            <a:ext cx="7761900" cy="764400"/>
          </a:xfrm>
          <a:prstGeom prst="rect">
            <a:avLst/>
          </a:prstGeom>
          <a:noFill/>
          <a:ln>
            <a:noFill/>
          </a:ln>
        </p:spPr>
        <p:txBody>
          <a:bodyPr anchorCtr="0" anchor="t" bIns="58775" lIns="117575" spcFirstLastPara="1" rIns="117575" wrap="square" tIns="58775">
            <a:noAutofit/>
          </a:bodyPr>
          <a:lstStyle/>
          <a:p>
            <a:pPr indent="0" lvl="0" marL="0" marR="0" rtl="0" algn="just">
              <a:lnSpc>
                <a:spcPct val="115000"/>
              </a:lnSpc>
              <a:spcBef>
                <a:spcPts val="0"/>
              </a:spcBef>
              <a:spcAft>
                <a:spcPts val="0"/>
              </a:spcAft>
              <a:buClr>
                <a:srgbClr val="13232E"/>
              </a:buClr>
              <a:buSzPts val="1608"/>
              <a:buFont typeface="Calibri"/>
              <a:buNone/>
            </a:pPr>
            <a:r>
              <a:rPr i="0" lang="en-US" sz="2000" u="none" cap="none" strike="noStrike">
                <a:solidFill>
                  <a:schemeClr val="dk1"/>
                </a:solidFill>
                <a:latin typeface="Calibri"/>
                <a:ea typeface="Calibri"/>
                <a:cs typeface="Calibri"/>
                <a:sym typeface="Calibri"/>
              </a:rPr>
              <a:t>Vision Transformers now match or beat CNNs on medical image tasks, and cross-modal fusion lets multiple weak visual signals combine into one confident, explainable assessment.</a:t>
            </a:r>
            <a:endParaRPr i="0" sz="2000" u="none" cap="none" strike="noStrike">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0"/>
                                        </p:tgtEl>
                                        <p:attrNameLst>
                                          <p:attrName>style.visibility</p:attrName>
                                        </p:attrNameLst>
                                      </p:cBhvr>
                                      <p:to>
                                        <p:strVal val="visible"/>
                                      </p:to>
                                    </p:set>
                                    <p:animEffect filter="fade" transition="in">
                                      <p:cBhvr>
                                        <p:cTn dur="1000"/>
                                        <p:tgtEl>
                                          <p:spTgt spid="110"/>
                                        </p:tgtEl>
                                      </p:cBhvr>
                                    </p:animEffect>
                                  </p:childTnLst>
                                </p:cTn>
                              </p:par>
                              <p:par>
                                <p:cTn fill="hold" nodeType="withEffect" presetClass="entr" presetID="10" presetSubtype="0">
                                  <p:stCondLst>
                                    <p:cond delay="0"/>
                                  </p:stCondLst>
                                  <p:childTnLst>
                                    <p:set>
                                      <p:cBhvr>
                                        <p:cTn dur="1" fill="hold">
                                          <p:stCondLst>
                                            <p:cond delay="0"/>
                                          </p:stCondLst>
                                        </p:cTn>
                                        <p:tgtEl>
                                          <p:spTgt spid="111"/>
                                        </p:tgtEl>
                                        <p:attrNameLst>
                                          <p:attrName>style.visibility</p:attrName>
                                        </p:attrNameLst>
                                      </p:cBhvr>
                                      <p:to>
                                        <p:strVal val="visible"/>
                                      </p:to>
                                    </p:set>
                                    <p:animEffect filter="fade" transition="in">
                                      <p:cBhvr>
                                        <p:cTn dur="1000"/>
                                        <p:tgtEl>
                                          <p:spTgt spid="111"/>
                                        </p:tgtEl>
                                      </p:cBhvr>
                                    </p:animEffect>
                                  </p:childTnLst>
                                </p:cTn>
                              </p:par>
                              <p:par>
                                <p:cTn fill="hold" nodeType="withEffect" presetClass="entr" presetID="10" presetSubtype="0">
                                  <p:stCondLst>
                                    <p:cond delay="0"/>
                                  </p:stCondLst>
                                  <p:childTnLst>
                                    <p:set>
                                      <p:cBhvr>
                                        <p:cTn dur="1" fill="hold">
                                          <p:stCondLst>
                                            <p:cond delay="0"/>
                                          </p:stCondLst>
                                        </p:cTn>
                                        <p:tgtEl>
                                          <p:spTgt spid="112"/>
                                        </p:tgtEl>
                                        <p:attrNameLst>
                                          <p:attrName>style.visibility</p:attrName>
                                        </p:attrNameLst>
                                      </p:cBhvr>
                                      <p:to>
                                        <p:strVal val="visible"/>
                                      </p:to>
                                    </p:set>
                                    <p:animEffect filter="fade" transition="in">
                                      <p:cBhvr>
                                        <p:cTn dur="1000"/>
                                        <p:tgtEl>
                                          <p:spTgt spid="11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3"/>
                                        </p:tgtEl>
                                        <p:attrNameLst>
                                          <p:attrName>style.visibility</p:attrName>
                                        </p:attrNameLst>
                                      </p:cBhvr>
                                      <p:to>
                                        <p:strVal val="visible"/>
                                      </p:to>
                                    </p:set>
                                    <p:animEffect filter="fade" transition="in">
                                      <p:cBhvr>
                                        <p:cTn dur="1000"/>
                                        <p:tgtEl>
                                          <p:spTgt spid="113"/>
                                        </p:tgtEl>
                                      </p:cBhvr>
                                    </p:animEffect>
                                  </p:childTnLst>
                                </p:cTn>
                              </p:par>
                              <p:par>
                                <p:cTn fill="hold" nodeType="withEffect" presetClass="entr" presetID="10" presetSubtype="0">
                                  <p:stCondLst>
                                    <p:cond delay="0"/>
                                  </p:stCondLst>
                                  <p:childTnLst>
                                    <p:set>
                                      <p:cBhvr>
                                        <p:cTn dur="1" fill="hold">
                                          <p:stCondLst>
                                            <p:cond delay="0"/>
                                          </p:stCondLst>
                                        </p:cTn>
                                        <p:tgtEl>
                                          <p:spTgt spid="114"/>
                                        </p:tgtEl>
                                        <p:attrNameLst>
                                          <p:attrName>style.visibility</p:attrName>
                                        </p:attrNameLst>
                                      </p:cBhvr>
                                      <p:to>
                                        <p:strVal val="visible"/>
                                      </p:to>
                                    </p:set>
                                    <p:animEffect filter="fade" transition="in">
                                      <p:cBhvr>
                                        <p:cTn dur="1000"/>
                                        <p:tgtEl>
                                          <p:spTgt spid="114"/>
                                        </p:tgtEl>
                                      </p:cBhvr>
                                    </p:animEffect>
                                  </p:childTnLst>
                                </p:cTn>
                              </p:par>
                              <p:par>
                                <p:cTn fill="hold" nodeType="withEffect" presetClass="entr" presetID="10" presetSubtype="0">
                                  <p:stCondLst>
                                    <p:cond delay="0"/>
                                  </p:stCondLst>
                                  <p:childTnLst>
                                    <p:set>
                                      <p:cBhvr>
                                        <p:cTn dur="1" fill="hold">
                                          <p:stCondLst>
                                            <p:cond delay="0"/>
                                          </p:stCondLst>
                                        </p:cTn>
                                        <p:tgtEl>
                                          <p:spTgt spid="115"/>
                                        </p:tgtEl>
                                        <p:attrNameLst>
                                          <p:attrName>style.visibility</p:attrName>
                                        </p:attrNameLst>
                                      </p:cBhvr>
                                      <p:to>
                                        <p:strVal val="visible"/>
                                      </p:to>
                                    </p:set>
                                    <p:animEffect filter="fade" transition="in">
                                      <p:cBhvr>
                                        <p:cTn dur="1000"/>
                                        <p:tgtEl>
                                          <p:spTgt spid="11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6"/>
                                        </p:tgtEl>
                                        <p:attrNameLst>
                                          <p:attrName>style.visibility</p:attrName>
                                        </p:attrNameLst>
                                      </p:cBhvr>
                                      <p:to>
                                        <p:strVal val="visible"/>
                                      </p:to>
                                    </p:set>
                                    <p:animEffect filter="fade" transition="in">
                                      <p:cBhvr>
                                        <p:cTn dur="1000"/>
                                        <p:tgtEl>
                                          <p:spTgt spid="116"/>
                                        </p:tgtEl>
                                      </p:cBhvr>
                                    </p:animEffect>
                                  </p:childTnLst>
                                </p:cTn>
                              </p:par>
                              <p:par>
                                <p:cTn fill="hold" nodeType="withEffect" presetClass="entr" presetID="10" presetSubtype="0">
                                  <p:stCondLst>
                                    <p:cond delay="0"/>
                                  </p:stCondLst>
                                  <p:childTnLst>
                                    <p:set>
                                      <p:cBhvr>
                                        <p:cTn dur="1" fill="hold">
                                          <p:stCondLst>
                                            <p:cond delay="0"/>
                                          </p:stCondLst>
                                        </p:cTn>
                                        <p:tgtEl>
                                          <p:spTgt spid="117"/>
                                        </p:tgtEl>
                                        <p:attrNameLst>
                                          <p:attrName>style.visibility</p:attrName>
                                        </p:attrNameLst>
                                      </p:cBhvr>
                                      <p:to>
                                        <p:strVal val="visible"/>
                                      </p:to>
                                    </p:set>
                                    <p:animEffect filter="fade" transition="in">
                                      <p:cBhvr>
                                        <p:cTn dur="1000"/>
                                        <p:tgtEl>
                                          <p:spTgt spid="117"/>
                                        </p:tgtEl>
                                      </p:cBhvr>
                                    </p:animEffect>
                                  </p:childTnLst>
                                </p:cTn>
                              </p:par>
                              <p:par>
                                <p:cTn fill="hold" nodeType="withEffect" presetClass="entr" presetID="10" presetSubtype="0">
                                  <p:stCondLst>
                                    <p:cond delay="0"/>
                                  </p:stCondLst>
                                  <p:childTnLst>
                                    <p:set>
                                      <p:cBhvr>
                                        <p:cTn dur="1" fill="hold">
                                          <p:stCondLst>
                                            <p:cond delay="0"/>
                                          </p:stCondLst>
                                        </p:cTn>
                                        <p:tgtEl>
                                          <p:spTgt spid="118"/>
                                        </p:tgtEl>
                                        <p:attrNameLst>
                                          <p:attrName>style.visibility</p:attrName>
                                        </p:attrNameLst>
                                      </p:cBhvr>
                                      <p:to>
                                        <p:strVal val="visible"/>
                                      </p:to>
                                    </p:set>
                                    <p:animEffect filter="fade" transition="in">
                                      <p:cBhvr>
                                        <p:cTn dur="1000"/>
                                        <p:tgtEl>
                                          <p:spTgt spid="11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18"/>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SzPts val="1400"/>
              <a:buNone/>
            </a:pPr>
            <a:r>
              <a:rPr lang="en-US">
                <a:solidFill>
                  <a:srgbClr val="0B3D59"/>
                </a:solidFill>
              </a:rPr>
              <a:t>LITERATURE REVIEW</a:t>
            </a:r>
            <a:endParaRPr>
              <a:solidFill>
                <a:srgbClr val="0B3D59"/>
              </a:solidFill>
            </a:endParaRPr>
          </a:p>
        </p:txBody>
      </p:sp>
      <p:sp>
        <p:nvSpPr>
          <p:cNvPr id="124" name="Google Shape;124;p18"/>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p>
            <a:pPr indent="0" lvl="0" marL="44450" rtl="0" algn="l">
              <a:lnSpc>
                <a:spcPct val="100000"/>
              </a:lnSpc>
              <a:spcBef>
                <a:spcPts val="0"/>
              </a:spcBef>
              <a:spcAft>
                <a:spcPts val="0"/>
              </a:spcAft>
              <a:buClr>
                <a:srgbClr val="888888"/>
              </a:buClr>
              <a:buSzPts val="2000"/>
              <a:buFont typeface="Arial"/>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SzPts val="1400"/>
              <a:buNone/>
            </a:pPr>
            <a:r>
              <a:rPr b="1" lang="en-US" sz="4000"/>
              <a:t>LITERATURE REVIEW</a:t>
            </a:r>
            <a:endParaRPr sz="2000"/>
          </a:p>
        </p:txBody>
      </p:sp>
      <p:graphicFrame>
        <p:nvGraphicFramePr>
          <p:cNvPr id="130" name="Google Shape;130;p19"/>
          <p:cNvGraphicFramePr/>
          <p:nvPr/>
        </p:nvGraphicFramePr>
        <p:xfrm>
          <a:off x="457200" y="1609200"/>
          <a:ext cx="3000000" cy="3000000"/>
        </p:xfrm>
        <a:graphic>
          <a:graphicData uri="http://schemas.openxmlformats.org/drawingml/2006/table">
            <a:tbl>
              <a:tblPr>
                <a:noFill/>
                <a:tableStyleId>{6DCBE433-D38A-414C-8CE7-A03D4E96D332}</a:tableStyleId>
              </a:tblPr>
              <a:tblGrid>
                <a:gridCol w="2057400"/>
                <a:gridCol w="2057400"/>
                <a:gridCol w="2057400"/>
                <a:gridCol w="2057400"/>
              </a:tblGrid>
              <a:tr h="562475">
                <a:tc>
                  <a:txBody>
                    <a:bodyPr/>
                    <a:lstStyle/>
                    <a:p>
                      <a:pPr indent="0" lvl="0" marL="0" rtl="0" algn="l">
                        <a:spcBef>
                          <a:spcPts val="0"/>
                        </a:spcBef>
                        <a:spcAft>
                          <a:spcPts val="0"/>
                        </a:spcAft>
                        <a:buNone/>
                      </a:pPr>
                      <a:r>
                        <a:rPr b="1" lang="en-US" sz="2000">
                          <a:solidFill>
                            <a:schemeClr val="lt1"/>
                          </a:solidFill>
                          <a:latin typeface="Calibri"/>
                          <a:ea typeface="Calibri"/>
                          <a:cs typeface="Calibri"/>
                          <a:sym typeface="Calibri"/>
                        </a:rPr>
                        <a:t>Source</a:t>
                      </a:r>
                      <a:endParaRPr b="1" sz="2000">
                        <a:solidFill>
                          <a:schemeClr val="lt1"/>
                        </a:solidFill>
                        <a:latin typeface="Calibri"/>
                        <a:ea typeface="Calibri"/>
                        <a:cs typeface="Calibri"/>
                        <a:sym typeface="Calibri"/>
                      </a:endParaRPr>
                    </a:p>
                  </a:txBody>
                  <a:tcPr marT="91425" marB="91425" marR="91425" marL="91425">
                    <a:solidFill>
                      <a:srgbClr val="1C7293"/>
                    </a:solidFill>
                  </a:tcPr>
                </a:tc>
                <a:tc>
                  <a:txBody>
                    <a:bodyPr/>
                    <a:lstStyle/>
                    <a:p>
                      <a:pPr indent="0" lvl="0" marL="0" rtl="0" algn="l">
                        <a:spcBef>
                          <a:spcPts val="0"/>
                        </a:spcBef>
                        <a:spcAft>
                          <a:spcPts val="0"/>
                        </a:spcAft>
                        <a:buNone/>
                      </a:pPr>
                      <a:r>
                        <a:rPr b="1" lang="en-US" sz="2000">
                          <a:solidFill>
                            <a:schemeClr val="lt1"/>
                          </a:solidFill>
                          <a:latin typeface="Calibri"/>
                          <a:ea typeface="Calibri"/>
                          <a:cs typeface="Calibri"/>
                          <a:sym typeface="Calibri"/>
                        </a:rPr>
                        <a:t>Modality</a:t>
                      </a:r>
                      <a:endParaRPr b="1" sz="2000">
                        <a:solidFill>
                          <a:schemeClr val="lt1"/>
                        </a:solidFill>
                        <a:latin typeface="Calibri"/>
                        <a:ea typeface="Calibri"/>
                        <a:cs typeface="Calibri"/>
                        <a:sym typeface="Calibri"/>
                      </a:endParaRPr>
                    </a:p>
                  </a:txBody>
                  <a:tcPr marT="91425" marB="91425" marR="91425" marL="91425">
                    <a:solidFill>
                      <a:srgbClr val="1C7293"/>
                    </a:solidFill>
                  </a:tcPr>
                </a:tc>
                <a:tc>
                  <a:txBody>
                    <a:bodyPr/>
                    <a:lstStyle/>
                    <a:p>
                      <a:pPr indent="0" lvl="0" marL="0" rtl="0" algn="l">
                        <a:spcBef>
                          <a:spcPts val="0"/>
                        </a:spcBef>
                        <a:spcAft>
                          <a:spcPts val="0"/>
                        </a:spcAft>
                        <a:buNone/>
                      </a:pPr>
                      <a:r>
                        <a:rPr b="1" lang="en-US" sz="2000">
                          <a:solidFill>
                            <a:schemeClr val="lt1"/>
                          </a:solidFill>
                          <a:latin typeface="Calibri"/>
                          <a:ea typeface="Calibri"/>
                          <a:cs typeface="Calibri"/>
                          <a:sym typeface="Calibri"/>
                        </a:rPr>
                        <a:t>Method</a:t>
                      </a:r>
                      <a:endParaRPr b="1" sz="2000">
                        <a:solidFill>
                          <a:schemeClr val="lt1"/>
                        </a:solidFill>
                        <a:latin typeface="Calibri"/>
                        <a:ea typeface="Calibri"/>
                        <a:cs typeface="Calibri"/>
                        <a:sym typeface="Calibri"/>
                      </a:endParaRPr>
                    </a:p>
                  </a:txBody>
                  <a:tcPr marT="91425" marB="91425" marR="91425" marL="91425">
                    <a:solidFill>
                      <a:srgbClr val="1C7293"/>
                    </a:solidFill>
                  </a:tcPr>
                </a:tc>
                <a:tc>
                  <a:txBody>
                    <a:bodyPr/>
                    <a:lstStyle/>
                    <a:p>
                      <a:pPr indent="0" lvl="0" marL="0" rtl="0" algn="l">
                        <a:spcBef>
                          <a:spcPts val="0"/>
                        </a:spcBef>
                        <a:spcAft>
                          <a:spcPts val="0"/>
                        </a:spcAft>
                        <a:buNone/>
                      </a:pPr>
                      <a:r>
                        <a:rPr b="1" lang="en-US" sz="2000">
                          <a:solidFill>
                            <a:schemeClr val="lt1"/>
                          </a:solidFill>
                          <a:latin typeface="Calibri"/>
                          <a:ea typeface="Calibri"/>
                          <a:cs typeface="Calibri"/>
                          <a:sym typeface="Calibri"/>
                        </a:rPr>
                        <a:t>Key Limitation</a:t>
                      </a:r>
                      <a:endParaRPr b="1" sz="2000">
                        <a:solidFill>
                          <a:schemeClr val="lt1"/>
                        </a:solidFill>
                        <a:latin typeface="Calibri"/>
                        <a:ea typeface="Calibri"/>
                        <a:cs typeface="Calibri"/>
                        <a:sym typeface="Calibri"/>
                      </a:endParaRPr>
                    </a:p>
                  </a:txBody>
                  <a:tcPr marT="91425" marB="91425" marR="91425" marL="91425">
                    <a:solidFill>
                      <a:srgbClr val="1C7293"/>
                    </a:solidFill>
                  </a:tcPr>
                </a:tc>
              </a:tr>
              <a:tr h="1076550">
                <a:tc>
                  <a:txBody>
                    <a:bodyPr/>
                    <a:lstStyle/>
                    <a:p>
                      <a:pPr indent="0" lvl="0" marL="0" rtl="0" algn="l">
                        <a:spcBef>
                          <a:spcPts val="0"/>
                        </a:spcBef>
                        <a:spcAft>
                          <a:spcPts val="0"/>
                        </a:spcAft>
                        <a:buNone/>
                      </a:pPr>
                      <a:r>
                        <a:rPr lang="en-US" sz="2000">
                          <a:latin typeface="Calibri"/>
                          <a:ea typeface="Calibri"/>
                          <a:cs typeface="Calibri"/>
                          <a:sym typeface="Calibri"/>
                        </a:rPr>
                        <a:t>Flügge et al., 2023</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en-US" sz="2000">
                          <a:solidFill>
                            <a:schemeClr val="dk1"/>
                          </a:solidFill>
                          <a:latin typeface="Calibri"/>
                          <a:ea typeface="Calibri"/>
                          <a:cs typeface="Calibri"/>
                          <a:sym typeface="Calibri"/>
                        </a:rPr>
                        <a:t>Oral cavity, OSCC</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None/>
                      </a:pPr>
                      <a:r>
                        <a:rPr lang="en-US" sz="2000">
                          <a:solidFill>
                            <a:schemeClr val="dk1"/>
                          </a:solidFill>
                          <a:latin typeface="Calibri"/>
                          <a:ea typeface="Calibri"/>
                          <a:cs typeface="Calibri"/>
                          <a:sym typeface="Calibri"/>
                        </a:rPr>
                        <a:t>Swin</a:t>
                      </a:r>
                      <a:endParaRPr sz="2000">
                        <a:solidFill>
                          <a:schemeClr val="dk1"/>
                        </a:solidFill>
                        <a:latin typeface="Calibri"/>
                        <a:ea typeface="Calibri"/>
                        <a:cs typeface="Calibri"/>
                        <a:sym typeface="Calibri"/>
                      </a:endParaRPr>
                    </a:p>
                    <a:p>
                      <a:pPr indent="0" lvl="0" marL="0" rtl="0" algn="l">
                        <a:spcBef>
                          <a:spcPts val="0"/>
                        </a:spcBef>
                        <a:spcAft>
                          <a:spcPts val="0"/>
                        </a:spcAft>
                        <a:buClr>
                          <a:schemeClr val="dk1"/>
                        </a:buClr>
                        <a:buSzPts val="1100"/>
                        <a:buFont typeface="Arial"/>
                        <a:buNone/>
                      </a:pPr>
                      <a:r>
                        <a:rPr lang="en-US" sz="2000">
                          <a:solidFill>
                            <a:schemeClr val="dk1"/>
                          </a:solidFill>
                          <a:latin typeface="Calibri"/>
                          <a:ea typeface="Calibri"/>
                          <a:cs typeface="Calibri"/>
                          <a:sym typeface="Calibri"/>
                        </a:rPr>
                        <a:t>Transformer, Grad-CAM</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en-US" sz="2000">
                          <a:solidFill>
                            <a:schemeClr val="dk1"/>
                          </a:solidFill>
                          <a:latin typeface="Calibri"/>
                          <a:ea typeface="Calibri"/>
                          <a:cs typeface="Calibri"/>
                          <a:sym typeface="Calibri"/>
                        </a:rPr>
                        <a:t>Single surface, no fusion</a:t>
                      </a:r>
                      <a:endParaRPr sz="2000">
                        <a:latin typeface="Calibri"/>
                        <a:ea typeface="Calibri"/>
                        <a:cs typeface="Calibri"/>
                        <a:sym typeface="Calibri"/>
                      </a:endParaRPr>
                    </a:p>
                  </a:txBody>
                  <a:tcPr marT="91425" marB="91425" marR="91425" marL="91425"/>
                </a:tc>
              </a:tr>
              <a:tr h="1076550">
                <a:tc>
                  <a:txBody>
                    <a:bodyPr/>
                    <a:lstStyle/>
                    <a:p>
                      <a:pPr indent="0" lvl="0" marL="0" rtl="0" algn="l">
                        <a:spcBef>
                          <a:spcPts val="0"/>
                        </a:spcBef>
                        <a:spcAft>
                          <a:spcPts val="0"/>
                        </a:spcAft>
                        <a:buNone/>
                      </a:pPr>
                      <a:r>
                        <a:rPr lang="en-US" sz="2000">
                          <a:latin typeface="Calibri"/>
                          <a:ea typeface="Calibri"/>
                          <a:cs typeface="Calibri"/>
                          <a:sym typeface="Calibri"/>
                        </a:rPr>
                        <a:t>Rabinovici-Cohen et al., 2024</a:t>
                      </a:r>
                      <a:endParaRPr sz="2000">
                        <a:latin typeface="Calibri"/>
                        <a:ea typeface="Calibri"/>
                        <a:cs typeface="Calibri"/>
                        <a:sym typeface="Calibri"/>
                      </a:endParaRPr>
                    </a:p>
                  </a:txBody>
                  <a:tcPr marT="91425" marB="91425" marR="91425" marL="91425">
                    <a:solidFill>
                      <a:srgbClr val="E1E9EA"/>
                    </a:solidFill>
                  </a:tcPr>
                </a:tc>
                <a:tc>
                  <a:txBody>
                    <a:bodyPr/>
                    <a:lstStyle/>
                    <a:p>
                      <a:pPr indent="0" lvl="0" marL="0" rtl="0" algn="l">
                        <a:spcBef>
                          <a:spcPts val="0"/>
                        </a:spcBef>
                        <a:spcAft>
                          <a:spcPts val="0"/>
                        </a:spcAft>
                        <a:buClr>
                          <a:schemeClr val="dk1"/>
                        </a:buClr>
                        <a:buSzPts val="1100"/>
                        <a:buFont typeface="Arial"/>
                        <a:buNone/>
                      </a:pPr>
                      <a:r>
                        <a:rPr lang="en-US" sz="2000">
                          <a:solidFill>
                            <a:schemeClr val="dk1"/>
                          </a:solidFill>
                          <a:latin typeface="Calibri"/>
                          <a:ea typeface="Calibri"/>
                          <a:cs typeface="Calibri"/>
                          <a:sym typeface="Calibri"/>
                        </a:rPr>
                        <a:t>Oral cavity,  OPMD/OSCC</a:t>
                      </a:r>
                      <a:endParaRPr sz="2000">
                        <a:latin typeface="Calibri"/>
                        <a:ea typeface="Calibri"/>
                        <a:cs typeface="Calibri"/>
                        <a:sym typeface="Calibri"/>
                      </a:endParaRPr>
                    </a:p>
                  </a:txBody>
                  <a:tcPr marT="91425" marB="91425" marR="91425" marL="91425">
                    <a:solidFill>
                      <a:srgbClr val="E1E9EA"/>
                    </a:solidFill>
                  </a:tcPr>
                </a:tc>
                <a:tc>
                  <a:txBody>
                    <a:bodyPr/>
                    <a:lstStyle/>
                    <a:p>
                      <a:pPr indent="0" lvl="0" marL="0" rtl="0" algn="l">
                        <a:spcBef>
                          <a:spcPts val="0"/>
                        </a:spcBef>
                        <a:spcAft>
                          <a:spcPts val="0"/>
                        </a:spcAft>
                        <a:buClr>
                          <a:schemeClr val="dk1"/>
                        </a:buClr>
                        <a:buSzPts val="1100"/>
                        <a:buFont typeface="Arial"/>
                        <a:buNone/>
                      </a:pPr>
                      <a:r>
                        <a:rPr lang="en-US" sz="2000">
                          <a:solidFill>
                            <a:schemeClr val="dk1"/>
                          </a:solidFill>
                          <a:latin typeface="Calibri"/>
                          <a:ea typeface="Calibri"/>
                          <a:cs typeface="Calibri"/>
                          <a:sym typeface="Calibri"/>
                        </a:rPr>
                        <a:t>T</a:t>
                      </a:r>
                      <a:r>
                        <a:rPr lang="en-US" sz="2000">
                          <a:solidFill>
                            <a:schemeClr val="dk1"/>
                          </a:solidFill>
                          <a:latin typeface="Calibri"/>
                          <a:ea typeface="Calibri"/>
                          <a:cs typeface="Calibri"/>
                          <a:sym typeface="Calibri"/>
                        </a:rPr>
                        <a:t>ransfer-learning classifier</a:t>
                      </a:r>
                      <a:endParaRPr sz="2000">
                        <a:latin typeface="Calibri"/>
                        <a:ea typeface="Calibri"/>
                        <a:cs typeface="Calibri"/>
                        <a:sym typeface="Calibri"/>
                      </a:endParaRPr>
                    </a:p>
                  </a:txBody>
                  <a:tcPr marT="91425" marB="91425" marR="91425" marL="91425">
                    <a:solidFill>
                      <a:srgbClr val="E1E9EA"/>
                    </a:solidFill>
                  </a:tcPr>
                </a:tc>
                <a:tc>
                  <a:txBody>
                    <a:bodyPr/>
                    <a:lstStyle/>
                    <a:p>
                      <a:pPr indent="0" lvl="0" marL="0" rtl="0" algn="l">
                        <a:spcBef>
                          <a:spcPts val="0"/>
                        </a:spcBef>
                        <a:spcAft>
                          <a:spcPts val="0"/>
                        </a:spcAft>
                        <a:buNone/>
                      </a:pPr>
                      <a:r>
                        <a:rPr lang="en-US" sz="2000">
                          <a:solidFill>
                            <a:schemeClr val="dk1"/>
                          </a:solidFill>
                          <a:latin typeface="Calibri"/>
                          <a:ea typeface="Calibri"/>
                          <a:cs typeface="Calibri"/>
                          <a:sym typeface="Calibri"/>
                        </a:rPr>
                        <a:t>C</a:t>
                      </a:r>
                      <a:r>
                        <a:rPr lang="en-US" sz="2000">
                          <a:solidFill>
                            <a:schemeClr val="dk1"/>
                          </a:solidFill>
                          <a:latin typeface="Calibri"/>
                          <a:ea typeface="Calibri"/>
                          <a:cs typeface="Calibri"/>
                          <a:sym typeface="Calibri"/>
                        </a:rPr>
                        <a:t>lass imbalance, limited external validation</a:t>
                      </a:r>
                      <a:endParaRPr sz="2000">
                        <a:latin typeface="Calibri"/>
                        <a:ea typeface="Calibri"/>
                        <a:cs typeface="Calibri"/>
                        <a:sym typeface="Calibri"/>
                      </a:endParaRPr>
                    </a:p>
                  </a:txBody>
                  <a:tcPr marT="91425" marB="91425" marR="91425" marL="91425">
                    <a:solidFill>
                      <a:srgbClr val="E1E9EA"/>
                    </a:solidFill>
                  </a:tcPr>
                </a:tc>
              </a:tr>
              <a:tr h="1179525">
                <a:tc>
                  <a:txBody>
                    <a:bodyPr/>
                    <a:lstStyle/>
                    <a:p>
                      <a:pPr indent="0" lvl="0" marL="0" rtl="0" algn="l">
                        <a:spcBef>
                          <a:spcPts val="0"/>
                        </a:spcBef>
                        <a:spcAft>
                          <a:spcPts val="0"/>
                        </a:spcAft>
                        <a:buNone/>
                      </a:pPr>
                      <a:r>
                        <a:rPr lang="en-US" sz="2000">
                          <a:latin typeface="Calibri"/>
                          <a:ea typeface="Calibri"/>
                          <a:cs typeface="Calibri"/>
                          <a:sym typeface="Calibri"/>
                        </a:rPr>
                        <a:t>Asare et al., 2023</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en-US" sz="2000">
                          <a:solidFill>
                            <a:schemeClr val="dk1"/>
                          </a:solidFill>
                          <a:latin typeface="Calibri"/>
                          <a:ea typeface="Calibri"/>
                          <a:cs typeface="Calibri"/>
                          <a:sym typeface="Calibri"/>
                        </a:rPr>
                        <a:t>Nails, palm, conjunctiva</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en-US" sz="2000">
                          <a:solidFill>
                            <a:schemeClr val="dk1"/>
                          </a:solidFill>
                          <a:latin typeface="Calibri"/>
                          <a:ea typeface="Calibri"/>
                          <a:cs typeface="Calibri"/>
                          <a:sym typeface="Calibri"/>
                        </a:rPr>
                        <a:t>CNN, SVM, k-NN (compared)</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en-US" sz="2000">
                          <a:solidFill>
                            <a:schemeClr val="dk1"/>
                          </a:solidFill>
                          <a:latin typeface="Calibri"/>
                          <a:ea typeface="Calibri"/>
                          <a:cs typeface="Calibri"/>
                          <a:sym typeface="Calibri"/>
                        </a:rPr>
                        <a:t>S</a:t>
                      </a:r>
                      <a:r>
                        <a:rPr lang="en-US" sz="2000">
                          <a:solidFill>
                            <a:schemeClr val="dk1"/>
                          </a:solidFill>
                          <a:latin typeface="Calibri"/>
                          <a:ea typeface="Calibri"/>
                          <a:cs typeface="Calibri"/>
                          <a:sym typeface="Calibri"/>
                        </a:rPr>
                        <a:t>urfaces compared, never fused</a:t>
                      </a:r>
                      <a:endParaRPr sz="2000">
                        <a:solidFill>
                          <a:schemeClr val="dk1"/>
                        </a:solidFill>
                        <a:latin typeface="Calibri"/>
                        <a:ea typeface="Calibri"/>
                        <a:cs typeface="Calibri"/>
                        <a:sym typeface="Calibri"/>
                      </a:endParaRPr>
                    </a:p>
                    <a:p>
                      <a:pPr indent="0" lvl="0" marL="0" rtl="0" algn="l">
                        <a:spcBef>
                          <a:spcPts val="0"/>
                        </a:spcBef>
                        <a:spcAft>
                          <a:spcPts val="0"/>
                        </a:spcAft>
                        <a:buNone/>
                      </a:pPr>
                      <a:r>
                        <a:t/>
                      </a:r>
                      <a:endParaRPr sz="2000">
                        <a:latin typeface="Calibri"/>
                        <a:ea typeface="Calibri"/>
                        <a:cs typeface="Calibri"/>
                        <a:sym typeface="Calibri"/>
                      </a:endParaRPr>
                    </a:p>
                  </a:txBody>
                  <a:tcPr marT="91425" marB="91425" marR="91425" marL="91425"/>
                </a:tc>
              </a:tr>
            </a:tbl>
          </a:graphicData>
        </a:graphic>
      </p:graphicFrame>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SzPts val="1400"/>
              <a:buNone/>
            </a:pPr>
            <a:r>
              <a:rPr b="1" lang="en-US" sz="4000">
                <a:solidFill>
                  <a:srgbClr val="0B3D59"/>
                </a:solidFill>
              </a:rPr>
              <a:t>LITERATURE REVIEW</a:t>
            </a:r>
            <a:endParaRPr sz="2000">
              <a:solidFill>
                <a:srgbClr val="0B3D59"/>
              </a:solidFill>
            </a:endParaRPr>
          </a:p>
        </p:txBody>
      </p:sp>
      <p:graphicFrame>
        <p:nvGraphicFramePr>
          <p:cNvPr id="136" name="Google Shape;136;p20"/>
          <p:cNvGraphicFramePr/>
          <p:nvPr/>
        </p:nvGraphicFramePr>
        <p:xfrm>
          <a:off x="457200" y="1609200"/>
          <a:ext cx="3000000" cy="3000000"/>
        </p:xfrm>
        <a:graphic>
          <a:graphicData uri="http://schemas.openxmlformats.org/drawingml/2006/table">
            <a:tbl>
              <a:tblPr>
                <a:noFill/>
                <a:tableStyleId>{6DCBE433-D38A-414C-8CE7-A03D4E96D332}</a:tableStyleId>
              </a:tblPr>
              <a:tblGrid>
                <a:gridCol w="2057400"/>
                <a:gridCol w="2057400"/>
                <a:gridCol w="2057400"/>
                <a:gridCol w="2057400"/>
              </a:tblGrid>
              <a:tr h="524750">
                <a:tc>
                  <a:txBody>
                    <a:bodyPr/>
                    <a:lstStyle/>
                    <a:p>
                      <a:pPr indent="0" lvl="0" marL="0" rtl="0" algn="l">
                        <a:spcBef>
                          <a:spcPts val="0"/>
                        </a:spcBef>
                        <a:spcAft>
                          <a:spcPts val="0"/>
                        </a:spcAft>
                        <a:buNone/>
                      </a:pPr>
                      <a:r>
                        <a:rPr b="1" lang="en-US" sz="2000">
                          <a:solidFill>
                            <a:schemeClr val="lt1"/>
                          </a:solidFill>
                          <a:latin typeface="Calibri"/>
                          <a:ea typeface="Calibri"/>
                          <a:cs typeface="Calibri"/>
                          <a:sym typeface="Calibri"/>
                        </a:rPr>
                        <a:t>Source</a:t>
                      </a:r>
                      <a:endParaRPr b="1" sz="2000">
                        <a:solidFill>
                          <a:schemeClr val="lt1"/>
                        </a:solidFill>
                        <a:latin typeface="Calibri"/>
                        <a:ea typeface="Calibri"/>
                        <a:cs typeface="Calibri"/>
                        <a:sym typeface="Calibri"/>
                      </a:endParaRPr>
                    </a:p>
                  </a:txBody>
                  <a:tcPr marT="91425" marB="91425" marR="91425" marL="91425">
                    <a:solidFill>
                      <a:srgbClr val="1C7293"/>
                    </a:solidFill>
                  </a:tcPr>
                </a:tc>
                <a:tc>
                  <a:txBody>
                    <a:bodyPr/>
                    <a:lstStyle/>
                    <a:p>
                      <a:pPr indent="0" lvl="0" marL="0" rtl="0" algn="l">
                        <a:spcBef>
                          <a:spcPts val="0"/>
                        </a:spcBef>
                        <a:spcAft>
                          <a:spcPts val="0"/>
                        </a:spcAft>
                        <a:buNone/>
                      </a:pPr>
                      <a:r>
                        <a:rPr b="1" lang="en-US" sz="2000">
                          <a:solidFill>
                            <a:schemeClr val="lt1"/>
                          </a:solidFill>
                          <a:latin typeface="Calibri"/>
                          <a:ea typeface="Calibri"/>
                          <a:cs typeface="Calibri"/>
                          <a:sym typeface="Calibri"/>
                        </a:rPr>
                        <a:t>Modality</a:t>
                      </a:r>
                      <a:endParaRPr b="1" sz="2000">
                        <a:solidFill>
                          <a:schemeClr val="lt1"/>
                        </a:solidFill>
                        <a:latin typeface="Calibri"/>
                        <a:ea typeface="Calibri"/>
                        <a:cs typeface="Calibri"/>
                        <a:sym typeface="Calibri"/>
                      </a:endParaRPr>
                    </a:p>
                  </a:txBody>
                  <a:tcPr marT="91425" marB="91425" marR="91425" marL="91425">
                    <a:solidFill>
                      <a:srgbClr val="1C7293"/>
                    </a:solidFill>
                  </a:tcPr>
                </a:tc>
                <a:tc>
                  <a:txBody>
                    <a:bodyPr/>
                    <a:lstStyle/>
                    <a:p>
                      <a:pPr indent="0" lvl="0" marL="0" rtl="0" algn="l">
                        <a:spcBef>
                          <a:spcPts val="0"/>
                        </a:spcBef>
                        <a:spcAft>
                          <a:spcPts val="0"/>
                        </a:spcAft>
                        <a:buNone/>
                      </a:pPr>
                      <a:r>
                        <a:rPr b="1" lang="en-US" sz="2000">
                          <a:solidFill>
                            <a:schemeClr val="lt1"/>
                          </a:solidFill>
                          <a:latin typeface="Calibri"/>
                          <a:ea typeface="Calibri"/>
                          <a:cs typeface="Calibri"/>
                          <a:sym typeface="Calibri"/>
                        </a:rPr>
                        <a:t>Method</a:t>
                      </a:r>
                      <a:endParaRPr b="1" sz="2000">
                        <a:solidFill>
                          <a:schemeClr val="lt1"/>
                        </a:solidFill>
                        <a:latin typeface="Calibri"/>
                        <a:ea typeface="Calibri"/>
                        <a:cs typeface="Calibri"/>
                        <a:sym typeface="Calibri"/>
                      </a:endParaRPr>
                    </a:p>
                  </a:txBody>
                  <a:tcPr marT="91425" marB="91425" marR="91425" marL="91425">
                    <a:solidFill>
                      <a:srgbClr val="1C7293"/>
                    </a:solidFill>
                  </a:tcPr>
                </a:tc>
                <a:tc>
                  <a:txBody>
                    <a:bodyPr/>
                    <a:lstStyle/>
                    <a:p>
                      <a:pPr indent="0" lvl="0" marL="0" rtl="0" algn="l">
                        <a:spcBef>
                          <a:spcPts val="0"/>
                        </a:spcBef>
                        <a:spcAft>
                          <a:spcPts val="0"/>
                        </a:spcAft>
                        <a:buNone/>
                      </a:pPr>
                      <a:r>
                        <a:rPr b="1" lang="en-US" sz="2000">
                          <a:solidFill>
                            <a:schemeClr val="lt1"/>
                          </a:solidFill>
                          <a:latin typeface="Calibri"/>
                          <a:ea typeface="Calibri"/>
                          <a:cs typeface="Calibri"/>
                          <a:sym typeface="Calibri"/>
                        </a:rPr>
                        <a:t>Key Limitation</a:t>
                      </a:r>
                      <a:endParaRPr b="1" sz="2000">
                        <a:solidFill>
                          <a:schemeClr val="lt1"/>
                        </a:solidFill>
                        <a:latin typeface="Calibri"/>
                        <a:ea typeface="Calibri"/>
                        <a:cs typeface="Calibri"/>
                        <a:sym typeface="Calibri"/>
                      </a:endParaRPr>
                    </a:p>
                  </a:txBody>
                  <a:tcPr marT="91425" marB="91425" marR="91425" marL="91425">
                    <a:solidFill>
                      <a:srgbClr val="1C7293"/>
                    </a:solidFill>
                  </a:tcPr>
                </a:tc>
              </a:tr>
              <a:tr h="1385475">
                <a:tc>
                  <a:txBody>
                    <a:bodyPr/>
                    <a:lstStyle/>
                    <a:p>
                      <a:pPr indent="0" lvl="0" marL="0" rtl="0" algn="l">
                        <a:spcBef>
                          <a:spcPts val="0"/>
                        </a:spcBef>
                        <a:spcAft>
                          <a:spcPts val="0"/>
                        </a:spcAft>
                        <a:buNone/>
                      </a:pPr>
                      <a:r>
                        <a:rPr lang="en-US" sz="2000">
                          <a:latin typeface="Calibri"/>
                          <a:ea typeface="Calibri"/>
                          <a:cs typeface="Calibri"/>
                          <a:sym typeface="Calibri"/>
                        </a:rPr>
                        <a:t>Ye et al., 2026 (iMES)</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None/>
                      </a:pPr>
                      <a:r>
                        <a:rPr lang="en-US" sz="2000">
                          <a:solidFill>
                            <a:schemeClr val="dk1"/>
                          </a:solidFill>
                          <a:latin typeface="Calibri"/>
                          <a:ea typeface="Calibri"/>
                          <a:cs typeface="Calibri"/>
                          <a:sym typeface="Calibri"/>
                        </a:rPr>
                        <a:t>Face, tongue, pulse</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None/>
                      </a:pPr>
                      <a:r>
                        <a:rPr lang="en-US" sz="2000">
                          <a:solidFill>
                            <a:schemeClr val="dk1"/>
                          </a:solidFill>
                          <a:latin typeface="Calibri"/>
                          <a:ea typeface="Calibri"/>
                          <a:cs typeface="Calibri"/>
                          <a:sym typeface="Calibri"/>
                        </a:rPr>
                        <a:t>CCA fusion, SHAP</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None/>
                      </a:pPr>
                      <a:r>
                        <a:rPr lang="en-US" sz="2000">
                          <a:solidFill>
                            <a:schemeClr val="dk1"/>
                          </a:solidFill>
                          <a:latin typeface="Calibri"/>
                          <a:ea typeface="Calibri"/>
                          <a:cs typeface="Calibri"/>
                          <a:sym typeface="Calibri"/>
                        </a:rPr>
                        <a:t>Dedicated hardware, no uncertainty output</a:t>
                      </a:r>
                      <a:endParaRPr sz="2000">
                        <a:latin typeface="Calibri"/>
                        <a:ea typeface="Calibri"/>
                        <a:cs typeface="Calibri"/>
                        <a:sym typeface="Calibri"/>
                      </a:endParaRPr>
                    </a:p>
                  </a:txBody>
                  <a:tcPr marT="91425" marB="91425" marR="91425" marL="91425"/>
                </a:tc>
              </a:tr>
              <a:tr h="1084275">
                <a:tc>
                  <a:txBody>
                    <a:bodyPr/>
                    <a:lstStyle/>
                    <a:p>
                      <a:pPr indent="0" lvl="0" marL="0" rtl="0" algn="l">
                        <a:spcBef>
                          <a:spcPts val="0"/>
                        </a:spcBef>
                        <a:spcAft>
                          <a:spcPts val="0"/>
                        </a:spcAft>
                        <a:buNone/>
                      </a:pPr>
                      <a:r>
                        <a:rPr lang="en-US" sz="2000">
                          <a:latin typeface="Calibri"/>
                          <a:ea typeface="Calibri"/>
                          <a:cs typeface="Calibri"/>
                          <a:sym typeface="Calibri"/>
                        </a:rPr>
                        <a:t>General ViT literature</a:t>
                      </a:r>
                      <a:endParaRPr sz="2000">
                        <a:latin typeface="Calibri"/>
                        <a:ea typeface="Calibri"/>
                        <a:cs typeface="Calibri"/>
                        <a:sym typeface="Calibri"/>
                      </a:endParaRPr>
                    </a:p>
                  </a:txBody>
                  <a:tcPr marT="91425" marB="91425" marR="91425" marL="91425">
                    <a:solidFill>
                      <a:srgbClr val="E1E9EA"/>
                    </a:solidFill>
                  </a:tcPr>
                </a:tc>
                <a:tc>
                  <a:txBody>
                    <a:bodyPr/>
                    <a:lstStyle/>
                    <a:p>
                      <a:pPr indent="0" lvl="0" marL="0" rtl="0" algn="l">
                        <a:spcBef>
                          <a:spcPts val="0"/>
                        </a:spcBef>
                        <a:spcAft>
                          <a:spcPts val="0"/>
                        </a:spcAft>
                        <a:buNone/>
                      </a:pPr>
                      <a:r>
                        <a:rPr lang="en-US" sz="2000">
                          <a:solidFill>
                            <a:schemeClr val="dk1"/>
                          </a:solidFill>
                          <a:latin typeface="Calibri"/>
                          <a:ea typeface="Calibri"/>
                          <a:cs typeface="Calibri"/>
                          <a:sym typeface="Calibri"/>
                        </a:rPr>
                        <a:t>Various medical imaging</a:t>
                      </a:r>
                      <a:endParaRPr sz="2000">
                        <a:latin typeface="Calibri"/>
                        <a:ea typeface="Calibri"/>
                        <a:cs typeface="Calibri"/>
                        <a:sym typeface="Calibri"/>
                      </a:endParaRPr>
                    </a:p>
                  </a:txBody>
                  <a:tcPr marT="91425" marB="91425" marR="91425" marL="91425">
                    <a:solidFill>
                      <a:srgbClr val="E1E9EA"/>
                    </a:solidFill>
                  </a:tcPr>
                </a:tc>
                <a:tc>
                  <a:txBody>
                    <a:bodyPr/>
                    <a:lstStyle/>
                    <a:p>
                      <a:pPr indent="0" lvl="0" marL="0" rtl="0" algn="l">
                        <a:spcBef>
                          <a:spcPts val="0"/>
                        </a:spcBef>
                        <a:spcAft>
                          <a:spcPts val="0"/>
                        </a:spcAft>
                        <a:buNone/>
                      </a:pPr>
                      <a:r>
                        <a:rPr lang="en-US" sz="2000">
                          <a:solidFill>
                            <a:schemeClr val="dk1"/>
                          </a:solidFill>
                          <a:latin typeface="Calibri"/>
                          <a:ea typeface="Calibri"/>
                          <a:cs typeface="Calibri"/>
                          <a:sym typeface="Calibri"/>
                        </a:rPr>
                        <a:t>Vision Transformer encoders</a:t>
                      </a:r>
                      <a:endParaRPr sz="2000">
                        <a:latin typeface="Calibri"/>
                        <a:ea typeface="Calibri"/>
                        <a:cs typeface="Calibri"/>
                        <a:sym typeface="Calibri"/>
                      </a:endParaRPr>
                    </a:p>
                  </a:txBody>
                  <a:tcPr marT="91425" marB="91425" marR="91425" marL="91425">
                    <a:solidFill>
                      <a:srgbClr val="E1E9EA"/>
                    </a:solidFill>
                  </a:tcPr>
                </a:tc>
                <a:tc>
                  <a:txBody>
                    <a:bodyPr/>
                    <a:lstStyle/>
                    <a:p>
                      <a:pPr indent="0" lvl="0" marL="0" rtl="0" algn="l">
                        <a:spcBef>
                          <a:spcPts val="0"/>
                        </a:spcBef>
                        <a:spcAft>
                          <a:spcPts val="0"/>
                        </a:spcAft>
                        <a:buNone/>
                      </a:pPr>
                      <a:r>
                        <a:rPr lang="en-US" sz="2000">
                          <a:solidFill>
                            <a:schemeClr val="dk1"/>
                          </a:solidFill>
                          <a:latin typeface="Calibri"/>
                          <a:ea typeface="Calibri"/>
                          <a:cs typeface="Calibri"/>
                          <a:sym typeface="Calibri"/>
                        </a:rPr>
                        <a:t>Rarely combined across surfaces</a:t>
                      </a:r>
                      <a:endParaRPr sz="2000">
                        <a:latin typeface="Calibri"/>
                        <a:ea typeface="Calibri"/>
                        <a:cs typeface="Calibri"/>
                        <a:sym typeface="Calibri"/>
                      </a:endParaRPr>
                    </a:p>
                  </a:txBody>
                  <a:tcPr marT="91425" marB="91425" marR="91425" marL="91425">
                    <a:solidFill>
                      <a:srgbClr val="E1E9EA"/>
                    </a:solidFill>
                  </a:tcPr>
                </a:tc>
              </a:tr>
              <a:tr h="1385475">
                <a:tc>
                  <a:txBody>
                    <a:bodyPr/>
                    <a:lstStyle/>
                    <a:p>
                      <a:pPr indent="0" lvl="0" marL="0" rtl="0" algn="l">
                        <a:spcBef>
                          <a:spcPts val="0"/>
                        </a:spcBef>
                        <a:spcAft>
                          <a:spcPts val="0"/>
                        </a:spcAft>
                        <a:buNone/>
                      </a:pPr>
                      <a:r>
                        <a:rPr lang="en-US" sz="2000">
                          <a:latin typeface="Calibri"/>
                          <a:ea typeface="Calibri"/>
                          <a:cs typeface="Calibri"/>
                          <a:sym typeface="Calibri"/>
                        </a:rPr>
                        <a:t>Multimodal fusion literature</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None/>
                      </a:pPr>
                      <a:r>
                        <a:rPr lang="en-US" sz="2000">
                          <a:solidFill>
                            <a:schemeClr val="dk1"/>
                          </a:solidFill>
                          <a:latin typeface="Calibri"/>
                          <a:ea typeface="Calibri"/>
                          <a:cs typeface="Calibri"/>
                          <a:sym typeface="Calibri"/>
                        </a:rPr>
                        <a:t>Cross-domain imaging</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None/>
                      </a:pPr>
                      <a:r>
                        <a:rPr lang="en-US" sz="2000">
                          <a:solidFill>
                            <a:schemeClr val="dk1"/>
                          </a:solidFill>
                          <a:latin typeface="Calibri"/>
                          <a:ea typeface="Calibri"/>
                          <a:cs typeface="Calibri"/>
                          <a:sym typeface="Calibri"/>
                        </a:rPr>
                        <a:t>Attention-based fusion</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None/>
                      </a:pPr>
                      <a:r>
                        <a:rPr lang="en-US" sz="2000">
                          <a:solidFill>
                            <a:schemeClr val="dk1"/>
                          </a:solidFill>
                          <a:latin typeface="Calibri"/>
                          <a:ea typeface="Calibri"/>
                          <a:cs typeface="Calibri"/>
                          <a:sym typeface="Calibri"/>
                        </a:rPr>
                        <a:t>No smartphone-only variant</a:t>
                      </a:r>
                      <a:endParaRPr sz="2000">
                        <a:solidFill>
                          <a:schemeClr val="dk1"/>
                        </a:solidFill>
                        <a:latin typeface="Calibri"/>
                        <a:ea typeface="Calibri"/>
                        <a:cs typeface="Calibri"/>
                        <a:sym typeface="Calibri"/>
                      </a:endParaRPr>
                    </a:p>
                    <a:p>
                      <a:pPr indent="0" lvl="0" marL="0" rtl="0" algn="l">
                        <a:spcBef>
                          <a:spcPts val="0"/>
                        </a:spcBef>
                        <a:spcAft>
                          <a:spcPts val="0"/>
                        </a:spcAft>
                        <a:buNone/>
                      </a:pPr>
                      <a:r>
                        <a:t/>
                      </a:r>
                      <a:endParaRPr sz="2000">
                        <a:latin typeface="Calibri"/>
                        <a:ea typeface="Calibri"/>
                        <a:cs typeface="Calibri"/>
                        <a:sym typeface="Calibri"/>
                      </a:endParaRPr>
                    </a:p>
                  </a:txBody>
                  <a:tcPr marT="91425" marB="91425" marR="91425" marL="91425"/>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21"/>
          <p:cNvSpPr txBox="1"/>
          <p:nvPr>
            <p:ph type="title"/>
          </p:nvPr>
        </p:nvSpPr>
        <p:spPr>
          <a:xfrm>
            <a:off x="722313" y="4406900"/>
            <a:ext cx="7772400" cy="13620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SzPts val="1400"/>
              <a:buNone/>
            </a:pPr>
            <a:r>
              <a:rPr lang="en-US">
                <a:solidFill>
                  <a:srgbClr val="0B3D59"/>
                </a:solidFill>
              </a:rPr>
              <a:t>Gap Analysis</a:t>
            </a:r>
            <a:endParaRPr>
              <a:solidFill>
                <a:srgbClr val="0B3D59"/>
              </a:solidFill>
            </a:endParaRPr>
          </a:p>
        </p:txBody>
      </p:sp>
      <p:sp>
        <p:nvSpPr>
          <p:cNvPr id="142" name="Google Shape;142;p21"/>
          <p:cNvSpPr txBox="1"/>
          <p:nvPr>
            <p:ph idx="1" type="body"/>
          </p:nvPr>
        </p:nvSpPr>
        <p:spPr>
          <a:xfrm>
            <a:off x="722313" y="2906713"/>
            <a:ext cx="7772400" cy="1500300"/>
          </a:xfrm>
          <a:prstGeom prst="rect">
            <a:avLst/>
          </a:prstGeom>
          <a:noFill/>
          <a:ln>
            <a:noFill/>
          </a:ln>
        </p:spPr>
        <p:txBody>
          <a:bodyPr anchorCtr="0" anchor="b" bIns="45700" lIns="91425" spcFirstLastPara="1" rIns="91425" wrap="square" tIns="45700">
            <a:normAutofit/>
          </a:bodyPr>
          <a:lstStyle/>
          <a:p>
            <a:pPr indent="0" lvl="0" marL="44450" rtl="0" algn="l">
              <a:lnSpc>
                <a:spcPct val="100000"/>
              </a:lnSpc>
              <a:spcBef>
                <a:spcPts val="0"/>
              </a:spcBef>
              <a:spcAft>
                <a:spcPts val="0"/>
              </a:spcAft>
              <a:buClr>
                <a:srgbClr val="888888"/>
              </a:buClr>
              <a:buSzPts val="2000"/>
              <a:buFont typeface="Arial"/>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SzPts val="1400"/>
              <a:buNone/>
            </a:pPr>
            <a:r>
              <a:rPr b="1" lang="en-US" sz="4000">
                <a:solidFill>
                  <a:srgbClr val="0B3D59"/>
                </a:solidFill>
              </a:rPr>
              <a:t>Gap Analysis</a:t>
            </a:r>
            <a:endParaRPr b="1" sz="4000">
              <a:solidFill>
                <a:srgbClr val="0B3D59"/>
              </a:solidFill>
            </a:endParaRPr>
          </a:p>
        </p:txBody>
      </p:sp>
      <p:sp>
        <p:nvSpPr>
          <p:cNvPr id="148" name="Google Shape;148;p22"/>
          <p:cNvSpPr txBox="1"/>
          <p:nvPr>
            <p:ph idx="1" type="body"/>
          </p:nvPr>
        </p:nvSpPr>
        <p:spPr>
          <a:xfrm>
            <a:off x="457200" y="1470530"/>
            <a:ext cx="8229600" cy="1402500"/>
          </a:xfrm>
          <a:prstGeom prst="rect">
            <a:avLst/>
          </a:prstGeom>
          <a:noFill/>
          <a:ln>
            <a:noFill/>
          </a:ln>
        </p:spPr>
        <p:txBody>
          <a:bodyPr anchorCtr="0" anchor="t" bIns="45700" lIns="91425" spcFirstLastPara="1" rIns="91425" wrap="square" tIns="45700">
            <a:noAutofit/>
          </a:bodyPr>
          <a:lstStyle/>
          <a:p>
            <a:pPr indent="0" lvl="0" marL="0" rtl="0" algn="just">
              <a:lnSpc>
                <a:spcPct val="150000"/>
              </a:lnSpc>
              <a:spcBef>
                <a:spcPts val="0"/>
              </a:spcBef>
              <a:spcAft>
                <a:spcPts val="0"/>
              </a:spcAft>
              <a:buClr>
                <a:schemeClr val="dk1"/>
              </a:buClr>
              <a:buSzPts val="3200"/>
              <a:buNone/>
            </a:pPr>
            <a:r>
              <a:rPr b="1" lang="en-US" sz="2100"/>
              <a:t>1. Single-surface tools dominate the field.</a:t>
            </a:r>
            <a:r>
              <a:rPr lang="en-US" sz="2100"/>
              <a:t> Conjunctival pallor detection, nail-based anemia/clubbing classifiers, and oral cavity OSCC screeners each work on one body surface only. None combine surfaces.</a:t>
            </a:r>
            <a:endParaRPr sz="2100"/>
          </a:p>
          <a:p>
            <a:pPr indent="-139700" lvl="0" marL="342900" rtl="0" algn="l">
              <a:lnSpc>
                <a:spcPct val="150000"/>
              </a:lnSpc>
              <a:spcBef>
                <a:spcPts val="0"/>
              </a:spcBef>
              <a:spcAft>
                <a:spcPts val="0"/>
              </a:spcAft>
              <a:buClr>
                <a:schemeClr val="dk1"/>
              </a:buClr>
              <a:buSzPts val="3200"/>
              <a:buNone/>
            </a:pPr>
            <a:r>
              <a:t/>
            </a:r>
            <a:endParaRPr sz="1200">
              <a:latin typeface="Arial"/>
              <a:ea typeface="Arial"/>
              <a:cs typeface="Arial"/>
              <a:sym typeface="Arial"/>
            </a:endParaRPr>
          </a:p>
        </p:txBody>
      </p:sp>
      <p:sp>
        <p:nvSpPr>
          <p:cNvPr id="149" name="Google Shape;149;p22"/>
          <p:cNvSpPr txBox="1"/>
          <p:nvPr/>
        </p:nvSpPr>
        <p:spPr>
          <a:xfrm>
            <a:off x="478325" y="2944900"/>
            <a:ext cx="8208600" cy="1383000"/>
          </a:xfrm>
          <a:prstGeom prst="rect">
            <a:avLst/>
          </a:prstGeom>
          <a:noFill/>
          <a:ln>
            <a:noFill/>
          </a:ln>
        </p:spPr>
        <p:txBody>
          <a:bodyPr anchorCtr="0" anchor="t" bIns="91425" lIns="91425" spcFirstLastPara="1" rIns="91425" wrap="square" tIns="91425">
            <a:noAutofit/>
          </a:bodyPr>
          <a:lstStyle/>
          <a:p>
            <a:pPr indent="0" lvl="0" marL="0" rtl="0" algn="just">
              <a:lnSpc>
                <a:spcPct val="150000"/>
              </a:lnSpc>
              <a:spcBef>
                <a:spcPts val="0"/>
              </a:spcBef>
              <a:spcAft>
                <a:spcPts val="1200"/>
              </a:spcAft>
              <a:buClr>
                <a:schemeClr val="dk1"/>
              </a:buClr>
              <a:buSzPts val="1100"/>
              <a:buFont typeface="Arial"/>
              <a:buNone/>
            </a:pPr>
            <a:r>
              <a:rPr b="1" lang="en-US" sz="2100">
                <a:solidFill>
                  <a:schemeClr val="dk1"/>
                </a:solidFill>
                <a:latin typeface="Calibri"/>
                <a:ea typeface="Calibri"/>
                <a:cs typeface="Calibri"/>
                <a:sym typeface="Calibri"/>
              </a:rPr>
              <a:t>2. No cross-surface fusion.</a:t>
            </a:r>
            <a:r>
              <a:rPr lang="en-US" sz="2100">
                <a:solidFill>
                  <a:schemeClr val="dk1"/>
                </a:solidFill>
                <a:latin typeface="Calibri"/>
                <a:ea typeface="Calibri"/>
                <a:cs typeface="Calibri"/>
                <a:sym typeface="Calibri"/>
              </a:rPr>
              <a:t> Asare et al. (2023) collected fingernail, palm, and conjunctiva images from the same patients but only compared them, never fused them into one model.</a:t>
            </a:r>
            <a:endParaRPr sz="3200">
              <a:solidFill>
                <a:schemeClr val="dk1"/>
              </a:solidFill>
              <a:latin typeface="Calibri"/>
              <a:ea typeface="Calibri"/>
              <a:cs typeface="Calibri"/>
              <a:sym typeface="Calibri"/>
            </a:endParaRPr>
          </a:p>
        </p:txBody>
      </p:sp>
      <p:sp>
        <p:nvSpPr>
          <p:cNvPr id="150" name="Google Shape;150;p22"/>
          <p:cNvSpPr txBox="1"/>
          <p:nvPr/>
        </p:nvSpPr>
        <p:spPr>
          <a:xfrm>
            <a:off x="492750" y="4428875"/>
            <a:ext cx="8229600" cy="1311000"/>
          </a:xfrm>
          <a:prstGeom prst="rect">
            <a:avLst/>
          </a:prstGeom>
          <a:noFill/>
          <a:ln>
            <a:noFill/>
          </a:ln>
        </p:spPr>
        <p:txBody>
          <a:bodyPr anchorCtr="0" anchor="t" bIns="91425" lIns="91425" spcFirstLastPara="1" rIns="91425" wrap="square" tIns="91425">
            <a:noAutofit/>
          </a:bodyPr>
          <a:lstStyle/>
          <a:p>
            <a:pPr indent="0" lvl="0" marL="0" rtl="0" algn="just">
              <a:lnSpc>
                <a:spcPct val="150000"/>
              </a:lnSpc>
              <a:spcBef>
                <a:spcPts val="0"/>
              </a:spcBef>
              <a:spcAft>
                <a:spcPts val="1200"/>
              </a:spcAft>
              <a:buClr>
                <a:schemeClr val="dk1"/>
              </a:buClr>
              <a:buSzPts val="1100"/>
              <a:buFont typeface="Arial"/>
              <a:buNone/>
            </a:pPr>
            <a:r>
              <a:rPr b="1" lang="en-US" sz="2100">
                <a:solidFill>
                  <a:schemeClr val="dk1"/>
                </a:solidFill>
                <a:latin typeface="Calibri"/>
                <a:ea typeface="Calibri"/>
                <a:cs typeface="Calibri"/>
                <a:sym typeface="Calibri"/>
              </a:rPr>
              <a:t>3. Fusion exists, but needs dedicated hardware.</a:t>
            </a:r>
            <a:r>
              <a:rPr lang="en-US" sz="2100">
                <a:solidFill>
                  <a:schemeClr val="dk1"/>
                </a:solidFill>
                <a:latin typeface="Calibri"/>
                <a:ea typeface="Calibri"/>
                <a:cs typeface="Calibri"/>
                <a:sym typeface="Calibri"/>
              </a:rPr>
              <a:t> iMES (Ye et al., 2026) fuses face, tongue, and pulse for 9 diseases at 92%+ accuracy, but requires a purpose-built capture device, not a smartphone.</a:t>
            </a:r>
            <a:endParaRPr sz="3200">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8"/>
                                        </p:tgtEl>
                                        <p:attrNameLst>
                                          <p:attrName>style.visibility</p:attrName>
                                        </p:attrNameLst>
                                      </p:cBhvr>
                                      <p:to>
                                        <p:strVal val="visible"/>
                                      </p:to>
                                    </p:set>
                                    <p:animEffect filter="fade" transition="in">
                                      <p:cBhvr>
                                        <p:cTn dur="1000"/>
                                        <p:tgtEl>
                                          <p:spTgt spid="14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9"/>
                                        </p:tgtEl>
                                        <p:attrNameLst>
                                          <p:attrName>style.visibility</p:attrName>
                                        </p:attrNameLst>
                                      </p:cBhvr>
                                      <p:to>
                                        <p:strVal val="visible"/>
                                      </p:to>
                                    </p:set>
                                    <p:animEffect filter="fade" transition="in">
                                      <p:cBhvr>
                                        <p:cTn dur="1000"/>
                                        <p:tgtEl>
                                          <p:spTgt spid="14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0"/>
                                        </p:tgtEl>
                                        <p:attrNameLst>
                                          <p:attrName>style.visibility</p:attrName>
                                        </p:attrNameLst>
                                      </p:cBhvr>
                                      <p:to>
                                        <p:strVal val="visible"/>
                                      </p:to>
                                    </p:set>
                                    <p:animEffect filter="fade" transition="in">
                                      <p:cBhvr>
                                        <p:cTn dur="1000"/>
                                        <p:tgtEl>
                                          <p:spTgt spid="15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2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lnSpc>
                <a:spcPct val="150000"/>
              </a:lnSpc>
              <a:spcBef>
                <a:spcPts val="0"/>
              </a:spcBef>
              <a:spcAft>
                <a:spcPts val="0"/>
              </a:spcAft>
              <a:buSzPts val="1400"/>
              <a:buNone/>
            </a:pPr>
            <a:r>
              <a:rPr b="1" lang="en-US" sz="4000">
                <a:solidFill>
                  <a:srgbClr val="0B3D59"/>
                </a:solidFill>
              </a:rPr>
              <a:t>Gap Analysis</a:t>
            </a:r>
            <a:endParaRPr b="1" sz="4000">
              <a:solidFill>
                <a:srgbClr val="0B3D59"/>
              </a:solidFill>
            </a:endParaRPr>
          </a:p>
        </p:txBody>
      </p:sp>
      <p:sp>
        <p:nvSpPr>
          <p:cNvPr id="156" name="Google Shape;156;p23"/>
          <p:cNvSpPr txBox="1"/>
          <p:nvPr>
            <p:ph idx="1" type="body"/>
          </p:nvPr>
        </p:nvSpPr>
        <p:spPr>
          <a:xfrm>
            <a:off x="457200" y="1470527"/>
            <a:ext cx="8229600" cy="890400"/>
          </a:xfrm>
          <a:prstGeom prst="rect">
            <a:avLst/>
          </a:prstGeom>
          <a:noFill/>
          <a:ln>
            <a:noFill/>
          </a:ln>
        </p:spPr>
        <p:txBody>
          <a:bodyPr anchorCtr="0" anchor="t" bIns="45700" lIns="91425" spcFirstLastPara="1" rIns="91425" wrap="square" tIns="45700">
            <a:noAutofit/>
          </a:bodyPr>
          <a:lstStyle/>
          <a:p>
            <a:pPr indent="0" lvl="0" marL="0" rtl="0" algn="just">
              <a:lnSpc>
                <a:spcPct val="150000"/>
              </a:lnSpc>
              <a:spcBef>
                <a:spcPts val="1200"/>
              </a:spcBef>
              <a:spcAft>
                <a:spcPts val="0"/>
              </a:spcAft>
              <a:buClr>
                <a:schemeClr val="dk1"/>
              </a:buClr>
              <a:buSzPts val="1100"/>
              <a:buNone/>
            </a:pPr>
            <a:r>
              <a:rPr b="1" lang="en-US" sz="2000"/>
              <a:t>4. No uncertainty output.</a:t>
            </a:r>
            <a:r>
              <a:rPr lang="en-US" sz="2000"/>
              <a:t> iMES's CCA-based fusion and Asare et al.'s classifiers all return a bare label or SHAP heatmap, never a confidence score.</a:t>
            </a:r>
            <a:endParaRPr b="1" sz="2100"/>
          </a:p>
          <a:p>
            <a:pPr indent="-139700" lvl="0" marL="342900" rtl="0" algn="l">
              <a:lnSpc>
                <a:spcPct val="150000"/>
              </a:lnSpc>
              <a:spcBef>
                <a:spcPts val="1200"/>
              </a:spcBef>
              <a:spcAft>
                <a:spcPts val="0"/>
              </a:spcAft>
              <a:buClr>
                <a:schemeClr val="dk1"/>
              </a:buClr>
              <a:buSzPts val="3200"/>
              <a:buNone/>
            </a:pPr>
            <a:r>
              <a:t/>
            </a:r>
            <a:endParaRPr sz="1200">
              <a:latin typeface="Arial"/>
              <a:ea typeface="Arial"/>
              <a:cs typeface="Arial"/>
              <a:sym typeface="Arial"/>
            </a:endParaRPr>
          </a:p>
        </p:txBody>
      </p:sp>
      <p:sp>
        <p:nvSpPr>
          <p:cNvPr id="157" name="Google Shape;157;p23"/>
          <p:cNvSpPr txBox="1"/>
          <p:nvPr/>
        </p:nvSpPr>
        <p:spPr>
          <a:xfrm>
            <a:off x="478325" y="2471664"/>
            <a:ext cx="8208600" cy="1383000"/>
          </a:xfrm>
          <a:prstGeom prst="rect">
            <a:avLst/>
          </a:prstGeom>
          <a:noFill/>
          <a:ln>
            <a:noFill/>
          </a:ln>
        </p:spPr>
        <p:txBody>
          <a:bodyPr anchorCtr="0" anchor="t" bIns="91425" lIns="91425" spcFirstLastPara="1" rIns="91425" wrap="square" tIns="91425">
            <a:noAutofit/>
          </a:bodyPr>
          <a:lstStyle/>
          <a:p>
            <a:pPr indent="0" lvl="0" marL="0" rtl="0" algn="just">
              <a:lnSpc>
                <a:spcPct val="150000"/>
              </a:lnSpc>
              <a:spcBef>
                <a:spcPts val="1200"/>
              </a:spcBef>
              <a:spcAft>
                <a:spcPts val="0"/>
              </a:spcAft>
              <a:buNone/>
            </a:pPr>
            <a:r>
              <a:rPr b="1" lang="en-US" sz="2000">
                <a:solidFill>
                  <a:schemeClr val="dk1"/>
                </a:solidFill>
                <a:latin typeface="Calibri"/>
                <a:ea typeface="Calibri"/>
                <a:cs typeface="Calibri"/>
                <a:sym typeface="Calibri"/>
              </a:rPr>
              <a:t>5. Severe class imbalance, unaddressed.</a:t>
            </a:r>
            <a:r>
              <a:rPr lang="en-US" sz="2000">
                <a:solidFill>
                  <a:schemeClr val="dk1"/>
                </a:solidFill>
                <a:latin typeface="Calibri"/>
                <a:ea typeface="Calibri"/>
                <a:cs typeface="Calibri"/>
                <a:sym typeface="Calibri"/>
              </a:rPr>
              <a:t> Rabinovici-Cohen et al. (2024) report OSCC accuracy on datasets where positive samples (129) are dwarfed by negatives (700 to 1,400), with no stated imbalance strategy.</a:t>
            </a:r>
            <a:endParaRPr sz="2000">
              <a:solidFill>
                <a:schemeClr val="dk1"/>
              </a:solidFill>
              <a:latin typeface="Calibri"/>
              <a:ea typeface="Calibri"/>
              <a:cs typeface="Calibri"/>
              <a:sym typeface="Calibri"/>
            </a:endParaRPr>
          </a:p>
          <a:p>
            <a:pPr indent="0" lvl="0" marL="0" rtl="0" algn="l">
              <a:lnSpc>
                <a:spcPct val="150000"/>
              </a:lnSpc>
              <a:spcBef>
                <a:spcPts val="1200"/>
              </a:spcBef>
              <a:spcAft>
                <a:spcPts val="1200"/>
              </a:spcAft>
              <a:buNone/>
            </a:pPr>
            <a:r>
              <a:t/>
            </a:r>
            <a:endParaRPr b="1" sz="2100">
              <a:solidFill>
                <a:schemeClr val="dk1"/>
              </a:solidFill>
              <a:latin typeface="Calibri"/>
              <a:ea typeface="Calibri"/>
              <a:cs typeface="Calibri"/>
              <a:sym typeface="Calibri"/>
            </a:endParaRPr>
          </a:p>
        </p:txBody>
      </p:sp>
      <p:sp>
        <p:nvSpPr>
          <p:cNvPr id="158" name="Google Shape;158;p23"/>
          <p:cNvSpPr txBox="1"/>
          <p:nvPr/>
        </p:nvSpPr>
        <p:spPr>
          <a:xfrm>
            <a:off x="479662" y="3944266"/>
            <a:ext cx="8229600" cy="1311000"/>
          </a:xfrm>
          <a:prstGeom prst="rect">
            <a:avLst/>
          </a:prstGeom>
          <a:noFill/>
          <a:ln>
            <a:noFill/>
          </a:ln>
        </p:spPr>
        <p:txBody>
          <a:bodyPr anchorCtr="0" anchor="t" bIns="91425" lIns="91425" spcFirstLastPara="1" rIns="91425" wrap="square" tIns="91425">
            <a:noAutofit/>
          </a:bodyPr>
          <a:lstStyle/>
          <a:p>
            <a:pPr indent="0" lvl="0" marL="0" rtl="0" algn="just">
              <a:lnSpc>
                <a:spcPct val="150000"/>
              </a:lnSpc>
              <a:spcBef>
                <a:spcPts val="1200"/>
              </a:spcBef>
              <a:spcAft>
                <a:spcPts val="0"/>
              </a:spcAft>
              <a:buNone/>
            </a:pPr>
            <a:r>
              <a:rPr b="1" lang="en-US" sz="2000">
                <a:solidFill>
                  <a:schemeClr val="dk1"/>
                </a:solidFill>
                <a:latin typeface="Calibri"/>
                <a:ea typeface="Calibri"/>
                <a:cs typeface="Calibri"/>
                <a:sym typeface="Calibri"/>
              </a:rPr>
              <a:t>6. No missing-modality robustness.</a:t>
            </a:r>
            <a:r>
              <a:rPr lang="en-US" sz="2000">
                <a:solidFill>
                  <a:schemeClr val="dk1"/>
                </a:solidFill>
                <a:latin typeface="Calibri"/>
                <a:ea typeface="Calibri"/>
                <a:cs typeface="Calibri"/>
                <a:sym typeface="Calibri"/>
              </a:rPr>
              <a:t> Every reviewed system (Asare et al., iMES, single-surface classifiers) assumes all inputs are always present and well-captured.</a:t>
            </a:r>
            <a:endParaRPr sz="2000">
              <a:solidFill>
                <a:schemeClr val="dk1"/>
              </a:solidFill>
              <a:latin typeface="Calibri"/>
              <a:ea typeface="Calibri"/>
              <a:cs typeface="Calibri"/>
              <a:sym typeface="Calibri"/>
            </a:endParaRPr>
          </a:p>
          <a:p>
            <a:pPr indent="0" lvl="0" marL="0" rtl="0" algn="l">
              <a:lnSpc>
                <a:spcPct val="150000"/>
              </a:lnSpc>
              <a:spcBef>
                <a:spcPts val="1200"/>
              </a:spcBef>
              <a:spcAft>
                <a:spcPts val="1200"/>
              </a:spcAft>
              <a:buNone/>
            </a:pPr>
            <a:r>
              <a:t/>
            </a:r>
            <a:endParaRPr b="1" sz="2100">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6"/>
                                        </p:tgtEl>
                                        <p:attrNameLst>
                                          <p:attrName>style.visibility</p:attrName>
                                        </p:attrNameLst>
                                      </p:cBhvr>
                                      <p:to>
                                        <p:strVal val="visible"/>
                                      </p:to>
                                    </p:set>
                                    <p:animEffect filter="fade" transition="in">
                                      <p:cBhvr>
                                        <p:cTn dur="1000"/>
                                        <p:tgtEl>
                                          <p:spTgt spid="15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7"/>
                                        </p:tgtEl>
                                        <p:attrNameLst>
                                          <p:attrName>style.visibility</p:attrName>
                                        </p:attrNameLst>
                                      </p:cBhvr>
                                      <p:to>
                                        <p:strVal val="visible"/>
                                      </p:to>
                                    </p:set>
                                    <p:animEffect filter="fade" transition="in">
                                      <p:cBhvr>
                                        <p:cTn dur="1000"/>
                                        <p:tgtEl>
                                          <p:spTgt spid="15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8"/>
                                        </p:tgtEl>
                                        <p:attrNameLst>
                                          <p:attrName>style.visibility</p:attrName>
                                        </p:attrNameLst>
                                      </p:cBhvr>
                                      <p:to>
                                        <p:strVal val="visible"/>
                                      </p:to>
                                    </p:set>
                                    <p:animEffect filter="fade" transition="in">
                                      <p:cBhvr>
                                        <p:cTn dur="1000"/>
                                        <p:tgtEl>
                                          <p:spTgt spid="15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p24"/>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SzPts val="1400"/>
              <a:buNone/>
            </a:pPr>
            <a:r>
              <a:rPr lang="en-US">
                <a:solidFill>
                  <a:srgbClr val="0B3D59"/>
                </a:solidFill>
              </a:rPr>
              <a:t>PROBLEM STATEMENT</a:t>
            </a:r>
            <a:endParaRPr>
              <a:solidFill>
                <a:srgbClr val="0B3D59"/>
              </a:solidFill>
            </a:endParaRPr>
          </a:p>
        </p:txBody>
      </p:sp>
      <p:sp>
        <p:nvSpPr>
          <p:cNvPr id="164" name="Google Shape;164;p24"/>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p>
            <a:pPr indent="0" lvl="0" marL="44450" rtl="0" algn="l">
              <a:lnSpc>
                <a:spcPct val="100000"/>
              </a:lnSpc>
              <a:spcBef>
                <a:spcPts val="0"/>
              </a:spcBef>
              <a:spcAft>
                <a:spcPts val="0"/>
              </a:spcAft>
              <a:buClr>
                <a:srgbClr val="888888"/>
              </a:buClr>
              <a:buSzPts val="2000"/>
              <a:buFont typeface="Arial"/>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sp>
        <p:nvSpPr>
          <p:cNvPr id="169" name="Google Shape;169;p2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SzPts val="1400"/>
              <a:buNone/>
            </a:pPr>
            <a:r>
              <a:rPr b="1" lang="en-US" sz="4000">
                <a:solidFill>
                  <a:srgbClr val="0B3D59"/>
                </a:solidFill>
              </a:rPr>
              <a:t>PROBLEM STATEMENT</a:t>
            </a:r>
            <a:endParaRPr>
              <a:solidFill>
                <a:srgbClr val="0B3D59"/>
              </a:solidFill>
            </a:endParaRPr>
          </a:p>
        </p:txBody>
      </p:sp>
      <p:sp>
        <p:nvSpPr>
          <p:cNvPr id="170" name="Google Shape;170;p25"/>
          <p:cNvSpPr txBox="1"/>
          <p:nvPr/>
        </p:nvSpPr>
        <p:spPr>
          <a:xfrm>
            <a:off x="413253" y="1501325"/>
            <a:ext cx="7912500" cy="4268700"/>
          </a:xfrm>
          <a:prstGeom prst="rect">
            <a:avLst/>
          </a:prstGeom>
          <a:noFill/>
          <a:ln>
            <a:noFill/>
          </a:ln>
        </p:spPr>
        <p:txBody>
          <a:bodyPr anchorCtr="0" anchor="t" bIns="91425" lIns="91425" spcFirstLastPara="1" rIns="91425" wrap="square" tIns="91425">
            <a:noAutofit/>
          </a:bodyPr>
          <a:lstStyle/>
          <a:p>
            <a:pPr indent="-139700" lvl="0" marL="342900" rtl="0" algn="just">
              <a:spcBef>
                <a:spcPts val="0"/>
              </a:spcBef>
              <a:spcAft>
                <a:spcPts val="0"/>
              </a:spcAft>
              <a:buNone/>
            </a:pPr>
            <a:r>
              <a:rPr lang="en-US" sz="2400">
                <a:solidFill>
                  <a:schemeClr val="dk1"/>
                </a:solidFill>
                <a:latin typeface="Calibri"/>
                <a:ea typeface="Calibri"/>
                <a:cs typeface="Calibri"/>
                <a:sym typeface="Calibri"/>
              </a:rPr>
              <a:t> Systemic diseases often show early visible signs on body surfaces such as the oral cavity, nails, eyes, tongue, and palms, but no existing tool screens for them together. Current approaches work on a single surface at a time, require dedicated capture hardware, or return a result with no confidence score and no explanation. As a result, patients without easy access to a clinician have no reliable way to self-screen using only a device they already own.</a:t>
            </a:r>
            <a:endParaRPr sz="32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6"/>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SzPts val="1400"/>
              <a:buNone/>
            </a:pPr>
            <a:r>
              <a:rPr lang="en-US">
                <a:solidFill>
                  <a:srgbClr val="0B3D59"/>
                </a:solidFill>
              </a:rPr>
              <a:t>PROPOSED SOLUTION AND METHODOLOGY</a:t>
            </a:r>
            <a:endParaRPr>
              <a:solidFill>
                <a:srgbClr val="0B3D59"/>
              </a:solidFill>
            </a:endParaRPr>
          </a:p>
        </p:txBody>
      </p:sp>
      <p:sp>
        <p:nvSpPr>
          <p:cNvPr id="176" name="Google Shape;176;p26"/>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p>
            <a:pPr indent="0" lvl="0" marL="44450" rtl="0" algn="l">
              <a:lnSpc>
                <a:spcPct val="100000"/>
              </a:lnSpc>
              <a:spcBef>
                <a:spcPts val="0"/>
              </a:spcBef>
              <a:spcAft>
                <a:spcPts val="0"/>
              </a:spcAft>
              <a:buClr>
                <a:srgbClr val="888888"/>
              </a:buClr>
              <a:buSzPts val="2000"/>
              <a:buFont typeface="Arial"/>
              <a:buNone/>
            </a:pPr>
            <a:r>
              <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2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Clr>
                <a:schemeClr val="dk1"/>
              </a:buClr>
              <a:buSzPts val="1400"/>
              <a:buFont typeface="Arial"/>
              <a:buNone/>
            </a:pPr>
            <a:r>
              <a:rPr b="1" lang="en-US" sz="4000">
                <a:solidFill>
                  <a:srgbClr val="0B3D59"/>
                </a:solidFill>
              </a:rPr>
              <a:t>PROPOSED SOLUTION</a:t>
            </a:r>
            <a:endParaRPr>
              <a:solidFill>
                <a:srgbClr val="0B3D59"/>
              </a:solidFill>
            </a:endParaRPr>
          </a:p>
        </p:txBody>
      </p:sp>
      <p:sp>
        <p:nvSpPr>
          <p:cNvPr id="182" name="Google Shape;182;p27"/>
          <p:cNvSpPr txBox="1"/>
          <p:nvPr>
            <p:ph idx="1" type="body"/>
          </p:nvPr>
        </p:nvSpPr>
        <p:spPr>
          <a:xfrm>
            <a:off x="457200" y="1600200"/>
            <a:ext cx="8229600" cy="768300"/>
          </a:xfrm>
          <a:prstGeom prst="rect">
            <a:avLst/>
          </a:prstGeom>
          <a:noFill/>
          <a:ln>
            <a:noFill/>
          </a:ln>
        </p:spPr>
        <p:txBody>
          <a:bodyPr anchorCtr="0" anchor="t" bIns="45700" lIns="91425" spcFirstLastPara="1" rIns="91425" wrap="square" tIns="45700">
            <a:noAutofit/>
          </a:bodyPr>
          <a:lstStyle/>
          <a:p>
            <a:pPr indent="-355600" lvl="0" marL="457200" rtl="0" algn="just">
              <a:lnSpc>
                <a:spcPct val="115000"/>
              </a:lnSpc>
              <a:spcBef>
                <a:spcPts val="1200"/>
              </a:spcBef>
              <a:spcAft>
                <a:spcPts val="0"/>
              </a:spcAft>
              <a:buSzPts val="2000"/>
              <a:buChar char="○"/>
            </a:pPr>
            <a:r>
              <a:rPr lang="en-US" sz="2000"/>
              <a:t>GLANCE captures five smartphone photographs, one per body surface: oral cavity, fingernails, conjunctiva, tongue, and palm.</a:t>
            </a:r>
            <a:endParaRPr sz="2000"/>
          </a:p>
        </p:txBody>
      </p:sp>
      <p:sp>
        <p:nvSpPr>
          <p:cNvPr id="183" name="Google Shape;183;p27"/>
          <p:cNvSpPr txBox="1"/>
          <p:nvPr/>
        </p:nvSpPr>
        <p:spPr>
          <a:xfrm>
            <a:off x="449525" y="2351150"/>
            <a:ext cx="8229600" cy="1143000"/>
          </a:xfrm>
          <a:prstGeom prst="rect">
            <a:avLst/>
          </a:prstGeom>
          <a:noFill/>
          <a:ln>
            <a:noFill/>
          </a:ln>
        </p:spPr>
        <p:txBody>
          <a:bodyPr anchorCtr="0" anchor="t" bIns="91425" lIns="91425" spcFirstLastPara="1" rIns="91425" wrap="square" tIns="91425">
            <a:noAutofit/>
          </a:bodyPr>
          <a:lstStyle/>
          <a:p>
            <a:pPr indent="-355600" lvl="0" marL="457200" rtl="0" algn="just">
              <a:lnSpc>
                <a:spcPct val="115000"/>
              </a:lnSpc>
              <a:spcBef>
                <a:spcPts val="1200"/>
              </a:spcBef>
              <a:spcAft>
                <a:spcPts val="0"/>
              </a:spcAft>
              <a:buClr>
                <a:schemeClr val="dk1"/>
              </a:buClr>
              <a:buSzPts val="2000"/>
              <a:buChar char="○"/>
            </a:pPr>
            <a:r>
              <a:rPr lang="en-US" sz="2000">
                <a:solidFill>
                  <a:schemeClr val="dk1"/>
                </a:solidFill>
                <a:latin typeface="Calibri"/>
                <a:ea typeface="Calibri"/>
                <a:cs typeface="Calibri"/>
                <a:sym typeface="Calibri"/>
              </a:rPr>
              <a:t>Each surface is processed by its own ViT-B/16 encoder. A custom cross-modal attention fusion transformer combines the five encoder outputs into one joint assessment.</a:t>
            </a:r>
            <a:endParaRPr sz="2000">
              <a:solidFill>
                <a:schemeClr val="dk1"/>
              </a:solidFill>
              <a:latin typeface="Calibri"/>
              <a:ea typeface="Calibri"/>
              <a:cs typeface="Calibri"/>
              <a:sym typeface="Calibri"/>
            </a:endParaRPr>
          </a:p>
          <a:p>
            <a:pPr indent="0" lvl="0" marL="0" rtl="0" algn="l">
              <a:spcBef>
                <a:spcPts val="1200"/>
              </a:spcBef>
              <a:spcAft>
                <a:spcPts val="0"/>
              </a:spcAft>
              <a:buNone/>
            </a:pPr>
            <a:r>
              <a:t/>
            </a:r>
            <a:endParaRPr sz="3200">
              <a:solidFill>
                <a:schemeClr val="dk1"/>
              </a:solidFill>
              <a:latin typeface="Calibri"/>
              <a:ea typeface="Calibri"/>
              <a:cs typeface="Calibri"/>
              <a:sym typeface="Calibri"/>
            </a:endParaRPr>
          </a:p>
        </p:txBody>
      </p:sp>
      <p:sp>
        <p:nvSpPr>
          <p:cNvPr id="184" name="Google Shape;184;p27"/>
          <p:cNvSpPr txBox="1"/>
          <p:nvPr/>
        </p:nvSpPr>
        <p:spPr>
          <a:xfrm>
            <a:off x="435100" y="3460550"/>
            <a:ext cx="8229600" cy="1143000"/>
          </a:xfrm>
          <a:prstGeom prst="rect">
            <a:avLst/>
          </a:prstGeom>
          <a:noFill/>
          <a:ln>
            <a:noFill/>
          </a:ln>
        </p:spPr>
        <p:txBody>
          <a:bodyPr anchorCtr="0" anchor="t" bIns="91425" lIns="91425" spcFirstLastPara="1" rIns="91425" wrap="square" tIns="91425">
            <a:noAutofit/>
          </a:bodyPr>
          <a:lstStyle/>
          <a:p>
            <a:pPr indent="-355600" lvl="0" marL="457200" rtl="0" algn="just">
              <a:lnSpc>
                <a:spcPct val="115000"/>
              </a:lnSpc>
              <a:spcBef>
                <a:spcPts val="1200"/>
              </a:spcBef>
              <a:spcAft>
                <a:spcPts val="0"/>
              </a:spcAft>
              <a:buClr>
                <a:schemeClr val="dk1"/>
              </a:buClr>
              <a:buSzPts val="2000"/>
              <a:buChar char="○"/>
            </a:pPr>
            <a:r>
              <a:rPr lang="en-US" sz="2000">
                <a:solidFill>
                  <a:schemeClr val="dk1"/>
                </a:solidFill>
                <a:latin typeface="Calibri"/>
                <a:ea typeface="Calibri"/>
                <a:cs typeface="Calibri"/>
                <a:sym typeface="Calibri"/>
              </a:rPr>
              <a:t>The system adds three things current approaches lack: a confidence score via Monte Carlo Dropout, an attention-based visual explanation of what drove the result, and robustness when a surface image is missing or low quality.</a:t>
            </a:r>
            <a:endParaRPr sz="3200">
              <a:solidFill>
                <a:schemeClr val="dk1"/>
              </a:solidFill>
              <a:latin typeface="Calibri"/>
              <a:ea typeface="Calibri"/>
              <a:cs typeface="Calibri"/>
              <a:sym typeface="Calibri"/>
            </a:endParaRPr>
          </a:p>
        </p:txBody>
      </p:sp>
      <p:sp>
        <p:nvSpPr>
          <p:cNvPr id="185" name="Google Shape;185;p27"/>
          <p:cNvSpPr txBox="1"/>
          <p:nvPr/>
        </p:nvSpPr>
        <p:spPr>
          <a:xfrm>
            <a:off x="435100" y="4944525"/>
            <a:ext cx="8229600" cy="768300"/>
          </a:xfrm>
          <a:prstGeom prst="rect">
            <a:avLst/>
          </a:prstGeom>
          <a:noFill/>
          <a:ln>
            <a:noFill/>
          </a:ln>
        </p:spPr>
        <p:txBody>
          <a:bodyPr anchorCtr="0" anchor="t" bIns="91425" lIns="91425" spcFirstLastPara="1" rIns="91425" wrap="square" tIns="91425">
            <a:noAutofit/>
          </a:bodyPr>
          <a:lstStyle/>
          <a:p>
            <a:pPr indent="-355600" lvl="0" marL="457200" rtl="0" algn="just">
              <a:lnSpc>
                <a:spcPct val="115000"/>
              </a:lnSpc>
              <a:spcBef>
                <a:spcPts val="1200"/>
              </a:spcBef>
              <a:spcAft>
                <a:spcPts val="0"/>
              </a:spcAft>
              <a:buClr>
                <a:schemeClr val="dk1"/>
              </a:buClr>
              <a:buSzPts val="2000"/>
              <a:buChar char="○"/>
            </a:pPr>
            <a:r>
              <a:rPr lang="en-US" sz="2000">
                <a:solidFill>
                  <a:schemeClr val="dk1"/>
                </a:solidFill>
                <a:latin typeface="Calibri"/>
                <a:ea typeface="Calibri"/>
                <a:cs typeface="Calibri"/>
                <a:sym typeface="Calibri"/>
              </a:rPr>
              <a:t>The final output is a risk score with its confidence and explanation.</a:t>
            </a:r>
            <a:endParaRPr sz="32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2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Clr>
                <a:schemeClr val="dk1"/>
              </a:buClr>
              <a:buSzPts val="1400"/>
              <a:buFont typeface="Arial"/>
              <a:buNone/>
            </a:pPr>
            <a:r>
              <a:rPr b="1" lang="en-US" sz="4000">
                <a:solidFill>
                  <a:srgbClr val="0B3D59"/>
                </a:solidFill>
              </a:rPr>
              <a:t>METHODOLOGY</a:t>
            </a:r>
            <a:endParaRPr>
              <a:solidFill>
                <a:srgbClr val="0B3D59"/>
              </a:solidFill>
            </a:endParaRPr>
          </a:p>
        </p:txBody>
      </p:sp>
      <p:sp>
        <p:nvSpPr>
          <p:cNvPr id="191" name="Google Shape;191;p28"/>
          <p:cNvSpPr/>
          <p:nvPr/>
        </p:nvSpPr>
        <p:spPr>
          <a:xfrm>
            <a:off x="457175" y="1835525"/>
            <a:ext cx="1492500" cy="603300"/>
          </a:xfrm>
          <a:prstGeom prst="roundRect">
            <a:avLst>
              <a:gd fmla="val 9677" name="adj"/>
            </a:avLst>
          </a:prstGeom>
          <a:solidFill>
            <a:srgbClr val="FFFFFF"/>
          </a:solidFill>
          <a:ln cap="flat" cmpd="sng" w="12700">
            <a:solidFill>
              <a:srgbClr val="E1E9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28"/>
          <p:cNvSpPr/>
          <p:nvPr/>
        </p:nvSpPr>
        <p:spPr>
          <a:xfrm>
            <a:off x="457175" y="1835525"/>
            <a:ext cx="1492500" cy="603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3232E"/>
              </a:buClr>
              <a:buSzPts val="1150"/>
              <a:buFont typeface="Calibri"/>
              <a:buNone/>
            </a:pPr>
            <a:r>
              <a:rPr b="1" i="0" lang="en-US" sz="1800" u="none" cap="none" strike="noStrike">
                <a:solidFill>
                  <a:srgbClr val="13232E"/>
                </a:solidFill>
                <a:latin typeface="Calibri"/>
                <a:ea typeface="Calibri"/>
                <a:cs typeface="Calibri"/>
                <a:sym typeface="Calibri"/>
              </a:rPr>
              <a:t>Oral</a:t>
            </a:r>
            <a:endParaRPr b="0" i="0" sz="1800" u="none" cap="none" strike="noStrike">
              <a:solidFill>
                <a:srgbClr val="000000"/>
              </a:solidFill>
              <a:latin typeface="Calibri"/>
              <a:ea typeface="Calibri"/>
              <a:cs typeface="Calibri"/>
              <a:sym typeface="Calibri"/>
            </a:endParaRPr>
          </a:p>
        </p:txBody>
      </p:sp>
      <p:cxnSp>
        <p:nvCxnSpPr>
          <p:cNvPr id="193" name="Google Shape;193;p28"/>
          <p:cNvCxnSpPr/>
          <p:nvPr/>
        </p:nvCxnSpPr>
        <p:spPr>
          <a:xfrm>
            <a:off x="1949803" y="2137211"/>
            <a:ext cx="443700" cy="0"/>
          </a:xfrm>
          <a:prstGeom prst="straightConnector1">
            <a:avLst/>
          </a:prstGeom>
          <a:noFill/>
          <a:ln cap="flat" cmpd="sng" w="19050">
            <a:solidFill>
              <a:srgbClr val="1C7293"/>
            </a:solidFill>
            <a:prstDash val="solid"/>
            <a:round/>
            <a:headEnd len="sm" w="sm" type="none"/>
            <a:tailEnd len="med" w="med" type="triangle"/>
          </a:ln>
        </p:spPr>
      </p:cxnSp>
      <p:sp>
        <p:nvSpPr>
          <p:cNvPr id="194" name="Google Shape;194;p28"/>
          <p:cNvSpPr/>
          <p:nvPr/>
        </p:nvSpPr>
        <p:spPr>
          <a:xfrm>
            <a:off x="457175" y="2594605"/>
            <a:ext cx="1492500" cy="603300"/>
          </a:xfrm>
          <a:prstGeom prst="roundRect">
            <a:avLst>
              <a:gd fmla="val 9677" name="adj"/>
            </a:avLst>
          </a:prstGeom>
          <a:solidFill>
            <a:srgbClr val="FFFFFF"/>
          </a:solidFill>
          <a:ln cap="flat" cmpd="sng" w="12700">
            <a:solidFill>
              <a:srgbClr val="E1E9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28"/>
          <p:cNvSpPr/>
          <p:nvPr/>
        </p:nvSpPr>
        <p:spPr>
          <a:xfrm>
            <a:off x="457175" y="2594605"/>
            <a:ext cx="1492500" cy="603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3232E"/>
              </a:buClr>
              <a:buSzPts val="1150"/>
              <a:buFont typeface="Calibri"/>
              <a:buNone/>
            </a:pPr>
            <a:r>
              <a:rPr b="1" i="0" lang="en-US" sz="1800" u="none" cap="none" strike="noStrike">
                <a:solidFill>
                  <a:srgbClr val="13232E"/>
                </a:solidFill>
                <a:latin typeface="Calibri"/>
                <a:ea typeface="Calibri"/>
                <a:cs typeface="Calibri"/>
                <a:sym typeface="Calibri"/>
              </a:rPr>
              <a:t>Nails</a:t>
            </a:r>
            <a:endParaRPr b="0" i="0" sz="1800" u="none" cap="none" strike="noStrike">
              <a:solidFill>
                <a:srgbClr val="000000"/>
              </a:solidFill>
              <a:latin typeface="Calibri"/>
              <a:ea typeface="Calibri"/>
              <a:cs typeface="Calibri"/>
              <a:sym typeface="Calibri"/>
            </a:endParaRPr>
          </a:p>
        </p:txBody>
      </p:sp>
      <p:cxnSp>
        <p:nvCxnSpPr>
          <p:cNvPr id="196" name="Google Shape;196;p28"/>
          <p:cNvCxnSpPr/>
          <p:nvPr/>
        </p:nvCxnSpPr>
        <p:spPr>
          <a:xfrm>
            <a:off x="1949803" y="2896291"/>
            <a:ext cx="443700" cy="0"/>
          </a:xfrm>
          <a:prstGeom prst="straightConnector1">
            <a:avLst/>
          </a:prstGeom>
          <a:noFill/>
          <a:ln cap="flat" cmpd="sng" w="19050">
            <a:solidFill>
              <a:srgbClr val="1C7293"/>
            </a:solidFill>
            <a:prstDash val="solid"/>
            <a:round/>
            <a:headEnd len="sm" w="sm" type="none"/>
            <a:tailEnd len="med" w="med" type="triangle"/>
          </a:ln>
        </p:spPr>
      </p:cxnSp>
      <p:sp>
        <p:nvSpPr>
          <p:cNvPr id="197" name="Google Shape;197;p28"/>
          <p:cNvSpPr/>
          <p:nvPr/>
        </p:nvSpPr>
        <p:spPr>
          <a:xfrm>
            <a:off x="457175" y="3353685"/>
            <a:ext cx="1492500" cy="603300"/>
          </a:xfrm>
          <a:prstGeom prst="roundRect">
            <a:avLst>
              <a:gd fmla="val 9677" name="adj"/>
            </a:avLst>
          </a:prstGeom>
          <a:solidFill>
            <a:srgbClr val="FFFFFF"/>
          </a:solidFill>
          <a:ln cap="flat" cmpd="sng" w="12700">
            <a:solidFill>
              <a:srgbClr val="E1E9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28"/>
          <p:cNvSpPr/>
          <p:nvPr/>
        </p:nvSpPr>
        <p:spPr>
          <a:xfrm>
            <a:off x="457175" y="3353685"/>
            <a:ext cx="1492500" cy="603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3232E"/>
              </a:buClr>
              <a:buSzPts val="1150"/>
              <a:buFont typeface="Calibri"/>
              <a:buNone/>
            </a:pPr>
            <a:r>
              <a:rPr b="1" i="0" lang="en-US" sz="1800" u="none" cap="none" strike="noStrike">
                <a:solidFill>
                  <a:srgbClr val="13232E"/>
                </a:solidFill>
                <a:latin typeface="Calibri"/>
                <a:ea typeface="Calibri"/>
                <a:cs typeface="Calibri"/>
                <a:sym typeface="Calibri"/>
              </a:rPr>
              <a:t>Conjunctiva</a:t>
            </a:r>
            <a:endParaRPr b="0" i="0" sz="1800" u="none" cap="none" strike="noStrike">
              <a:solidFill>
                <a:srgbClr val="000000"/>
              </a:solidFill>
              <a:latin typeface="Calibri"/>
              <a:ea typeface="Calibri"/>
              <a:cs typeface="Calibri"/>
              <a:sym typeface="Calibri"/>
            </a:endParaRPr>
          </a:p>
        </p:txBody>
      </p:sp>
      <p:cxnSp>
        <p:nvCxnSpPr>
          <p:cNvPr id="199" name="Google Shape;199;p28"/>
          <p:cNvCxnSpPr/>
          <p:nvPr/>
        </p:nvCxnSpPr>
        <p:spPr>
          <a:xfrm>
            <a:off x="1949803" y="3655371"/>
            <a:ext cx="443700" cy="0"/>
          </a:xfrm>
          <a:prstGeom prst="straightConnector1">
            <a:avLst/>
          </a:prstGeom>
          <a:noFill/>
          <a:ln cap="flat" cmpd="sng" w="19050">
            <a:solidFill>
              <a:srgbClr val="1C7293"/>
            </a:solidFill>
            <a:prstDash val="solid"/>
            <a:round/>
            <a:headEnd len="sm" w="sm" type="none"/>
            <a:tailEnd len="med" w="med" type="triangle"/>
          </a:ln>
        </p:spPr>
      </p:cxnSp>
      <p:sp>
        <p:nvSpPr>
          <p:cNvPr id="200" name="Google Shape;200;p28"/>
          <p:cNvSpPr/>
          <p:nvPr/>
        </p:nvSpPr>
        <p:spPr>
          <a:xfrm>
            <a:off x="457175" y="4112765"/>
            <a:ext cx="1492500" cy="603300"/>
          </a:xfrm>
          <a:prstGeom prst="roundRect">
            <a:avLst>
              <a:gd fmla="val 9677" name="adj"/>
            </a:avLst>
          </a:prstGeom>
          <a:solidFill>
            <a:srgbClr val="FFFFFF"/>
          </a:solidFill>
          <a:ln cap="flat" cmpd="sng" w="12700">
            <a:solidFill>
              <a:srgbClr val="E1E9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28"/>
          <p:cNvSpPr/>
          <p:nvPr/>
        </p:nvSpPr>
        <p:spPr>
          <a:xfrm>
            <a:off x="457175" y="4112765"/>
            <a:ext cx="1492500" cy="603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3232E"/>
              </a:buClr>
              <a:buSzPts val="1150"/>
              <a:buFont typeface="Calibri"/>
              <a:buNone/>
            </a:pPr>
            <a:r>
              <a:rPr b="1" i="0" lang="en-US" sz="1800" u="none" cap="none" strike="noStrike">
                <a:solidFill>
                  <a:srgbClr val="13232E"/>
                </a:solidFill>
                <a:latin typeface="Calibri"/>
                <a:ea typeface="Calibri"/>
                <a:cs typeface="Calibri"/>
                <a:sym typeface="Calibri"/>
              </a:rPr>
              <a:t>Tongue</a:t>
            </a:r>
            <a:endParaRPr b="0" i="0" sz="1800" u="none" cap="none" strike="noStrike">
              <a:solidFill>
                <a:srgbClr val="000000"/>
              </a:solidFill>
              <a:latin typeface="Calibri"/>
              <a:ea typeface="Calibri"/>
              <a:cs typeface="Calibri"/>
              <a:sym typeface="Calibri"/>
            </a:endParaRPr>
          </a:p>
        </p:txBody>
      </p:sp>
      <p:cxnSp>
        <p:nvCxnSpPr>
          <p:cNvPr id="202" name="Google Shape;202;p28"/>
          <p:cNvCxnSpPr/>
          <p:nvPr/>
        </p:nvCxnSpPr>
        <p:spPr>
          <a:xfrm>
            <a:off x="1949803" y="4414451"/>
            <a:ext cx="443700" cy="0"/>
          </a:xfrm>
          <a:prstGeom prst="straightConnector1">
            <a:avLst/>
          </a:prstGeom>
          <a:noFill/>
          <a:ln cap="flat" cmpd="sng" w="19050">
            <a:solidFill>
              <a:srgbClr val="1C7293"/>
            </a:solidFill>
            <a:prstDash val="solid"/>
            <a:round/>
            <a:headEnd len="sm" w="sm" type="none"/>
            <a:tailEnd len="med" w="med" type="triangle"/>
          </a:ln>
        </p:spPr>
      </p:cxnSp>
      <p:sp>
        <p:nvSpPr>
          <p:cNvPr id="203" name="Google Shape;203;p28"/>
          <p:cNvSpPr/>
          <p:nvPr/>
        </p:nvSpPr>
        <p:spPr>
          <a:xfrm>
            <a:off x="457175" y="4871845"/>
            <a:ext cx="1492500" cy="603300"/>
          </a:xfrm>
          <a:prstGeom prst="roundRect">
            <a:avLst>
              <a:gd fmla="val 9677" name="adj"/>
            </a:avLst>
          </a:prstGeom>
          <a:solidFill>
            <a:srgbClr val="FFFFFF"/>
          </a:solidFill>
          <a:ln cap="flat" cmpd="sng" w="12700">
            <a:solidFill>
              <a:srgbClr val="E1E9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28"/>
          <p:cNvSpPr/>
          <p:nvPr/>
        </p:nvSpPr>
        <p:spPr>
          <a:xfrm>
            <a:off x="457175" y="4871845"/>
            <a:ext cx="1492500" cy="603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3232E"/>
              </a:buClr>
              <a:buSzPts val="1150"/>
              <a:buFont typeface="Calibri"/>
              <a:buNone/>
            </a:pPr>
            <a:r>
              <a:rPr b="1" i="0" lang="en-US" sz="1800" u="none" cap="none" strike="noStrike">
                <a:solidFill>
                  <a:srgbClr val="13232E"/>
                </a:solidFill>
                <a:latin typeface="Calibri"/>
                <a:ea typeface="Calibri"/>
                <a:cs typeface="Calibri"/>
                <a:sym typeface="Calibri"/>
              </a:rPr>
              <a:t>Palm</a:t>
            </a:r>
            <a:endParaRPr b="0" i="0" sz="1800" u="none" cap="none" strike="noStrike">
              <a:solidFill>
                <a:srgbClr val="000000"/>
              </a:solidFill>
              <a:latin typeface="Calibri"/>
              <a:ea typeface="Calibri"/>
              <a:cs typeface="Calibri"/>
              <a:sym typeface="Calibri"/>
            </a:endParaRPr>
          </a:p>
        </p:txBody>
      </p:sp>
      <p:cxnSp>
        <p:nvCxnSpPr>
          <p:cNvPr id="205" name="Google Shape;205;p28"/>
          <p:cNvCxnSpPr/>
          <p:nvPr/>
        </p:nvCxnSpPr>
        <p:spPr>
          <a:xfrm>
            <a:off x="1949803" y="5173530"/>
            <a:ext cx="443700" cy="0"/>
          </a:xfrm>
          <a:prstGeom prst="straightConnector1">
            <a:avLst/>
          </a:prstGeom>
          <a:noFill/>
          <a:ln cap="flat" cmpd="sng" w="19050">
            <a:solidFill>
              <a:srgbClr val="1C7293"/>
            </a:solidFill>
            <a:prstDash val="solid"/>
            <a:round/>
            <a:headEnd len="sm" w="sm" type="none"/>
            <a:tailEnd len="med" w="med" type="triangle"/>
          </a:ln>
        </p:spPr>
      </p:cxnSp>
      <p:sp>
        <p:nvSpPr>
          <p:cNvPr id="206" name="Google Shape;206;p28"/>
          <p:cNvSpPr/>
          <p:nvPr/>
        </p:nvSpPr>
        <p:spPr>
          <a:xfrm>
            <a:off x="2393557" y="1835525"/>
            <a:ext cx="1734600" cy="603300"/>
          </a:xfrm>
          <a:prstGeom prst="roundRect">
            <a:avLst>
              <a:gd fmla="val 9677" name="adj"/>
            </a:avLst>
          </a:prstGeom>
          <a:solidFill>
            <a:srgbClr val="1C72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28"/>
          <p:cNvSpPr/>
          <p:nvPr/>
        </p:nvSpPr>
        <p:spPr>
          <a:xfrm>
            <a:off x="2393557" y="1835525"/>
            <a:ext cx="1734600" cy="603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050"/>
              <a:buFont typeface="Calibri"/>
              <a:buNone/>
            </a:pPr>
            <a:r>
              <a:rPr b="1" i="0" lang="en-US" sz="1300" u="none" cap="none" strike="noStrike">
                <a:solidFill>
                  <a:srgbClr val="FFFFFF"/>
                </a:solidFill>
                <a:latin typeface="Calibri"/>
                <a:ea typeface="Calibri"/>
                <a:cs typeface="Calibri"/>
                <a:sym typeface="Calibri"/>
              </a:rPr>
              <a:t>ViT-B/16 encoder</a:t>
            </a:r>
            <a:endParaRPr b="0" i="0" sz="1300" u="none" cap="none" strike="noStrike">
              <a:solidFill>
                <a:srgbClr val="000000"/>
              </a:solidFill>
              <a:latin typeface="Calibri"/>
              <a:ea typeface="Calibri"/>
              <a:cs typeface="Calibri"/>
              <a:sym typeface="Calibri"/>
            </a:endParaRPr>
          </a:p>
        </p:txBody>
      </p:sp>
      <p:cxnSp>
        <p:nvCxnSpPr>
          <p:cNvPr id="208" name="Google Shape;208;p28"/>
          <p:cNvCxnSpPr/>
          <p:nvPr/>
        </p:nvCxnSpPr>
        <p:spPr>
          <a:xfrm>
            <a:off x="4128233" y="2137211"/>
            <a:ext cx="403500" cy="0"/>
          </a:xfrm>
          <a:prstGeom prst="straightConnector1">
            <a:avLst/>
          </a:prstGeom>
          <a:noFill/>
          <a:ln cap="flat" cmpd="sng" w="19050">
            <a:solidFill>
              <a:srgbClr val="1C7293"/>
            </a:solidFill>
            <a:prstDash val="solid"/>
            <a:round/>
            <a:headEnd len="sm" w="sm" type="none"/>
            <a:tailEnd len="sm" w="sm" type="none"/>
          </a:ln>
        </p:spPr>
      </p:cxnSp>
      <p:sp>
        <p:nvSpPr>
          <p:cNvPr id="209" name="Google Shape;209;p28"/>
          <p:cNvSpPr/>
          <p:nvPr/>
        </p:nvSpPr>
        <p:spPr>
          <a:xfrm>
            <a:off x="2393557" y="2594605"/>
            <a:ext cx="1734600" cy="603300"/>
          </a:xfrm>
          <a:prstGeom prst="roundRect">
            <a:avLst>
              <a:gd fmla="val 9677" name="adj"/>
            </a:avLst>
          </a:prstGeom>
          <a:solidFill>
            <a:srgbClr val="1C72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28"/>
          <p:cNvSpPr/>
          <p:nvPr/>
        </p:nvSpPr>
        <p:spPr>
          <a:xfrm>
            <a:off x="2393557" y="2594605"/>
            <a:ext cx="1734600" cy="603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050"/>
              <a:buFont typeface="Calibri"/>
              <a:buNone/>
            </a:pPr>
            <a:r>
              <a:rPr b="1" i="0" lang="en-US" sz="1300" u="none" cap="none" strike="noStrike">
                <a:solidFill>
                  <a:srgbClr val="FFFFFF"/>
                </a:solidFill>
                <a:latin typeface="Calibri"/>
                <a:ea typeface="Calibri"/>
                <a:cs typeface="Calibri"/>
                <a:sym typeface="Calibri"/>
              </a:rPr>
              <a:t>ViT-B/16 encoder</a:t>
            </a:r>
            <a:endParaRPr b="0" i="0" sz="1300" u="none" cap="none" strike="noStrike">
              <a:solidFill>
                <a:srgbClr val="000000"/>
              </a:solidFill>
              <a:latin typeface="Calibri"/>
              <a:ea typeface="Calibri"/>
              <a:cs typeface="Calibri"/>
              <a:sym typeface="Calibri"/>
            </a:endParaRPr>
          </a:p>
        </p:txBody>
      </p:sp>
      <p:cxnSp>
        <p:nvCxnSpPr>
          <p:cNvPr id="211" name="Google Shape;211;p28"/>
          <p:cNvCxnSpPr/>
          <p:nvPr/>
        </p:nvCxnSpPr>
        <p:spPr>
          <a:xfrm>
            <a:off x="4128233" y="2896291"/>
            <a:ext cx="403500" cy="0"/>
          </a:xfrm>
          <a:prstGeom prst="straightConnector1">
            <a:avLst/>
          </a:prstGeom>
          <a:noFill/>
          <a:ln cap="flat" cmpd="sng" w="19050">
            <a:solidFill>
              <a:srgbClr val="1C7293"/>
            </a:solidFill>
            <a:prstDash val="solid"/>
            <a:round/>
            <a:headEnd len="sm" w="sm" type="none"/>
            <a:tailEnd len="sm" w="sm" type="none"/>
          </a:ln>
        </p:spPr>
      </p:cxnSp>
      <p:sp>
        <p:nvSpPr>
          <p:cNvPr id="212" name="Google Shape;212;p28"/>
          <p:cNvSpPr/>
          <p:nvPr/>
        </p:nvSpPr>
        <p:spPr>
          <a:xfrm>
            <a:off x="2393557" y="3353685"/>
            <a:ext cx="1734600" cy="603300"/>
          </a:xfrm>
          <a:prstGeom prst="roundRect">
            <a:avLst>
              <a:gd fmla="val 9677" name="adj"/>
            </a:avLst>
          </a:prstGeom>
          <a:solidFill>
            <a:srgbClr val="1C72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28"/>
          <p:cNvSpPr/>
          <p:nvPr/>
        </p:nvSpPr>
        <p:spPr>
          <a:xfrm>
            <a:off x="2393557" y="3353685"/>
            <a:ext cx="1734600" cy="603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050"/>
              <a:buFont typeface="Calibri"/>
              <a:buNone/>
            </a:pPr>
            <a:r>
              <a:rPr b="1" i="0" lang="en-US" sz="1300" u="none" cap="none" strike="noStrike">
                <a:solidFill>
                  <a:srgbClr val="FFFFFF"/>
                </a:solidFill>
                <a:latin typeface="Calibri"/>
                <a:ea typeface="Calibri"/>
                <a:cs typeface="Calibri"/>
                <a:sym typeface="Calibri"/>
              </a:rPr>
              <a:t>ViT-B/16 encoder</a:t>
            </a:r>
            <a:endParaRPr b="0" i="0" sz="1300" u="none" cap="none" strike="noStrike">
              <a:solidFill>
                <a:srgbClr val="000000"/>
              </a:solidFill>
              <a:latin typeface="Calibri"/>
              <a:ea typeface="Calibri"/>
              <a:cs typeface="Calibri"/>
              <a:sym typeface="Calibri"/>
            </a:endParaRPr>
          </a:p>
        </p:txBody>
      </p:sp>
      <p:cxnSp>
        <p:nvCxnSpPr>
          <p:cNvPr id="214" name="Google Shape;214;p28"/>
          <p:cNvCxnSpPr/>
          <p:nvPr/>
        </p:nvCxnSpPr>
        <p:spPr>
          <a:xfrm>
            <a:off x="4128233" y="3655371"/>
            <a:ext cx="403500" cy="0"/>
          </a:xfrm>
          <a:prstGeom prst="straightConnector1">
            <a:avLst/>
          </a:prstGeom>
          <a:noFill/>
          <a:ln cap="flat" cmpd="sng" w="19050">
            <a:solidFill>
              <a:srgbClr val="1C7293"/>
            </a:solidFill>
            <a:prstDash val="solid"/>
            <a:round/>
            <a:headEnd len="sm" w="sm" type="none"/>
            <a:tailEnd len="sm" w="sm" type="none"/>
          </a:ln>
        </p:spPr>
      </p:cxnSp>
      <p:sp>
        <p:nvSpPr>
          <p:cNvPr id="215" name="Google Shape;215;p28"/>
          <p:cNvSpPr/>
          <p:nvPr/>
        </p:nvSpPr>
        <p:spPr>
          <a:xfrm>
            <a:off x="2393557" y="4112765"/>
            <a:ext cx="1734600" cy="603300"/>
          </a:xfrm>
          <a:prstGeom prst="roundRect">
            <a:avLst>
              <a:gd fmla="val 9677" name="adj"/>
            </a:avLst>
          </a:prstGeom>
          <a:solidFill>
            <a:srgbClr val="1C72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28"/>
          <p:cNvSpPr/>
          <p:nvPr/>
        </p:nvSpPr>
        <p:spPr>
          <a:xfrm>
            <a:off x="2393557" y="4112765"/>
            <a:ext cx="1734600" cy="603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050"/>
              <a:buFont typeface="Calibri"/>
              <a:buNone/>
            </a:pPr>
            <a:r>
              <a:rPr b="1" i="0" lang="en-US" sz="1300" u="none" cap="none" strike="noStrike">
                <a:solidFill>
                  <a:srgbClr val="FFFFFF"/>
                </a:solidFill>
                <a:latin typeface="Calibri"/>
                <a:ea typeface="Calibri"/>
                <a:cs typeface="Calibri"/>
                <a:sym typeface="Calibri"/>
              </a:rPr>
              <a:t>ViT-B/16 encoder</a:t>
            </a:r>
            <a:endParaRPr b="0" i="0" sz="1300" u="none" cap="none" strike="noStrike">
              <a:solidFill>
                <a:srgbClr val="000000"/>
              </a:solidFill>
              <a:latin typeface="Calibri"/>
              <a:ea typeface="Calibri"/>
              <a:cs typeface="Calibri"/>
              <a:sym typeface="Calibri"/>
            </a:endParaRPr>
          </a:p>
        </p:txBody>
      </p:sp>
      <p:cxnSp>
        <p:nvCxnSpPr>
          <p:cNvPr id="217" name="Google Shape;217;p28"/>
          <p:cNvCxnSpPr/>
          <p:nvPr/>
        </p:nvCxnSpPr>
        <p:spPr>
          <a:xfrm>
            <a:off x="4128233" y="4414451"/>
            <a:ext cx="403500" cy="0"/>
          </a:xfrm>
          <a:prstGeom prst="straightConnector1">
            <a:avLst/>
          </a:prstGeom>
          <a:noFill/>
          <a:ln cap="flat" cmpd="sng" w="19050">
            <a:solidFill>
              <a:srgbClr val="1C7293"/>
            </a:solidFill>
            <a:prstDash val="solid"/>
            <a:round/>
            <a:headEnd len="sm" w="sm" type="none"/>
            <a:tailEnd len="sm" w="sm" type="none"/>
          </a:ln>
        </p:spPr>
      </p:cxnSp>
      <p:sp>
        <p:nvSpPr>
          <p:cNvPr id="218" name="Google Shape;218;p28"/>
          <p:cNvSpPr/>
          <p:nvPr/>
        </p:nvSpPr>
        <p:spPr>
          <a:xfrm>
            <a:off x="2393557" y="4871845"/>
            <a:ext cx="1734600" cy="603300"/>
          </a:xfrm>
          <a:prstGeom prst="roundRect">
            <a:avLst>
              <a:gd fmla="val 9677" name="adj"/>
            </a:avLst>
          </a:prstGeom>
          <a:solidFill>
            <a:srgbClr val="1C729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28"/>
          <p:cNvSpPr/>
          <p:nvPr/>
        </p:nvSpPr>
        <p:spPr>
          <a:xfrm>
            <a:off x="2393557" y="4871845"/>
            <a:ext cx="1734600" cy="603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050"/>
              <a:buFont typeface="Calibri"/>
              <a:buNone/>
            </a:pPr>
            <a:r>
              <a:rPr b="1" i="0" lang="en-US" sz="1300" u="none" cap="none" strike="noStrike">
                <a:solidFill>
                  <a:srgbClr val="FFFFFF"/>
                </a:solidFill>
                <a:latin typeface="Calibri"/>
                <a:ea typeface="Calibri"/>
                <a:cs typeface="Calibri"/>
                <a:sym typeface="Calibri"/>
              </a:rPr>
              <a:t>ViT-B/16 encoder</a:t>
            </a:r>
            <a:endParaRPr b="0" i="0" sz="1300" u="none" cap="none" strike="noStrike">
              <a:solidFill>
                <a:srgbClr val="000000"/>
              </a:solidFill>
              <a:latin typeface="Calibri"/>
              <a:ea typeface="Calibri"/>
              <a:cs typeface="Calibri"/>
              <a:sym typeface="Calibri"/>
            </a:endParaRPr>
          </a:p>
        </p:txBody>
      </p:sp>
      <p:cxnSp>
        <p:nvCxnSpPr>
          <p:cNvPr id="220" name="Google Shape;220;p28"/>
          <p:cNvCxnSpPr/>
          <p:nvPr/>
        </p:nvCxnSpPr>
        <p:spPr>
          <a:xfrm>
            <a:off x="4128233" y="5173530"/>
            <a:ext cx="403500" cy="0"/>
          </a:xfrm>
          <a:prstGeom prst="straightConnector1">
            <a:avLst/>
          </a:prstGeom>
          <a:noFill/>
          <a:ln cap="flat" cmpd="sng" w="19050">
            <a:solidFill>
              <a:srgbClr val="1C7293"/>
            </a:solidFill>
            <a:prstDash val="solid"/>
            <a:round/>
            <a:headEnd len="sm" w="sm" type="none"/>
            <a:tailEnd len="sm" w="sm" type="none"/>
          </a:ln>
        </p:spPr>
      </p:cxnSp>
      <p:cxnSp>
        <p:nvCxnSpPr>
          <p:cNvPr id="221" name="Google Shape;221;p28"/>
          <p:cNvCxnSpPr/>
          <p:nvPr/>
        </p:nvCxnSpPr>
        <p:spPr>
          <a:xfrm>
            <a:off x="4530839" y="2137211"/>
            <a:ext cx="900" cy="1518300"/>
          </a:xfrm>
          <a:prstGeom prst="straightConnector1">
            <a:avLst/>
          </a:prstGeom>
          <a:noFill/>
          <a:ln cap="flat" cmpd="sng" w="12700">
            <a:solidFill>
              <a:srgbClr val="02C39A"/>
            </a:solidFill>
            <a:prstDash val="dot"/>
            <a:round/>
            <a:headEnd len="sm" w="sm" type="none"/>
            <a:tailEnd len="sm" w="sm" type="none"/>
          </a:ln>
        </p:spPr>
      </p:cxnSp>
      <p:cxnSp>
        <p:nvCxnSpPr>
          <p:cNvPr id="222" name="Google Shape;222;p28"/>
          <p:cNvCxnSpPr/>
          <p:nvPr/>
        </p:nvCxnSpPr>
        <p:spPr>
          <a:xfrm>
            <a:off x="4530839" y="2896291"/>
            <a:ext cx="900" cy="759000"/>
          </a:xfrm>
          <a:prstGeom prst="straightConnector1">
            <a:avLst/>
          </a:prstGeom>
          <a:noFill/>
          <a:ln cap="flat" cmpd="sng" w="12700">
            <a:solidFill>
              <a:srgbClr val="02C39A"/>
            </a:solidFill>
            <a:prstDash val="dot"/>
            <a:round/>
            <a:headEnd len="sm" w="sm" type="none"/>
            <a:tailEnd len="sm" w="sm" type="none"/>
          </a:ln>
        </p:spPr>
      </p:cxnSp>
      <p:cxnSp>
        <p:nvCxnSpPr>
          <p:cNvPr id="223" name="Google Shape;223;p28"/>
          <p:cNvCxnSpPr/>
          <p:nvPr/>
        </p:nvCxnSpPr>
        <p:spPr>
          <a:xfrm>
            <a:off x="4530839" y="3655371"/>
            <a:ext cx="900" cy="0"/>
          </a:xfrm>
          <a:prstGeom prst="straightConnector1">
            <a:avLst/>
          </a:prstGeom>
          <a:noFill/>
          <a:ln cap="flat" cmpd="sng" w="12700">
            <a:solidFill>
              <a:srgbClr val="02C39A"/>
            </a:solidFill>
            <a:prstDash val="dot"/>
            <a:round/>
            <a:headEnd len="sm" w="sm" type="none"/>
            <a:tailEnd len="sm" w="sm" type="none"/>
          </a:ln>
        </p:spPr>
      </p:cxnSp>
      <p:cxnSp>
        <p:nvCxnSpPr>
          <p:cNvPr id="224" name="Google Shape;224;p28"/>
          <p:cNvCxnSpPr/>
          <p:nvPr/>
        </p:nvCxnSpPr>
        <p:spPr>
          <a:xfrm flipH="1" rot="10800000">
            <a:off x="4530839" y="3655451"/>
            <a:ext cx="900" cy="759000"/>
          </a:xfrm>
          <a:prstGeom prst="straightConnector1">
            <a:avLst/>
          </a:prstGeom>
          <a:noFill/>
          <a:ln cap="flat" cmpd="sng" w="12700">
            <a:solidFill>
              <a:srgbClr val="02C39A"/>
            </a:solidFill>
            <a:prstDash val="dot"/>
            <a:round/>
            <a:headEnd len="sm" w="sm" type="none"/>
            <a:tailEnd len="sm" w="sm" type="none"/>
          </a:ln>
        </p:spPr>
      </p:cxnSp>
      <p:cxnSp>
        <p:nvCxnSpPr>
          <p:cNvPr id="225" name="Google Shape;225;p28"/>
          <p:cNvCxnSpPr/>
          <p:nvPr/>
        </p:nvCxnSpPr>
        <p:spPr>
          <a:xfrm flipH="1" rot="10800000">
            <a:off x="4530839" y="3655230"/>
            <a:ext cx="900" cy="1518300"/>
          </a:xfrm>
          <a:prstGeom prst="straightConnector1">
            <a:avLst/>
          </a:prstGeom>
          <a:noFill/>
          <a:ln cap="flat" cmpd="sng" w="12700">
            <a:solidFill>
              <a:srgbClr val="02C39A"/>
            </a:solidFill>
            <a:prstDash val="dot"/>
            <a:round/>
            <a:headEnd len="sm" w="sm" type="none"/>
            <a:tailEnd len="sm" w="sm" type="none"/>
          </a:ln>
        </p:spPr>
      </p:cxnSp>
      <p:sp>
        <p:nvSpPr>
          <p:cNvPr id="226" name="Google Shape;226;p28"/>
          <p:cNvSpPr/>
          <p:nvPr/>
        </p:nvSpPr>
        <p:spPr>
          <a:xfrm>
            <a:off x="4531646" y="1835525"/>
            <a:ext cx="2178600" cy="3639900"/>
          </a:xfrm>
          <a:prstGeom prst="roundRect">
            <a:avLst>
              <a:gd fmla="val 2963" name="adj"/>
            </a:avLst>
          </a:prstGeom>
          <a:solidFill>
            <a:srgbClr val="0B3D59"/>
          </a:solidFill>
          <a:ln>
            <a:noFill/>
          </a:ln>
          <a:effectLst>
            <a:outerShdw blurRad="76200" rotWithShape="0" algn="bl" dir="5400000" dist="25400">
              <a:srgbClr val="000000">
                <a:alpha val="2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28"/>
          <p:cNvSpPr/>
          <p:nvPr/>
        </p:nvSpPr>
        <p:spPr>
          <a:xfrm>
            <a:off x="4612328" y="1835525"/>
            <a:ext cx="2017200" cy="3639900"/>
          </a:xfrm>
          <a:prstGeom prst="rect">
            <a:avLst/>
          </a:prstGeom>
          <a:noFill/>
          <a:ln>
            <a:noFill/>
          </a:ln>
        </p:spPr>
        <p:txBody>
          <a:bodyPr anchorCtr="0" anchor="ctr" bIns="45700" lIns="91425" spcFirstLastPara="1" rIns="91425" wrap="square" tIns="45700">
            <a:noAutofit/>
          </a:bodyPr>
          <a:lstStyle/>
          <a:p>
            <a:pPr indent="0" lvl="0" marL="0" marR="0" rtl="0" algn="ctr">
              <a:lnSpc>
                <a:spcPct val="105000"/>
              </a:lnSpc>
              <a:spcBef>
                <a:spcPts val="0"/>
              </a:spcBef>
              <a:spcAft>
                <a:spcPts val="0"/>
              </a:spcAft>
              <a:buClr>
                <a:srgbClr val="FFFFFF"/>
              </a:buClr>
              <a:buSzPts val="1400"/>
              <a:buFont typeface="Cambria"/>
              <a:buNone/>
            </a:pPr>
            <a:r>
              <a:rPr b="1" i="0" lang="en-US" sz="1600" u="none" cap="none" strike="noStrike">
                <a:solidFill>
                  <a:srgbClr val="FFFFFF"/>
                </a:solidFill>
                <a:latin typeface="Cambria"/>
                <a:ea typeface="Cambria"/>
                <a:cs typeface="Cambria"/>
                <a:sym typeface="Cambria"/>
              </a:rPr>
              <a:t>Cross-Modal</a:t>
            </a:r>
            <a:endParaRPr b="0" i="0" sz="1600" u="none" cap="none" strike="noStrike">
              <a:solidFill>
                <a:srgbClr val="000000"/>
              </a:solidFill>
              <a:latin typeface="Calibri"/>
              <a:ea typeface="Calibri"/>
              <a:cs typeface="Calibri"/>
              <a:sym typeface="Calibri"/>
            </a:endParaRPr>
          </a:p>
          <a:p>
            <a:pPr indent="0" lvl="0" marL="0" marR="0" rtl="0" algn="ctr">
              <a:lnSpc>
                <a:spcPct val="105000"/>
              </a:lnSpc>
              <a:spcBef>
                <a:spcPts val="0"/>
              </a:spcBef>
              <a:spcAft>
                <a:spcPts val="0"/>
              </a:spcAft>
              <a:buClr>
                <a:srgbClr val="FFFFFF"/>
              </a:buClr>
              <a:buSzPts val="1400"/>
              <a:buFont typeface="Cambria"/>
              <a:buNone/>
            </a:pPr>
            <a:r>
              <a:rPr b="1" i="0" lang="en-US" sz="1600" u="none" cap="none" strike="noStrike">
                <a:solidFill>
                  <a:srgbClr val="FFFFFF"/>
                </a:solidFill>
                <a:latin typeface="Cambria"/>
                <a:ea typeface="Cambria"/>
                <a:cs typeface="Cambria"/>
                <a:sym typeface="Cambria"/>
              </a:rPr>
              <a:t>Attention</a:t>
            </a:r>
            <a:endParaRPr b="0" i="0" sz="1600" u="none" cap="none" strike="noStrike">
              <a:solidFill>
                <a:srgbClr val="000000"/>
              </a:solidFill>
              <a:latin typeface="Calibri"/>
              <a:ea typeface="Calibri"/>
              <a:cs typeface="Calibri"/>
              <a:sym typeface="Calibri"/>
            </a:endParaRPr>
          </a:p>
          <a:p>
            <a:pPr indent="0" lvl="0" marL="0" marR="0" rtl="0" algn="ctr">
              <a:lnSpc>
                <a:spcPct val="105000"/>
              </a:lnSpc>
              <a:spcBef>
                <a:spcPts val="0"/>
              </a:spcBef>
              <a:spcAft>
                <a:spcPts val="0"/>
              </a:spcAft>
              <a:buClr>
                <a:srgbClr val="FFFFFF"/>
              </a:buClr>
              <a:buSzPts val="1400"/>
              <a:buFont typeface="Cambria"/>
              <a:buNone/>
            </a:pPr>
            <a:r>
              <a:rPr b="1" i="0" lang="en-US" sz="1600" u="none" cap="none" strike="noStrike">
                <a:solidFill>
                  <a:srgbClr val="FFFFFF"/>
                </a:solidFill>
                <a:latin typeface="Cambria"/>
                <a:ea typeface="Cambria"/>
                <a:cs typeface="Cambria"/>
                <a:sym typeface="Cambria"/>
              </a:rPr>
              <a:t>Fusion</a:t>
            </a:r>
            <a:endParaRPr b="0" i="0" sz="1600" u="none" cap="none" strike="noStrike">
              <a:solidFill>
                <a:srgbClr val="000000"/>
              </a:solidFill>
              <a:latin typeface="Calibri"/>
              <a:ea typeface="Calibri"/>
              <a:cs typeface="Calibri"/>
              <a:sym typeface="Calibri"/>
            </a:endParaRPr>
          </a:p>
          <a:p>
            <a:pPr indent="0" lvl="0" marL="0" marR="0" rtl="0" algn="ctr">
              <a:lnSpc>
                <a:spcPct val="105000"/>
              </a:lnSpc>
              <a:spcBef>
                <a:spcPts val="0"/>
              </a:spcBef>
              <a:spcAft>
                <a:spcPts val="0"/>
              </a:spcAft>
              <a:buClr>
                <a:srgbClr val="FFFFFF"/>
              </a:buClr>
              <a:buSzPts val="1400"/>
              <a:buFont typeface="Cambria"/>
              <a:buNone/>
            </a:pPr>
            <a:r>
              <a:rPr b="1" i="0" lang="en-US" sz="1600" u="none" cap="none" strike="noStrike">
                <a:solidFill>
                  <a:srgbClr val="FFFFFF"/>
                </a:solidFill>
                <a:latin typeface="Cambria"/>
                <a:ea typeface="Cambria"/>
                <a:cs typeface="Cambria"/>
                <a:sym typeface="Cambria"/>
              </a:rPr>
              <a:t>Transformer</a:t>
            </a:r>
            <a:endParaRPr b="0" i="0" sz="1600" u="none" cap="none" strike="noStrike">
              <a:solidFill>
                <a:srgbClr val="000000"/>
              </a:solidFill>
              <a:latin typeface="Calibri"/>
              <a:ea typeface="Calibri"/>
              <a:cs typeface="Calibri"/>
              <a:sym typeface="Calibri"/>
            </a:endParaRPr>
          </a:p>
        </p:txBody>
      </p:sp>
      <p:cxnSp>
        <p:nvCxnSpPr>
          <p:cNvPr id="228" name="Google Shape;228;p28"/>
          <p:cNvCxnSpPr/>
          <p:nvPr/>
        </p:nvCxnSpPr>
        <p:spPr>
          <a:xfrm>
            <a:off x="6710076" y="3655371"/>
            <a:ext cx="403500" cy="0"/>
          </a:xfrm>
          <a:prstGeom prst="straightConnector1">
            <a:avLst/>
          </a:prstGeom>
          <a:noFill/>
          <a:ln cap="flat" cmpd="sng" w="19050">
            <a:solidFill>
              <a:srgbClr val="1C7293"/>
            </a:solidFill>
            <a:prstDash val="solid"/>
            <a:round/>
            <a:headEnd len="sm" w="sm" type="none"/>
            <a:tailEnd len="med" w="med" type="triangle"/>
          </a:ln>
        </p:spPr>
      </p:cxnSp>
      <p:sp>
        <p:nvSpPr>
          <p:cNvPr id="229" name="Google Shape;229;p28"/>
          <p:cNvSpPr/>
          <p:nvPr/>
        </p:nvSpPr>
        <p:spPr>
          <a:xfrm>
            <a:off x="7113489" y="1835525"/>
            <a:ext cx="1573200" cy="827400"/>
          </a:xfrm>
          <a:prstGeom prst="roundRect">
            <a:avLst>
              <a:gd fmla="val 7059" name="adj"/>
            </a:avLst>
          </a:prstGeom>
          <a:solidFill>
            <a:srgbClr val="FFFFFF"/>
          </a:solidFill>
          <a:ln cap="flat" cmpd="sng" w="15875">
            <a:solidFill>
              <a:srgbClr val="02C39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28"/>
          <p:cNvSpPr/>
          <p:nvPr/>
        </p:nvSpPr>
        <p:spPr>
          <a:xfrm>
            <a:off x="7113489" y="1835525"/>
            <a:ext cx="1573200" cy="8274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3D59"/>
              </a:buClr>
              <a:buSzPts val="1000"/>
              <a:buFont typeface="Calibri"/>
              <a:buNone/>
            </a:pPr>
            <a:r>
              <a:rPr b="1" i="0" lang="en-US" sz="1600" u="none" cap="none" strike="noStrike">
                <a:solidFill>
                  <a:srgbClr val="0B3D59"/>
                </a:solidFill>
                <a:latin typeface="Calibri"/>
                <a:ea typeface="Calibri"/>
                <a:cs typeface="Calibri"/>
                <a:sym typeface="Calibri"/>
              </a:rPr>
              <a:t>Risk score</a:t>
            </a:r>
            <a:endParaRPr b="0" i="0" sz="1600" u="none" cap="none" strike="noStrike">
              <a:solidFill>
                <a:srgbClr val="000000"/>
              </a:solidFill>
              <a:latin typeface="Calibri"/>
              <a:ea typeface="Calibri"/>
              <a:cs typeface="Calibri"/>
              <a:sym typeface="Calibri"/>
            </a:endParaRPr>
          </a:p>
        </p:txBody>
      </p:sp>
      <p:sp>
        <p:nvSpPr>
          <p:cNvPr id="231" name="Google Shape;231;p28"/>
          <p:cNvSpPr/>
          <p:nvPr/>
        </p:nvSpPr>
        <p:spPr>
          <a:xfrm>
            <a:off x="7113489" y="2784375"/>
            <a:ext cx="1573200" cy="827400"/>
          </a:xfrm>
          <a:prstGeom prst="roundRect">
            <a:avLst>
              <a:gd fmla="val 7059" name="adj"/>
            </a:avLst>
          </a:prstGeom>
          <a:solidFill>
            <a:srgbClr val="FFFFFF"/>
          </a:solidFill>
          <a:ln cap="flat" cmpd="sng" w="15875">
            <a:solidFill>
              <a:srgbClr val="02C39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28"/>
          <p:cNvSpPr/>
          <p:nvPr/>
        </p:nvSpPr>
        <p:spPr>
          <a:xfrm>
            <a:off x="7113489" y="2784375"/>
            <a:ext cx="1573200" cy="8274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3D59"/>
              </a:buClr>
              <a:buSzPts val="1000"/>
              <a:buFont typeface="Calibri"/>
              <a:buNone/>
            </a:pPr>
            <a:r>
              <a:rPr b="1" i="0" lang="en-US" sz="1600" u="none" cap="none" strike="noStrike">
                <a:solidFill>
                  <a:srgbClr val="0B3D59"/>
                </a:solidFill>
                <a:latin typeface="Calibri"/>
                <a:ea typeface="Calibri"/>
                <a:cs typeface="Calibri"/>
                <a:sym typeface="Calibri"/>
              </a:rPr>
              <a:t>Uncertainty</a:t>
            </a:r>
            <a:endParaRPr b="0" i="0" sz="1600" u="none" cap="none" strike="noStrike">
              <a:solidFill>
                <a:srgbClr val="000000"/>
              </a:solidFill>
              <a:latin typeface="Calibri"/>
              <a:ea typeface="Calibri"/>
              <a:cs typeface="Calibri"/>
              <a:sym typeface="Calibri"/>
            </a:endParaRPr>
          </a:p>
          <a:p>
            <a:pPr indent="0" lvl="0" marL="0" marR="0" rtl="0" algn="ctr">
              <a:lnSpc>
                <a:spcPct val="100000"/>
              </a:lnSpc>
              <a:spcBef>
                <a:spcPts val="0"/>
              </a:spcBef>
              <a:spcAft>
                <a:spcPts val="0"/>
              </a:spcAft>
              <a:buClr>
                <a:srgbClr val="0B3D59"/>
              </a:buClr>
              <a:buSzPts val="1000"/>
              <a:buFont typeface="Calibri"/>
              <a:buNone/>
            </a:pPr>
            <a:r>
              <a:rPr b="1" i="0" lang="en-US" sz="1600" u="none" cap="none" strike="noStrike">
                <a:solidFill>
                  <a:srgbClr val="0B3D59"/>
                </a:solidFill>
                <a:latin typeface="Calibri"/>
                <a:ea typeface="Calibri"/>
                <a:cs typeface="Calibri"/>
                <a:sym typeface="Calibri"/>
              </a:rPr>
              <a:t>(MC Dropout)</a:t>
            </a:r>
            <a:endParaRPr b="0" i="0" sz="1600" u="none" cap="none" strike="noStrike">
              <a:solidFill>
                <a:srgbClr val="000000"/>
              </a:solidFill>
              <a:latin typeface="Calibri"/>
              <a:ea typeface="Calibri"/>
              <a:cs typeface="Calibri"/>
              <a:sym typeface="Calibri"/>
            </a:endParaRPr>
          </a:p>
        </p:txBody>
      </p:sp>
      <p:sp>
        <p:nvSpPr>
          <p:cNvPr id="233" name="Google Shape;233;p28"/>
          <p:cNvSpPr/>
          <p:nvPr/>
        </p:nvSpPr>
        <p:spPr>
          <a:xfrm>
            <a:off x="7113489" y="3733225"/>
            <a:ext cx="1573200" cy="827400"/>
          </a:xfrm>
          <a:prstGeom prst="roundRect">
            <a:avLst>
              <a:gd fmla="val 7059" name="adj"/>
            </a:avLst>
          </a:prstGeom>
          <a:solidFill>
            <a:srgbClr val="FFFFFF"/>
          </a:solidFill>
          <a:ln cap="flat" cmpd="sng" w="15875">
            <a:solidFill>
              <a:srgbClr val="02C39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28"/>
          <p:cNvSpPr/>
          <p:nvPr/>
        </p:nvSpPr>
        <p:spPr>
          <a:xfrm>
            <a:off x="7113489" y="3733225"/>
            <a:ext cx="1573200" cy="8274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3D59"/>
              </a:buClr>
              <a:buSzPts val="1000"/>
              <a:buFont typeface="Calibri"/>
              <a:buNone/>
            </a:pPr>
            <a:r>
              <a:rPr b="1" lang="en-US" sz="1600">
                <a:solidFill>
                  <a:srgbClr val="0B3D59"/>
                </a:solidFill>
                <a:latin typeface="Calibri"/>
                <a:ea typeface="Calibri"/>
                <a:cs typeface="Calibri"/>
                <a:sym typeface="Calibri"/>
              </a:rPr>
              <a:t>Attention map</a:t>
            </a:r>
            <a:endParaRPr b="0" i="0" sz="1600" u="none" cap="none" strike="noStrike">
              <a:solidFill>
                <a:srgbClr val="000000"/>
              </a:solidFill>
              <a:latin typeface="Calibri"/>
              <a:ea typeface="Calibri"/>
              <a:cs typeface="Calibri"/>
              <a:sym typeface="Calibri"/>
            </a:endParaRPr>
          </a:p>
        </p:txBody>
      </p:sp>
      <p:sp>
        <p:nvSpPr>
          <p:cNvPr id="235" name="Google Shape;235;p28"/>
          <p:cNvSpPr/>
          <p:nvPr/>
        </p:nvSpPr>
        <p:spPr>
          <a:xfrm>
            <a:off x="7113489" y="4682075"/>
            <a:ext cx="1573200" cy="827400"/>
          </a:xfrm>
          <a:prstGeom prst="roundRect">
            <a:avLst>
              <a:gd fmla="val 7059" name="adj"/>
            </a:avLst>
          </a:prstGeom>
          <a:solidFill>
            <a:srgbClr val="FFFFFF"/>
          </a:solidFill>
          <a:ln cap="flat" cmpd="sng" w="15875">
            <a:solidFill>
              <a:srgbClr val="02C39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28"/>
          <p:cNvSpPr/>
          <p:nvPr/>
        </p:nvSpPr>
        <p:spPr>
          <a:xfrm>
            <a:off x="7113489" y="4682075"/>
            <a:ext cx="1573200" cy="8274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3D59"/>
              </a:buClr>
              <a:buSzPts val="1000"/>
              <a:buFont typeface="Calibri"/>
              <a:buNone/>
            </a:pPr>
            <a:r>
              <a:rPr b="1" lang="en-US" sz="1600">
                <a:solidFill>
                  <a:srgbClr val="0B3D59"/>
                </a:solidFill>
                <a:latin typeface="Calibri"/>
                <a:ea typeface="Calibri"/>
                <a:cs typeface="Calibri"/>
                <a:sym typeface="Calibri"/>
              </a:rPr>
              <a:t>Modality Contribution Breakdown</a:t>
            </a:r>
            <a:endParaRPr b="0" i="0" sz="1600" u="none" cap="none" strike="noStrike">
              <a:solidFill>
                <a:srgbClr val="000000"/>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29"/>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SzPts val="1400"/>
              <a:buNone/>
            </a:pPr>
            <a:r>
              <a:rPr lang="en-US">
                <a:solidFill>
                  <a:srgbClr val="0B3D59"/>
                </a:solidFill>
              </a:rPr>
              <a:t>PROJECT SCOPE</a:t>
            </a:r>
            <a:endParaRPr>
              <a:solidFill>
                <a:srgbClr val="0B3D59"/>
              </a:solidFill>
            </a:endParaRPr>
          </a:p>
        </p:txBody>
      </p:sp>
      <p:sp>
        <p:nvSpPr>
          <p:cNvPr id="242" name="Google Shape;242;p29"/>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p>
            <a:pPr indent="0" lvl="0" marL="44450" rtl="0" algn="l">
              <a:lnSpc>
                <a:spcPct val="100000"/>
              </a:lnSpc>
              <a:spcBef>
                <a:spcPts val="0"/>
              </a:spcBef>
              <a:spcAft>
                <a:spcPts val="0"/>
              </a:spcAft>
              <a:buClr>
                <a:srgbClr val="888888"/>
              </a:buClr>
              <a:buSzPts val="2000"/>
              <a:buFont typeface="Arial"/>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6" name="Shape 246"/>
        <p:cNvGrpSpPr/>
        <p:nvPr/>
      </p:nvGrpSpPr>
      <p:grpSpPr>
        <a:xfrm>
          <a:off x="0" y="0"/>
          <a:ext cx="0" cy="0"/>
          <a:chOff x="0" y="0"/>
          <a:chExt cx="0" cy="0"/>
        </a:xfrm>
      </p:grpSpPr>
      <p:sp>
        <p:nvSpPr>
          <p:cNvPr id="247" name="Google Shape;247;p3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just">
              <a:spcBef>
                <a:spcPts val="0"/>
              </a:spcBef>
              <a:spcAft>
                <a:spcPts val="0"/>
              </a:spcAft>
              <a:buSzPts val="1400"/>
              <a:buNone/>
            </a:pPr>
            <a:r>
              <a:rPr b="1" lang="en-US" sz="4000">
                <a:solidFill>
                  <a:srgbClr val="0B3D59"/>
                </a:solidFill>
              </a:rPr>
              <a:t>PROJECT SCOPE</a:t>
            </a:r>
            <a:endParaRPr/>
          </a:p>
        </p:txBody>
      </p:sp>
      <p:sp>
        <p:nvSpPr>
          <p:cNvPr id="248" name="Google Shape;248;p30"/>
          <p:cNvSpPr txBox="1"/>
          <p:nvPr>
            <p:ph idx="1" type="body"/>
          </p:nvPr>
        </p:nvSpPr>
        <p:spPr>
          <a:xfrm>
            <a:off x="457200" y="1268826"/>
            <a:ext cx="8229600" cy="4526100"/>
          </a:xfrm>
          <a:prstGeom prst="rect">
            <a:avLst/>
          </a:prstGeom>
          <a:noFill/>
          <a:ln>
            <a:noFill/>
          </a:ln>
        </p:spPr>
        <p:txBody>
          <a:bodyPr anchorCtr="0" anchor="t" bIns="45700" lIns="91425" spcFirstLastPara="1" rIns="91425" wrap="square" tIns="45700">
            <a:noAutofit/>
          </a:bodyPr>
          <a:lstStyle/>
          <a:p>
            <a:pPr indent="-355600" lvl="0" marL="457200" rtl="0" algn="just">
              <a:lnSpc>
                <a:spcPct val="150000"/>
              </a:lnSpc>
              <a:spcBef>
                <a:spcPts val="0"/>
              </a:spcBef>
              <a:spcAft>
                <a:spcPts val="0"/>
              </a:spcAft>
              <a:buSzPts val="2000"/>
              <a:buChar char="○"/>
            </a:pPr>
            <a:r>
              <a:rPr lang="en-US" sz="2000"/>
              <a:t>Cross-platform mobile application for capturing and submitting body-surface images, and viewing results</a:t>
            </a:r>
            <a:endParaRPr sz="2000"/>
          </a:p>
          <a:p>
            <a:pPr indent="-355600" lvl="0" marL="457200" rtl="0" algn="just">
              <a:lnSpc>
                <a:spcPct val="150000"/>
              </a:lnSpc>
              <a:spcBef>
                <a:spcPts val="0"/>
              </a:spcBef>
              <a:spcAft>
                <a:spcPts val="0"/>
              </a:spcAft>
              <a:buSzPts val="2000"/>
              <a:buChar char="○"/>
            </a:pPr>
            <a:r>
              <a:rPr lang="en-US" sz="2000"/>
              <a:t>Screening across five body surfaces: oral cavity, fingernails, conjunctiva, tongue, palm, with a modular design allowing a surface to be substituted if needed</a:t>
            </a:r>
            <a:endParaRPr sz="2000"/>
          </a:p>
          <a:p>
            <a:pPr indent="-355600" lvl="0" marL="457200" rtl="0" algn="just">
              <a:lnSpc>
                <a:spcPct val="150000"/>
              </a:lnSpc>
              <a:spcBef>
                <a:spcPts val="0"/>
              </a:spcBef>
              <a:spcAft>
                <a:spcPts val="0"/>
              </a:spcAft>
              <a:buSzPts val="2000"/>
              <a:buChar char="○"/>
            </a:pPr>
            <a:r>
              <a:rPr lang="en-US" sz="2000"/>
              <a:t>Custom cross-modal attention fusion transformer, built in PyTorch</a:t>
            </a:r>
            <a:endParaRPr sz="2000"/>
          </a:p>
          <a:p>
            <a:pPr indent="-355600" lvl="0" marL="457200" rtl="0" algn="just">
              <a:lnSpc>
                <a:spcPct val="150000"/>
              </a:lnSpc>
              <a:spcBef>
                <a:spcPts val="0"/>
              </a:spcBef>
              <a:spcAft>
                <a:spcPts val="0"/>
              </a:spcAft>
              <a:buSzPts val="2000"/>
              <a:buChar char="○"/>
            </a:pPr>
            <a:r>
              <a:rPr lang="en-US" sz="2000"/>
              <a:t>Monte Carlo Dropout for uncertainty estimation</a:t>
            </a:r>
            <a:endParaRPr sz="2000"/>
          </a:p>
          <a:p>
            <a:pPr indent="-355600" lvl="0" marL="457200" rtl="0" algn="just">
              <a:lnSpc>
                <a:spcPct val="150000"/>
              </a:lnSpc>
              <a:spcBef>
                <a:spcPts val="0"/>
              </a:spcBef>
              <a:spcAft>
                <a:spcPts val="0"/>
              </a:spcAft>
              <a:buSzPts val="2000"/>
              <a:buChar char="○"/>
            </a:pPr>
            <a:r>
              <a:rPr lang="en-US" sz="2000"/>
              <a:t>Attention-based Visual explanation showing which regions influenced the result</a:t>
            </a:r>
            <a:endParaRPr sz="2000"/>
          </a:p>
          <a:p>
            <a:pPr indent="-355600" lvl="0" marL="457200" rtl="0" algn="just">
              <a:lnSpc>
                <a:spcPct val="150000"/>
              </a:lnSpc>
              <a:spcBef>
                <a:spcPts val="0"/>
              </a:spcBef>
              <a:spcAft>
                <a:spcPts val="0"/>
              </a:spcAft>
              <a:buSzPts val="2000"/>
              <a:buChar char="○"/>
            </a:pPr>
            <a:r>
              <a:rPr lang="en-US" sz="2000"/>
              <a:t>Missing-modality robustness handling</a:t>
            </a:r>
            <a:endParaRPr sz="2000"/>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p31"/>
          <p:cNvSpPr txBox="1"/>
          <p:nvPr>
            <p:ph type="title"/>
          </p:nvPr>
        </p:nvSpPr>
        <p:spPr>
          <a:xfrm>
            <a:off x="722313" y="4406900"/>
            <a:ext cx="7772400" cy="13620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SzPts val="1400"/>
              <a:buNone/>
            </a:pPr>
            <a:r>
              <a:rPr lang="en-US">
                <a:solidFill>
                  <a:srgbClr val="0B3D59"/>
                </a:solidFill>
              </a:rPr>
              <a:t>Major Challenges</a:t>
            </a:r>
            <a:endParaRPr>
              <a:solidFill>
                <a:srgbClr val="0B3D59"/>
              </a:solidFill>
            </a:endParaRPr>
          </a:p>
        </p:txBody>
      </p:sp>
      <p:sp>
        <p:nvSpPr>
          <p:cNvPr id="254" name="Google Shape;254;p31"/>
          <p:cNvSpPr txBox="1"/>
          <p:nvPr>
            <p:ph idx="1" type="body"/>
          </p:nvPr>
        </p:nvSpPr>
        <p:spPr>
          <a:xfrm>
            <a:off x="722313" y="2906713"/>
            <a:ext cx="7772400" cy="1500300"/>
          </a:xfrm>
          <a:prstGeom prst="rect">
            <a:avLst/>
          </a:prstGeom>
          <a:noFill/>
          <a:ln>
            <a:noFill/>
          </a:ln>
        </p:spPr>
        <p:txBody>
          <a:bodyPr anchorCtr="0" anchor="b" bIns="45700" lIns="91425" spcFirstLastPara="1" rIns="91425" wrap="square" tIns="45700">
            <a:normAutofit/>
          </a:bodyPr>
          <a:lstStyle/>
          <a:p>
            <a:pPr indent="0" lvl="0" marL="44450" rtl="0" algn="l">
              <a:lnSpc>
                <a:spcPct val="100000"/>
              </a:lnSpc>
              <a:spcBef>
                <a:spcPts val="0"/>
              </a:spcBef>
              <a:spcAft>
                <a:spcPts val="0"/>
              </a:spcAft>
              <a:buClr>
                <a:srgbClr val="888888"/>
              </a:buClr>
              <a:buSzPts val="2000"/>
              <a:buFont typeface="Arial"/>
              <a:buNone/>
            </a:pPr>
            <a:r>
              <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3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Clr>
                <a:schemeClr val="dk1"/>
              </a:buClr>
              <a:buSzPts val="1400"/>
              <a:buFont typeface="Arial"/>
              <a:buNone/>
            </a:pPr>
            <a:r>
              <a:rPr b="1" lang="en-US" sz="4000">
                <a:solidFill>
                  <a:srgbClr val="0B3D59"/>
                </a:solidFill>
              </a:rPr>
              <a:t>Challenges</a:t>
            </a:r>
            <a:endParaRPr/>
          </a:p>
        </p:txBody>
      </p:sp>
      <p:sp>
        <p:nvSpPr>
          <p:cNvPr id="260" name="Google Shape;260;p32"/>
          <p:cNvSpPr txBox="1"/>
          <p:nvPr/>
        </p:nvSpPr>
        <p:spPr>
          <a:xfrm>
            <a:off x="342900" y="1418725"/>
            <a:ext cx="8343900" cy="4292700"/>
          </a:xfrm>
          <a:prstGeom prst="rect">
            <a:avLst/>
          </a:prstGeom>
          <a:noFill/>
          <a:ln>
            <a:noFill/>
          </a:ln>
        </p:spPr>
        <p:txBody>
          <a:bodyPr anchorCtr="0" anchor="t" bIns="91425" lIns="91425" spcFirstLastPara="1" rIns="91425" wrap="square" tIns="91425">
            <a:noAutofit/>
          </a:bodyPr>
          <a:lstStyle/>
          <a:p>
            <a:pPr indent="-355600" lvl="0" marL="457200" rtl="0" algn="just">
              <a:lnSpc>
                <a:spcPct val="150000"/>
              </a:lnSpc>
              <a:spcBef>
                <a:spcPts val="0"/>
              </a:spcBef>
              <a:spcAft>
                <a:spcPts val="0"/>
              </a:spcAft>
              <a:buClr>
                <a:schemeClr val="dk1"/>
              </a:buClr>
              <a:buSzPts val="2000"/>
              <a:buFont typeface="Calibri"/>
              <a:buChar char="○"/>
            </a:pPr>
            <a:r>
              <a:rPr b="1" lang="en-US" sz="2000">
                <a:solidFill>
                  <a:schemeClr val="dk1"/>
                </a:solidFill>
                <a:latin typeface="Calibri"/>
                <a:ea typeface="Calibri"/>
                <a:cs typeface="Calibri"/>
                <a:sym typeface="Calibri"/>
              </a:rPr>
              <a:t>Class imbalance varies across modalities, </a:t>
            </a:r>
            <a:r>
              <a:rPr lang="en-US" sz="2000">
                <a:solidFill>
                  <a:schemeClr val="dk1"/>
                </a:solidFill>
                <a:latin typeface="Calibri"/>
                <a:ea typeface="Calibri"/>
                <a:cs typeface="Calibri"/>
                <a:sym typeface="Calibri"/>
              </a:rPr>
              <a:t>so each modality requires its own mitigation strategy.</a:t>
            </a:r>
            <a:endParaRPr sz="2000">
              <a:solidFill>
                <a:schemeClr val="dk1"/>
              </a:solidFill>
              <a:latin typeface="Calibri"/>
              <a:ea typeface="Calibri"/>
              <a:cs typeface="Calibri"/>
              <a:sym typeface="Calibri"/>
            </a:endParaRPr>
          </a:p>
          <a:p>
            <a:pPr indent="-355600" lvl="0" marL="457200" rtl="0" algn="just">
              <a:lnSpc>
                <a:spcPct val="150000"/>
              </a:lnSpc>
              <a:spcBef>
                <a:spcPts val="0"/>
              </a:spcBef>
              <a:spcAft>
                <a:spcPts val="0"/>
              </a:spcAft>
              <a:buClr>
                <a:schemeClr val="dk1"/>
              </a:buClr>
              <a:buSzPts val="2000"/>
              <a:buFont typeface="Calibri"/>
              <a:buChar char="○"/>
            </a:pPr>
            <a:r>
              <a:rPr b="1" lang="en-US" sz="2000">
                <a:solidFill>
                  <a:schemeClr val="dk1"/>
                </a:solidFill>
                <a:latin typeface="Calibri"/>
                <a:ea typeface="Calibri"/>
                <a:cs typeface="Calibri"/>
                <a:sym typeface="Calibri"/>
              </a:rPr>
              <a:t>Fusing five independent encoders into one coherent model.</a:t>
            </a:r>
            <a:r>
              <a:rPr lang="en-US" sz="2000">
                <a:solidFill>
                  <a:schemeClr val="dk1"/>
                </a:solidFill>
                <a:latin typeface="Calibri"/>
                <a:ea typeface="Calibri"/>
                <a:cs typeface="Calibri"/>
                <a:sym typeface="Calibri"/>
              </a:rPr>
              <a:t> Cross-modal attention fusion is the core contribution and the highest-risk component. No prior system fuses this many surfaces this way.</a:t>
            </a:r>
            <a:endParaRPr sz="2000">
              <a:solidFill>
                <a:schemeClr val="dk1"/>
              </a:solidFill>
              <a:latin typeface="Calibri"/>
              <a:ea typeface="Calibri"/>
              <a:cs typeface="Calibri"/>
              <a:sym typeface="Calibri"/>
            </a:endParaRPr>
          </a:p>
          <a:p>
            <a:pPr indent="-355600" lvl="0" marL="457200" rtl="0" algn="just">
              <a:lnSpc>
                <a:spcPct val="150000"/>
              </a:lnSpc>
              <a:spcBef>
                <a:spcPts val="0"/>
              </a:spcBef>
              <a:spcAft>
                <a:spcPts val="0"/>
              </a:spcAft>
              <a:buClr>
                <a:schemeClr val="dk1"/>
              </a:buClr>
              <a:buSzPts val="2000"/>
              <a:buFont typeface="Calibri"/>
              <a:buChar char="○"/>
            </a:pPr>
            <a:r>
              <a:rPr b="1" lang="en-US" sz="2000">
                <a:solidFill>
                  <a:schemeClr val="dk1"/>
                </a:solidFill>
                <a:latin typeface="Calibri"/>
                <a:ea typeface="Calibri"/>
                <a:cs typeface="Calibri"/>
                <a:sym typeface="Calibri"/>
              </a:rPr>
              <a:t>Explainability on Vision Transformers.</a:t>
            </a:r>
            <a:r>
              <a:rPr lang="en-US" sz="2000">
                <a:solidFill>
                  <a:schemeClr val="dk1"/>
                </a:solidFill>
                <a:latin typeface="Calibri"/>
                <a:ea typeface="Calibri"/>
                <a:cs typeface="Calibri"/>
                <a:sym typeface="Calibri"/>
              </a:rPr>
              <a:t> Standard Grad-CAM doesn't apply to ViT architectures. They require an attention-based method adapted specifically for transformers.</a:t>
            </a:r>
            <a:endParaRPr sz="2000">
              <a:solidFill>
                <a:schemeClr val="dk1"/>
              </a:solidFill>
              <a:latin typeface="Calibri"/>
              <a:ea typeface="Calibri"/>
              <a:cs typeface="Calibri"/>
              <a:sym typeface="Calibri"/>
            </a:endParaRPr>
          </a:p>
          <a:p>
            <a:pPr indent="-355600" lvl="0" marL="457200" rtl="0" algn="just">
              <a:lnSpc>
                <a:spcPct val="150000"/>
              </a:lnSpc>
              <a:spcBef>
                <a:spcPts val="0"/>
              </a:spcBef>
              <a:spcAft>
                <a:spcPts val="0"/>
              </a:spcAft>
              <a:buClr>
                <a:schemeClr val="dk1"/>
              </a:buClr>
              <a:buSzPts val="2000"/>
              <a:buFont typeface="Calibri"/>
              <a:buChar char="○"/>
            </a:pPr>
            <a:r>
              <a:rPr b="1" lang="en-US" sz="2000">
                <a:solidFill>
                  <a:schemeClr val="dk1"/>
                </a:solidFill>
                <a:latin typeface="Calibri"/>
                <a:ea typeface="Calibri"/>
                <a:cs typeface="Calibri"/>
                <a:sym typeface="Calibri"/>
              </a:rPr>
              <a:t>Domain Shift: </a:t>
            </a:r>
            <a:r>
              <a:rPr lang="en-US" sz="2000">
                <a:solidFill>
                  <a:schemeClr val="dk1"/>
                </a:solidFill>
                <a:latin typeface="Calibri"/>
                <a:ea typeface="Calibri"/>
                <a:cs typeface="Calibri"/>
                <a:sym typeface="Calibri"/>
              </a:rPr>
              <a:t>Domain gap between training data and real-world captures.</a:t>
            </a:r>
            <a:endParaRPr sz="2000">
              <a:solidFill>
                <a:schemeClr val="dk1"/>
              </a:solidFill>
              <a:latin typeface="Calibri"/>
              <a:ea typeface="Calibri"/>
              <a:cs typeface="Calibri"/>
              <a:sym typeface="Calibri"/>
            </a:endParaRPr>
          </a:p>
          <a:p>
            <a:pPr indent="0" lvl="0" marL="0" rtl="0" algn="l">
              <a:spcBef>
                <a:spcPts val="0"/>
              </a:spcBef>
              <a:spcAft>
                <a:spcPts val="0"/>
              </a:spcAft>
              <a:buNone/>
            </a:pPr>
            <a:r>
              <a:t/>
            </a:r>
            <a:endParaRPr sz="2200">
              <a:solidFill>
                <a:schemeClr val="dk1"/>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4" name="Shape 264"/>
        <p:cNvGrpSpPr/>
        <p:nvPr/>
      </p:nvGrpSpPr>
      <p:grpSpPr>
        <a:xfrm>
          <a:off x="0" y="0"/>
          <a:ext cx="0" cy="0"/>
          <a:chOff x="0" y="0"/>
          <a:chExt cx="0" cy="0"/>
        </a:xfrm>
      </p:grpSpPr>
      <p:sp>
        <p:nvSpPr>
          <p:cNvPr id="265" name="Google Shape;265;p33"/>
          <p:cNvSpPr txBox="1"/>
          <p:nvPr>
            <p:ph type="title"/>
          </p:nvPr>
        </p:nvSpPr>
        <p:spPr>
          <a:xfrm>
            <a:off x="722313" y="4406900"/>
            <a:ext cx="7772400" cy="13620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SzPts val="1400"/>
              <a:buNone/>
            </a:pPr>
            <a:r>
              <a:rPr lang="en-US">
                <a:solidFill>
                  <a:srgbClr val="0B3D59"/>
                </a:solidFill>
              </a:rPr>
              <a:t>Work Breakdown &amp; Structure</a:t>
            </a:r>
            <a:endParaRPr>
              <a:solidFill>
                <a:srgbClr val="0B3D59"/>
              </a:solidFill>
            </a:endParaRPr>
          </a:p>
        </p:txBody>
      </p:sp>
      <p:sp>
        <p:nvSpPr>
          <p:cNvPr id="266" name="Google Shape;266;p33"/>
          <p:cNvSpPr txBox="1"/>
          <p:nvPr>
            <p:ph idx="1" type="body"/>
          </p:nvPr>
        </p:nvSpPr>
        <p:spPr>
          <a:xfrm>
            <a:off x="722313" y="2906713"/>
            <a:ext cx="7772400" cy="1500300"/>
          </a:xfrm>
          <a:prstGeom prst="rect">
            <a:avLst/>
          </a:prstGeom>
          <a:noFill/>
          <a:ln>
            <a:noFill/>
          </a:ln>
        </p:spPr>
        <p:txBody>
          <a:bodyPr anchorCtr="0" anchor="b" bIns="45700" lIns="91425" spcFirstLastPara="1" rIns="91425" wrap="square" tIns="45700">
            <a:normAutofit/>
          </a:bodyPr>
          <a:lstStyle/>
          <a:p>
            <a:pPr indent="0" lvl="0" marL="44450" rtl="0" algn="l">
              <a:lnSpc>
                <a:spcPct val="100000"/>
              </a:lnSpc>
              <a:spcBef>
                <a:spcPts val="0"/>
              </a:spcBef>
              <a:spcAft>
                <a:spcPts val="0"/>
              </a:spcAft>
              <a:buClr>
                <a:srgbClr val="888888"/>
              </a:buClr>
              <a:buSzPts val="2000"/>
              <a:buFont typeface="Arial"/>
              <a:buNone/>
            </a:pPr>
            <a:r>
              <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3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Clr>
                <a:schemeClr val="dk1"/>
              </a:buClr>
              <a:buSzPts val="1400"/>
              <a:buFont typeface="Arial"/>
              <a:buNone/>
            </a:pPr>
            <a:r>
              <a:rPr b="1" lang="en-US" sz="4000">
                <a:solidFill>
                  <a:srgbClr val="0B3D59"/>
                </a:solidFill>
              </a:rPr>
              <a:t>Work Breakdown</a:t>
            </a:r>
            <a:endParaRPr/>
          </a:p>
        </p:txBody>
      </p:sp>
      <p:sp>
        <p:nvSpPr>
          <p:cNvPr id="272" name="Google Shape;272;p34"/>
          <p:cNvSpPr txBox="1"/>
          <p:nvPr/>
        </p:nvSpPr>
        <p:spPr>
          <a:xfrm>
            <a:off x="342900" y="1418725"/>
            <a:ext cx="8343900" cy="4292700"/>
          </a:xfrm>
          <a:prstGeom prst="rect">
            <a:avLst/>
          </a:prstGeom>
          <a:noFill/>
          <a:ln>
            <a:noFill/>
          </a:ln>
        </p:spPr>
        <p:txBody>
          <a:bodyPr anchorCtr="0" anchor="t" bIns="91425" lIns="91425" spcFirstLastPara="1" rIns="91425" wrap="square" tIns="91425">
            <a:noAutofit/>
          </a:bodyPr>
          <a:lstStyle/>
          <a:p>
            <a:pPr indent="0" lvl="0" marL="0" rtl="0" algn="just">
              <a:lnSpc>
                <a:spcPct val="150000"/>
              </a:lnSpc>
              <a:spcBef>
                <a:spcPts val="0"/>
              </a:spcBef>
              <a:spcAft>
                <a:spcPts val="0"/>
              </a:spcAft>
              <a:buClr>
                <a:schemeClr val="dk1"/>
              </a:buClr>
              <a:buSzPts val="1100"/>
              <a:buFont typeface="Arial"/>
              <a:buNone/>
            </a:pPr>
            <a:r>
              <a:rPr b="1" lang="en-US" sz="1800">
                <a:solidFill>
                  <a:srgbClr val="0B3D59"/>
                </a:solidFill>
                <a:latin typeface="Calibri"/>
                <a:ea typeface="Calibri"/>
                <a:cs typeface="Calibri"/>
                <a:sym typeface="Calibri"/>
              </a:rPr>
              <a:t>Phase 1: Proposal &amp; Literature Foundation (Weeks 1–4)</a:t>
            </a:r>
            <a:br>
              <a:rPr b="1" lang="en-US" sz="1800">
                <a:solidFill>
                  <a:schemeClr val="dk1"/>
                </a:solidFill>
                <a:latin typeface="Calibri"/>
                <a:ea typeface="Calibri"/>
                <a:cs typeface="Calibri"/>
                <a:sym typeface="Calibri"/>
              </a:rPr>
            </a:br>
            <a:r>
              <a:rPr lang="en-US" sz="1800">
                <a:solidFill>
                  <a:schemeClr val="dk1"/>
                </a:solidFill>
                <a:latin typeface="Calibri"/>
                <a:ea typeface="Calibri"/>
                <a:cs typeface="Calibri"/>
                <a:sym typeface="Calibri"/>
              </a:rPr>
              <a:t>Finalize literature review, gap analysis, problem statement. Build and deliver proposal presentation.</a:t>
            </a:r>
            <a:endParaRPr i="1" sz="1800">
              <a:solidFill>
                <a:schemeClr val="dk1"/>
              </a:solidFill>
              <a:latin typeface="Calibri"/>
              <a:ea typeface="Calibri"/>
              <a:cs typeface="Calibri"/>
              <a:sym typeface="Calibri"/>
            </a:endParaRPr>
          </a:p>
          <a:p>
            <a:pPr indent="0" lvl="0" marL="0" rtl="0" algn="just">
              <a:lnSpc>
                <a:spcPct val="150000"/>
              </a:lnSpc>
              <a:spcBef>
                <a:spcPts val="1200"/>
              </a:spcBef>
              <a:spcAft>
                <a:spcPts val="0"/>
              </a:spcAft>
              <a:buClr>
                <a:schemeClr val="dk1"/>
              </a:buClr>
              <a:buSzPts val="1100"/>
              <a:buFont typeface="Arial"/>
              <a:buNone/>
            </a:pPr>
            <a:r>
              <a:rPr b="1" lang="en-US" sz="1800">
                <a:solidFill>
                  <a:srgbClr val="0B3D59"/>
                </a:solidFill>
                <a:latin typeface="Calibri"/>
                <a:ea typeface="Calibri"/>
                <a:cs typeface="Calibri"/>
                <a:sym typeface="Calibri"/>
              </a:rPr>
              <a:t>Phase 2: Data Pipeline &amp; Preprocessing (Weeks 5–7)</a:t>
            </a:r>
            <a:br>
              <a:rPr b="1" lang="en-US" sz="1800">
                <a:solidFill>
                  <a:schemeClr val="dk1"/>
                </a:solidFill>
                <a:latin typeface="Calibri"/>
                <a:ea typeface="Calibri"/>
                <a:cs typeface="Calibri"/>
                <a:sym typeface="Calibri"/>
              </a:rPr>
            </a:br>
            <a:r>
              <a:rPr lang="en-US" sz="1800">
                <a:solidFill>
                  <a:schemeClr val="dk1"/>
                </a:solidFill>
                <a:latin typeface="Calibri"/>
                <a:ea typeface="Calibri"/>
                <a:cs typeface="Calibri"/>
                <a:sym typeface="Calibri"/>
              </a:rPr>
              <a:t>Collect and standardize all five modality datasets. Address class imbalance. Build train/validation/test splits.</a:t>
            </a:r>
            <a:endParaRPr sz="1800">
              <a:solidFill>
                <a:schemeClr val="dk1"/>
              </a:solidFill>
              <a:latin typeface="Calibri"/>
              <a:ea typeface="Calibri"/>
              <a:cs typeface="Calibri"/>
              <a:sym typeface="Calibri"/>
            </a:endParaRPr>
          </a:p>
          <a:p>
            <a:pPr indent="0" lvl="0" marL="0" rtl="0" algn="just">
              <a:lnSpc>
                <a:spcPct val="150000"/>
              </a:lnSpc>
              <a:spcBef>
                <a:spcPts val="1200"/>
              </a:spcBef>
              <a:spcAft>
                <a:spcPts val="0"/>
              </a:spcAft>
              <a:buClr>
                <a:schemeClr val="dk1"/>
              </a:buClr>
              <a:buSzPts val="1100"/>
              <a:buFont typeface="Arial"/>
              <a:buNone/>
            </a:pPr>
            <a:r>
              <a:rPr b="1" lang="en-US" sz="1800">
                <a:solidFill>
                  <a:srgbClr val="0B3D59"/>
                </a:solidFill>
                <a:latin typeface="Calibri"/>
                <a:ea typeface="Calibri"/>
                <a:cs typeface="Calibri"/>
                <a:sym typeface="Calibri"/>
              </a:rPr>
              <a:t>Phase 3: Encoder &amp; Fusion Development (Weeks 8–10)</a:t>
            </a:r>
            <a:br>
              <a:rPr b="1" lang="en-US" sz="1800">
                <a:solidFill>
                  <a:srgbClr val="0B3D59"/>
                </a:solidFill>
                <a:latin typeface="Calibri"/>
                <a:ea typeface="Calibri"/>
                <a:cs typeface="Calibri"/>
                <a:sym typeface="Calibri"/>
              </a:rPr>
            </a:br>
            <a:r>
              <a:rPr lang="en-US" sz="1800">
                <a:solidFill>
                  <a:schemeClr val="dk1"/>
                </a:solidFill>
                <a:latin typeface="Calibri"/>
                <a:ea typeface="Calibri"/>
                <a:cs typeface="Calibri"/>
                <a:sym typeface="Calibri"/>
              </a:rPr>
              <a:t>Train five ViT-B/16 specialist encoders. Implement the cross-modal attention fusion transformer, designed to handle a missing modality input. Begin mobile app development in parallel.</a:t>
            </a:r>
            <a:endParaRPr sz="1800">
              <a:solidFill>
                <a:schemeClr val="dk1"/>
              </a:solidFill>
              <a:latin typeface="Calibri"/>
              <a:ea typeface="Calibri"/>
              <a:cs typeface="Calibri"/>
              <a:sym typeface="Calibri"/>
            </a:endParaRPr>
          </a:p>
          <a:p>
            <a:pPr indent="0" lvl="0" marL="0" rtl="0" algn="just">
              <a:lnSpc>
                <a:spcPct val="150000"/>
              </a:lnSpc>
              <a:spcBef>
                <a:spcPts val="1200"/>
              </a:spcBef>
              <a:spcAft>
                <a:spcPts val="0"/>
              </a:spcAft>
              <a:buNone/>
            </a:pPr>
            <a:r>
              <a:t/>
            </a:r>
            <a:endParaRPr b="1" sz="27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3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SzPts val="1400"/>
              <a:buNone/>
            </a:pPr>
            <a:r>
              <a:rPr b="1" lang="en-US" sz="4000">
                <a:solidFill>
                  <a:srgbClr val="0B3D59"/>
                </a:solidFill>
              </a:rPr>
              <a:t>Work Breakdown</a:t>
            </a:r>
            <a:endParaRPr/>
          </a:p>
        </p:txBody>
      </p:sp>
      <p:sp>
        <p:nvSpPr>
          <p:cNvPr id="278" name="Google Shape;278;p35"/>
          <p:cNvSpPr txBox="1"/>
          <p:nvPr/>
        </p:nvSpPr>
        <p:spPr>
          <a:xfrm>
            <a:off x="342900" y="1418725"/>
            <a:ext cx="8343900" cy="4292700"/>
          </a:xfrm>
          <a:prstGeom prst="rect">
            <a:avLst/>
          </a:prstGeom>
          <a:noFill/>
          <a:ln>
            <a:noFill/>
          </a:ln>
        </p:spPr>
        <p:txBody>
          <a:bodyPr anchorCtr="0" anchor="t" bIns="91425" lIns="91425" spcFirstLastPara="1" rIns="91425" wrap="square" tIns="91425">
            <a:noAutofit/>
          </a:bodyPr>
          <a:lstStyle/>
          <a:p>
            <a:pPr indent="0" lvl="0" marL="0" rtl="0" algn="just">
              <a:lnSpc>
                <a:spcPct val="150000"/>
              </a:lnSpc>
              <a:spcBef>
                <a:spcPts val="1200"/>
              </a:spcBef>
              <a:spcAft>
                <a:spcPts val="0"/>
              </a:spcAft>
              <a:buClr>
                <a:schemeClr val="dk1"/>
              </a:buClr>
              <a:buSzPts val="1100"/>
              <a:buFont typeface="Arial"/>
              <a:buNone/>
            </a:pPr>
            <a:r>
              <a:rPr b="1" lang="en-US" sz="1800">
                <a:solidFill>
                  <a:srgbClr val="0B3D59"/>
                </a:solidFill>
                <a:latin typeface="Calibri"/>
                <a:ea typeface="Calibri"/>
                <a:cs typeface="Calibri"/>
                <a:sym typeface="Calibri"/>
              </a:rPr>
              <a:t>Phase 4: Model Testing &amp; App Integration (Weeks 11–13)</a:t>
            </a:r>
            <a:br>
              <a:rPr b="1" lang="en-US" sz="1800">
                <a:solidFill>
                  <a:schemeClr val="dk1"/>
                </a:solidFill>
                <a:latin typeface="Calibri"/>
                <a:ea typeface="Calibri"/>
                <a:cs typeface="Calibri"/>
                <a:sym typeface="Calibri"/>
              </a:rPr>
            </a:br>
            <a:r>
              <a:rPr lang="en-US" sz="1800">
                <a:solidFill>
                  <a:schemeClr val="dk1"/>
                </a:solidFill>
                <a:latin typeface="Calibri"/>
                <a:ea typeface="Calibri"/>
                <a:cs typeface="Calibri"/>
                <a:sym typeface="Calibri"/>
              </a:rPr>
              <a:t>Full model training and evaluation. Continue app development, connect app to the model pipeline end-to-end.</a:t>
            </a:r>
            <a:endParaRPr sz="1800">
              <a:solidFill>
                <a:schemeClr val="dk1"/>
              </a:solidFill>
              <a:latin typeface="Calibri"/>
              <a:ea typeface="Calibri"/>
              <a:cs typeface="Calibri"/>
              <a:sym typeface="Calibri"/>
            </a:endParaRPr>
          </a:p>
          <a:p>
            <a:pPr indent="0" lvl="0" marL="0" rtl="0" algn="just">
              <a:lnSpc>
                <a:spcPct val="150000"/>
              </a:lnSpc>
              <a:spcBef>
                <a:spcPts val="1200"/>
              </a:spcBef>
              <a:spcAft>
                <a:spcPts val="0"/>
              </a:spcAft>
              <a:buClr>
                <a:schemeClr val="dk1"/>
              </a:buClr>
              <a:buSzPts val="1100"/>
              <a:buFont typeface="Arial"/>
              <a:buNone/>
            </a:pPr>
            <a:r>
              <a:rPr b="1" lang="en-US" sz="1800">
                <a:solidFill>
                  <a:srgbClr val="0B3D59"/>
                </a:solidFill>
                <a:latin typeface="Calibri"/>
                <a:ea typeface="Calibri"/>
                <a:cs typeface="Calibri"/>
                <a:sym typeface="Calibri"/>
              </a:rPr>
              <a:t>Phase 5: Integration, Testing &amp; Documentation (Weeks 14–16)</a:t>
            </a:r>
            <a:br>
              <a:rPr b="1" lang="en-US" sz="1800">
                <a:solidFill>
                  <a:srgbClr val="0B3D59"/>
                </a:solidFill>
                <a:latin typeface="Calibri"/>
                <a:ea typeface="Calibri"/>
                <a:cs typeface="Calibri"/>
                <a:sym typeface="Calibri"/>
              </a:rPr>
            </a:br>
            <a:r>
              <a:rPr lang="en-US" sz="1800">
                <a:solidFill>
                  <a:schemeClr val="dk1"/>
                </a:solidFill>
                <a:latin typeface="Calibri"/>
                <a:ea typeface="Calibri"/>
                <a:cs typeface="Calibri"/>
                <a:sym typeface="Calibri"/>
              </a:rPr>
              <a:t>Final integration testing between app and model. Benchmark against literature baselines. Finalize documentation.</a:t>
            </a:r>
            <a:endParaRPr sz="1800">
              <a:solidFill>
                <a:schemeClr val="dk1"/>
              </a:solidFill>
              <a:latin typeface="Calibri"/>
              <a:ea typeface="Calibri"/>
              <a:cs typeface="Calibri"/>
              <a:sym typeface="Calibri"/>
            </a:endParaRPr>
          </a:p>
          <a:p>
            <a:pPr indent="0" lvl="0" marL="0" rtl="0" algn="just">
              <a:lnSpc>
                <a:spcPct val="150000"/>
              </a:lnSpc>
              <a:spcBef>
                <a:spcPts val="1200"/>
              </a:spcBef>
              <a:spcAft>
                <a:spcPts val="1200"/>
              </a:spcAft>
              <a:buClr>
                <a:schemeClr val="dk1"/>
              </a:buClr>
              <a:buSzPts val="1100"/>
              <a:buFont typeface="Arial"/>
              <a:buNone/>
            </a:pPr>
            <a:r>
              <a:rPr b="1" lang="en-US" sz="1800">
                <a:solidFill>
                  <a:srgbClr val="0B3D59"/>
                </a:solidFill>
                <a:latin typeface="Calibri"/>
                <a:ea typeface="Calibri"/>
                <a:cs typeface="Calibri"/>
                <a:sym typeface="Calibri"/>
              </a:rPr>
              <a:t>Phase 6: Part 1 Defense Prep (After Finals)</a:t>
            </a:r>
            <a:br>
              <a:rPr b="1" lang="en-US" sz="1800">
                <a:solidFill>
                  <a:schemeClr val="dk1"/>
                </a:solidFill>
                <a:latin typeface="Calibri"/>
                <a:ea typeface="Calibri"/>
                <a:cs typeface="Calibri"/>
                <a:sym typeface="Calibri"/>
              </a:rPr>
            </a:br>
            <a:r>
              <a:rPr lang="en-US" sz="1800">
                <a:solidFill>
                  <a:schemeClr val="dk1"/>
                </a:solidFill>
                <a:latin typeface="Calibri"/>
                <a:ea typeface="Calibri"/>
                <a:cs typeface="Calibri"/>
                <a:sym typeface="Calibri"/>
              </a:rPr>
              <a:t>Rehearse and deliver Part 1 Defense.</a:t>
            </a:r>
            <a:endParaRPr b="1"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2" name="Shape 282"/>
        <p:cNvGrpSpPr/>
        <p:nvPr/>
      </p:nvGrpSpPr>
      <p:grpSpPr>
        <a:xfrm>
          <a:off x="0" y="0"/>
          <a:ext cx="0" cy="0"/>
          <a:chOff x="0" y="0"/>
          <a:chExt cx="0" cy="0"/>
        </a:xfrm>
      </p:grpSpPr>
      <p:sp>
        <p:nvSpPr>
          <p:cNvPr id="283" name="Google Shape;283;p36"/>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SzPts val="1400"/>
              <a:buNone/>
            </a:pPr>
            <a:r>
              <a:rPr b="0" lang="en-US" sz="4400">
                <a:solidFill>
                  <a:srgbClr val="0B3D59"/>
                </a:solidFill>
              </a:rPr>
              <a:t>Roles &amp; Responsibilities</a:t>
            </a:r>
            <a:endParaRPr/>
          </a:p>
        </p:txBody>
      </p:sp>
      <p:sp>
        <p:nvSpPr>
          <p:cNvPr id="284" name="Google Shape;284;p36"/>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p>
            <a:pPr indent="0" lvl="0" marL="44450" rtl="0" algn="l">
              <a:lnSpc>
                <a:spcPct val="100000"/>
              </a:lnSpc>
              <a:spcBef>
                <a:spcPts val="0"/>
              </a:spcBef>
              <a:spcAft>
                <a:spcPts val="0"/>
              </a:spcAft>
              <a:buClr>
                <a:srgbClr val="888888"/>
              </a:buClr>
              <a:buSzPts val="2000"/>
              <a:buFont typeface="Arial"/>
              <a:buNone/>
            </a:pPr>
            <a:r>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8" name="Shape 288"/>
        <p:cNvGrpSpPr/>
        <p:nvPr/>
      </p:nvGrpSpPr>
      <p:grpSpPr>
        <a:xfrm>
          <a:off x="0" y="0"/>
          <a:ext cx="0" cy="0"/>
          <a:chOff x="0" y="0"/>
          <a:chExt cx="0" cy="0"/>
        </a:xfrm>
      </p:grpSpPr>
      <p:sp>
        <p:nvSpPr>
          <p:cNvPr id="289" name="Google Shape;289;p3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1400"/>
              <a:buNone/>
            </a:pPr>
            <a:r>
              <a:rPr lang="en-US">
                <a:solidFill>
                  <a:srgbClr val="0B3D59"/>
                </a:solidFill>
              </a:rPr>
              <a:t>Roles &amp; Responsibilities</a:t>
            </a:r>
            <a:endParaRPr>
              <a:solidFill>
                <a:srgbClr val="0B3D59"/>
              </a:solidFill>
            </a:endParaRPr>
          </a:p>
        </p:txBody>
      </p:sp>
      <p:graphicFrame>
        <p:nvGraphicFramePr>
          <p:cNvPr id="290" name="Google Shape;290;p37"/>
          <p:cNvGraphicFramePr/>
          <p:nvPr/>
        </p:nvGraphicFramePr>
        <p:xfrm>
          <a:off x="457200" y="1556325"/>
          <a:ext cx="3000000" cy="3000000"/>
        </p:xfrm>
        <a:graphic>
          <a:graphicData uri="http://schemas.openxmlformats.org/drawingml/2006/table">
            <a:tbl>
              <a:tblPr>
                <a:noFill/>
                <a:tableStyleId>{6DCBE433-D38A-414C-8CE7-A03D4E96D332}</a:tableStyleId>
              </a:tblPr>
              <a:tblGrid>
                <a:gridCol w="2720975"/>
                <a:gridCol w="2720975"/>
                <a:gridCol w="2720975"/>
              </a:tblGrid>
              <a:tr h="469075">
                <a:tc>
                  <a:txBody>
                    <a:bodyPr/>
                    <a:lstStyle/>
                    <a:p>
                      <a:pPr indent="0" lvl="0" marL="0" rtl="0" algn="l">
                        <a:spcBef>
                          <a:spcPts val="0"/>
                        </a:spcBef>
                        <a:spcAft>
                          <a:spcPts val="0"/>
                        </a:spcAft>
                        <a:buNone/>
                      </a:pPr>
                      <a:r>
                        <a:rPr b="1" lang="en-US" sz="2000">
                          <a:solidFill>
                            <a:schemeClr val="lt1"/>
                          </a:solidFill>
                          <a:latin typeface="Calibri"/>
                          <a:ea typeface="Calibri"/>
                          <a:cs typeface="Calibri"/>
                          <a:sym typeface="Calibri"/>
                        </a:rPr>
                        <a:t>Member</a:t>
                      </a:r>
                      <a:endParaRPr b="1" sz="2000">
                        <a:solidFill>
                          <a:schemeClr val="lt1"/>
                        </a:solidFill>
                        <a:latin typeface="Calibri"/>
                        <a:ea typeface="Calibri"/>
                        <a:cs typeface="Calibri"/>
                        <a:sym typeface="Calibri"/>
                      </a:endParaRPr>
                    </a:p>
                  </a:txBody>
                  <a:tcPr marT="91425" marB="91425" marR="91425" marL="91425">
                    <a:solidFill>
                      <a:srgbClr val="1C7293"/>
                    </a:solidFill>
                  </a:tcPr>
                </a:tc>
                <a:tc>
                  <a:txBody>
                    <a:bodyPr/>
                    <a:lstStyle/>
                    <a:p>
                      <a:pPr indent="0" lvl="0" marL="0" rtl="0" algn="l">
                        <a:spcBef>
                          <a:spcPts val="0"/>
                        </a:spcBef>
                        <a:spcAft>
                          <a:spcPts val="0"/>
                        </a:spcAft>
                        <a:buNone/>
                      </a:pPr>
                      <a:r>
                        <a:rPr b="1" lang="en-US" sz="2000">
                          <a:solidFill>
                            <a:schemeClr val="lt1"/>
                          </a:solidFill>
                          <a:latin typeface="Calibri"/>
                          <a:ea typeface="Calibri"/>
                          <a:cs typeface="Calibri"/>
                          <a:sym typeface="Calibri"/>
                        </a:rPr>
                        <a:t>Role</a:t>
                      </a:r>
                      <a:endParaRPr b="1" sz="2000">
                        <a:solidFill>
                          <a:schemeClr val="lt1"/>
                        </a:solidFill>
                        <a:latin typeface="Calibri"/>
                        <a:ea typeface="Calibri"/>
                        <a:cs typeface="Calibri"/>
                        <a:sym typeface="Calibri"/>
                      </a:endParaRPr>
                    </a:p>
                  </a:txBody>
                  <a:tcPr marT="91425" marB="91425" marR="91425" marL="91425">
                    <a:solidFill>
                      <a:srgbClr val="1C7293"/>
                    </a:solidFill>
                  </a:tcPr>
                </a:tc>
                <a:tc>
                  <a:txBody>
                    <a:bodyPr/>
                    <a:lstStyle/>
                    <a:p>
                      <a:pPr indent="0" lvl="0" marL="0" rtl="0" algn="l">
                        <a:spcBef>
                          <a:spcPts val="0"/>
                        </a:spcBef>
                        <a:spcAft>
                          <a:spcPts val="0"/>
                        </a:spcAft>
                        <a:buNone/>
                      </a:pPr>
                      <a:r>
                        <a:rPr b="1" lang="en-US" sz="2000">
                          <a:solidFill>
                            <a:schemeClr val="lt1"/>
                          </a:solidFill>
                          <a:latin typeface="Calibri"/>
                          <a:ea typeface="Calibri"/>
                          <a:cs typeface="Calibri"/>
                          <a:sym typeface="Calibri"/>
                        </a:rPr>
                        <a:t>Responsibilities</a:t>
                      </a:r>
                      <a:endParaRPr b="1" sz="2000">
                        <a:solidFill>
                          <a:schemeClr val="lt1"/>
                        </a:solidFill>
                        <a:latin typeface="Calibri"/>
                        <a:ea typeface="Calibri"/>
                        <a:cs typeface="Calibri"/>
                        <a:sym typeface="Calibri"/>
                      </a:endParaRPr>
                    </a:p>
                  </a:txBody>
                  <a:tcPr marT="91425" marB="91425" marR="91425" marL="91425">
                    <a:solidFill>
                      <a:srgbClr val="1C7293"/>
                    </a:solidFill>
                  </a:tcPr>
                </a:tc>
              </a:tr>
              <a:tr h="1627200">
                <a:tc>
                  <a:txBody>
                    <a:bodyPr/>
                    <a:lstStyle/>
                    <a:p>
                      <a:pPr indent="0" lvl="0" marL="0" rtl="0" algn="l">
                        <a:lnSpc>
                          <a:spcPct val="150000"/>
                        </a:lnSpc>
                        <a:spcBef>
                          <a:spcPts val="0"/>
                        </a:spcBef>
                        <a:spcAft>
                          <a:spcPts val="0"/>
                        </a:spcAft>
                        <a:buNone/>
                      </a:pPr>
                      <a:r>
                        <a:rPr b="1" lang="en-US" sz="1800">
                          <a:solidFill>
                            <a:schemeClr val="dk1"/>
                          </a:solidFill>
                          <a:latin typeface="Calibri"/>
                          <a:ea typeface="Calibri"/>
                          <a:cs typeface="Calibri"/>
                          <a:sym typeface="Calibri"/>
                        </a:rPr>
                        <a:t>Sir Islam Abbasi</a:t>
                      </a:r>
                      <a:endParaRPr b="1" sz="1800">
                        <a:latin typeface="Calibri"/>
                        <a:ea typeface="Calibri"/>
                        <a:cs typeface="Calibri"/>
                        <a:sym typeface="Calibri"/>
                      </a:endParaRPr>
                    </a:p>
                  </a:txBody>
                  <a:tcPr marT="91425" marB="91425" marR="91425" marL="91425"/>
                </a:tc>
                <a:tc>
                  <a:txBody>
                    <a:bodyPr/>
                    <a:lstStyle/>
                    <a:p>
                      <a:pPr indent="0" lvl="0" marL="0" rtl="0" algn="l">
                        <a:lnSpc>
                          <a:spcPct val="150000"/>
                        </a:lnSpc>
                        <a:spcBef>
                          <a:spcPts val="0"/>
                        </a:spcBef>
                        <a:spcAft>
                          <a:spcPts val="0"/>
                        </a:spcAft>
                        <a:buClr>
                          <a:schemeClr val="dk1"/>
                        </a:buClr>
                        <a:buSzPts val="1100"/>
                        <a:buFont typeface="Arial"/>
                        <a:buNone/>
                      </a:pPr>
                      <a:r>
                        <a:rPr lang="en-US" sz="1800">
                          <a:solidFill>
                            <a:schemeClr val="dk1"/>
                          </a:solidFill>
                          <a:latin typeface="Calibri"/>
                          <a:ea typeface="Calibri"/>
                          <a:cs typeface="Calibri"/>
                          <a:sym typeface="Calibri"/>
                        </a:rPr>
                        <a:t>Project Supervisor</a:t>
                      </a:r>
                      <a:endParaRPr sz="1800">
                        <a:latin typeface="Calibri"/>
                        <a:ea typeface="Calibri"/>
                        <a:cs typeface="Calibri"/>
                        <a:sym typeface="Calibri"/>
                      </a:endParaRPr>
                    </a:p>
                  </a:txBody>
                  <a:tcPr marT="91425" marB="91425" marR="91425" marL="91425"/>
                </a:tc>
                <a:tc>
                  <a:txBody>
                    <a:bodyPr/>
                    <a:lstStyle/>
                    <a:p>
                      <a:pPr indent="0" lvl="0" marL="0" rtl="0" algn="l">
                        <a:lnSpc>
                          <a:spcPct val="150000"/>
                        </a:lnSpc>
                        <a:spcBef>
                          <a:spcPts val="0"/>
                        </a:spcBef>
                        <a:spcAft>
                          <a:spcPts val="0"/>
                        </a:spcAft>
                        <a:buClr>
                          <a:schemeClr val="dk1"/>
                        </a:buClr>
                        <a:buSzPts val="1100"/>
                        <a:buFont typeface="Arial"/>
                        <a:buNone/>
                      </a:pPr>
                      <a:r>
                        <a:rPr lang="en-US" sz="1800">
                          <a:solidFill>
                            <a:schemeClr val="dk1"/>
                          </a:solidFill>
                          <a:latin typeface="Calibri"/>
                          <a:ea typeface="Calibri"/>
                          <a:cs typeface="Calibri"/>
                          <a:sym typeface="Calibri"/>
                        </a:rPr>
                        <a:t>Provides technical guidance, reviews progress at each milestone, approves scope and methodology decisions</a:t>
                      </a:r>
                      <a:endParaRPr sz="1800">
                        <a:latin typeface="Calibri"/>
                        <a:ea typeface="Calibri"/>
                        <a:cs typeface="Calibri"/>
                        <a:sym typeface="Calibri"/>
                      </a:endParaRPr>
                    </a:p>
                  </a:txBody>
                  <a:tcPr marT="91425" marB="91425" marR="91425" marL="91425"/>
                </a:tc>
              </a:tr>
              <a:tr h="1627200">
                <a:tc>
                  <a:txBody>
                    <a:bodyPr/>
                    <a:lstStyle/>
                    <a:p>
                      <a:pPr indent="0" lvl="0" marL="0" rtl="0" algn="l">
                        <a:lnSpc>
                          <a:spcPct val="150000"/>
                        </a:lnSpc>
                        <a:spcBef>
                          <a:spcPts val="0"/>
                        </a:spcBef>
                        <a:spcAft>
                          <a:spcPts val="0"/>
                        </a:spcAft>
                        <a:buNone/>
                      </a:pPr>
                      <a:r>
                        <a:rPr b="1" lang="en-US" sz="1800">
                          <a:latin typeface="Calibri"/>
                          <a:ea typeface="Calibri"/>
                          <a:cs typeface="Calibri"/>
                          <a:sym typeface="Calibri"/>
                        </a:rPr>
                        <a:t>Jaffar</a:t>
                      </a:r>
                      <a:endParaRPr b="1" sz="1800">
                        <a:latin typeface="Calibri"/>
                        <a:ea typeface="Calibri"/>
                        <a:cs typeface="Calibri"/>
                        <a:sym typeface="Calibri"/>
                      </a:endParaRPr>
                    </a:p>
                  </a:txBody>
                  <a:tcPr marT="91425" marB="91425" marR="91425" marL="91425"/>
                </a:tc>
                <a:tc>
                  <a:txBody>
                    <a:bodyPr/>
                    <a:lstStyle/>
                    <a:p>
                      <a:pPr indent="0" lvl="0" marL="0" rtl="0" algn="l">
                        <a:lnSpc>
                          <a:spcPct val="150000"/>
                        </a:lnSpc>
                        <a:spcBef>
                          <a:spcPts val="0"/>
                        </a:spcBef>
                        <a:spcAft>
                          <a:spcPts val="0"/>
                        </a:spcAft>
                        <a:buNone/>
                      </a:pPr>
                      <a:r>
                        <a:rPr lang="en-US" sz="1800">
                          <a:latin typeface="Calibri"/>
                          <a:ea typeface="Calibri"/>
                          <a:cs typeface="Calibri"/>
                          <a:sym typeface="Calibri"/>
                        </a:rPr>
                        <a:t>Project Lead + Oral Cavity Pipeline + Fusion Lead</a:t>
                      </a:r>
                      <a:endParaRPr sz="1800">
                        <a:latin typeface="Calibri"/>
                        <a:ea typeface="Calibri"/>
                        <a:cs typeface="Calibri"/>
                        <a:sym typeface="Calibri"/>
                      </a:endParaRPr>
                    </a:p>
                  </a:txBody>
                  <a:tcPr marT="91425" marB="91425" marR="91425" marL="91425"/>
                </a:tc>
                <a:tc>
                  <a:txBody>
                    <a:bodyPr/>
                    <a:lstStyle/>
                    <a:p>
                      <a:pPr indent="0" lvl="0" marL="0" rtl="0" algn="l">
                        <a:lnSpc>
                          <a:spcPct val="150000"/>
                        </a:lnSpc>
                        <a:spcBef>
                          <a:spcPts val="0"/>
                        </a:spcBef>
                        <a:spcAft>
                          <a:spcPts val="0"/>
                        </a:spcAft>
                        <a:buNone/>
                      </a:pPr>
                      <a:r>
                        <a:rPr lang="en-US" sz="1800">
                          <a:latin typeface="Calibri"/>
                          <a:ea typeface="Calibri"/>
                          <a:cs typeface="Calibri"/>
                          <a:sym typeface="Calibri"/>
                        </a:rPr>
                        <a:t>Oral cavity pipeline; cross-modal fusion; </a:t>
                      </a:r>
                      <a:endParaRPr sz="1800">
                        <a:latin typeface="Calibri"/>
                        <a:ea typeface="Calibri"/>
                        <a:cs typeface="Calibri"/>
                        <a:sym typeface="Calibri"/>
                      </a:endParaRPr>
                    </a:p>
                    <a:p>
                      <a:pPr indent="0" lvl="0" marL="0" rtl="0" algn="l">
                        <a:lnSpc>
                          <a:spcPct val="150000"/>
                        </a:lnSpc>
                        <a:spcBef>
                          <a:spcPts val="0"/>
                        </a:spcBef>
                        <a:spcAft>
                          <a:spcPts val="0"/>
                        </a:spcAft>
                        <a:buNone/>
                      </a:pPr>
                      <a:r>
                        <a:rPr lang="en-US" sz="1800">
                          <a:latin typeface="Calibri"/>
                          <a:ea typeface="Calibri"/>
                          <a:cs typeface="Calibri"/>
                          <a:sym typeface="Calibri"/>
                        </a:rPr>
                        <a:t>backend API;</a:t>
                      </a:r>
                      <a:endParaRPr sz="1800">
                        <a:latin typeface="Calibri"/>
                        <a:ea typeface="Calibri"/>
                        <a:cs typeface="Calibri"/>
                        <a:sym typeface="Calibri"/>
                      </a:endParaRPr>
                    </a:p>
                    <a:p>
                      <a:pPr indent="0" lvl="0" marL="0" rtl="0" algn="l">
                        <a:lnSpc>
                          <a:spcPct val="150000"/>
                        </a:lnSpc>
                        <a:spcBef>
                          <a:spcPts val="0"/>
                        </a:spcBef>
                        <a:spcAft>
                          <a:spcPts val="0"/>
                        </a:spcAft>
                        <a:buNone/>
                      </a:pPr>
                      <a:r>
                        <a:rPr lang="en-US" sz="1800">
                          <a:latin typeface="Calibri"/>
                          <a:ea typeface="Calibri"/>
                          <a:cs typeface="Calibri"/>
                          <a:sym typeface="Calibri"/>
                        </a:rPr>
                        <a:t>overall coordination</a:t>
                      </a:r>
                      <a:endParaRPr sz="1800">
                        <a:latin typeface="Calibri"/>
                        <a:ea typeface="Calibri"/>
                        <a:cs typeface="Calibri"/>
                        <a:sym typeface="Calibri"/>
                      </a:endParaRPr>
                    </a:p>
                  </a:txBody>
                  <a:tcPr marT="91425" marB="91425" marR="91425" marL="91425"/>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3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1400"/>
              <a:buNone/>
            </a:pPr>
            <a:r>
              <a:rPr lang="en-US">
                <a:solidFill>
                  <a:srgbClr val="0B3D59"/>
                </a:solidFill>
              </a:rPr>
              <a:t>Roles &amp; Responsibilities</a:t>
            </a:r>
            <a:endParaRPr>
              <a:solidFill>
                <a:srgbClr val="0B3D59"/>
              </a:solidFill>
            </a:endParaRPr>
          </a:p>
        </p:txBody>
      </p:sp>
      <p:graphicFrame>
        <p:nvGraphicFramePr>
          <p:cNvPr id="296" name="Google Shape;296;p38"/>
          <p:cNvGraphicFramePr/>
          <p:nvPr/>
        </p:nvGraphicFramePr>
        <p:xfrm>
          <a:off x="457200" y="1556325"/>
          <a:ext cx="3000000" cy="3000000"/>
        </p:xfrm>
        <a:graphic>
          <a:graphicData uri="http://schemas.openxmlformats.org/drawingml/2006/table">
            <a:tbl>
              <a:tblPr>
                <a:noFill/>
                <a:tableStyleId>{6DCBE433-D38A-414C-8CE7-A03D4E96D332}</a:tableStyleId>
              </a:tblPr>
              <a:tblGrid>
                <a:gridCol w="2720975"/>
                <a:gridCol w="2720975"/>
                <a:gridCol w="2720975"/>
              </a:tblGrid>
              <a:tr h="469075">
                <a:tc>
                  <a:txBody>
                    <a:bodyPr/>
                    <a:lstStyle/>
                    <a:p>
                      <a:pPr indent="0" lvl="0" marL="0" rtl="0" algn="l">
                        <a:spcBef>
                          <a:spcPts val="0"/>
                        </a:spcBef>
                        <a:spcAft>
                          <a:spcPts val="0"/>
                        </a:spcAft>
                        <a:buNone/>
                      </a:pPr>
                      <a:r>
                        <a:rPr b="1" lang="en-US" sz="2000">
                          <a:solidFill>
                            <a:schemeClr val="lt1"/>
                          </a:solidFill>
                          <a:latin typeface="Calibri"/>
                          <a:ea typeface="Calibri"/>
                          <a:cs typeface="Calibri"/>
                          <a:sym typeface="Calibri"/>
                        </a:rPr>
                        <a:t>Member</a:t>
                      </a:r>
                      <a:endParaRPr b="1" sz="2000">
                        <a:solidFill>
                          <a:schemeClr val="lt1"/>
                        </a:solidFill>
                        <a:latin typeface="Calibri"/>
                        <a:ea typeface="Calibri"/>
                        <a:cs typeface="Calibri"/>
                        <a:sym typeface="Calibri"/>
                      </a:endParaRPr>
                    </a:p>
                  </a:txBody>
                  <a:tcPr marT="91425" marB="91425" marR="91425" marL="91425">
                    <a:solidFill>
                      <a:srgbClr val="1C7293"/>
                    </a:solidFill>
                  </a:tcPr>
                </a:tc>
                <a:tc>
                  <a:txBody>
                    <a:bodyPr/>
                    <a:lstStyle/>
                    <a:p>
                      <a:pPr indent="0" lvl="0" marL="0" rtl="0" algn="l">
                        <a:spcBef>
                          <a:spcPts val="0"/>
                        </a:spcBef>
                        <a:spcAft>
                          <a:spcPts val="0"/>
                        </a:spcAft>
                        <a:buNone/>
                      </a:pPr>
                      <a:r>
                        <a:rPr b="1" lang="en-US" sz="2000">
                          <a:solidFill>
                            <a:schemeClr val="lt1"/>
                          </a:solidFill>
                          <a:latin typeface="Calibri"/>
                          <a:ea typeface="Calibri"/>
                          <a:cs typeface="Calibri"/>
                          <a:sym typeface="Calibri"/>
                        </a:rPr>
                        <a:t>Role</a:t>
                      </a:r>
                      <a:endParaRPr b="1" sz="2000">
                        <a:solidFill>
                          <a:schemeClr val="lt1"/>
                        </a:solidFill>
                        <a:latin typeface="Calibri"/>
                        <a:ea typeface="Calibri"/>
                        <a:cs typeface="Calibri"/>
                        <a:sym typeface="Calibri"/>
                      </a:endParaRPr>
                    </a:p>
                  </a:txBody>
                  <a:tcPr marT="91425" marB="91425" marR="91425" marL="91425">
                    <a:solidFill>
                      <a:srgbClr val="1C7293"/>
                    </a:solidFill>
                  </a:tcPr>
                </a:tc>
                <a:tc>
                  <a:txBody>
                    <a:bodyPr/>
                    <a:lstStyle/>
                    <a:p>
                      <a:pPr indent="0" lvl="0" marL="0" rtl="0" algn="l">
                        <a:spcBef>
                          <a:spcPts val="0"/>
                        </a:spcBef>
                        <a:spcAft>
                          <a:spcPts val="0"/>
                        </a:spcAft>
                        <a:buNone/>
                      </a:pPr>
                      <a:r>
                        <a:rPr b="1" lang="en-US" sz="2000">
                          <a:solidFill>
                            <a:schemeClr val="lt1"/>
                          </a:solidFill>
                          <a:latin typeface="Calibri"/>
                          <a:ea typeface="Calibri"/>
                          <a:cs typeface="Calibri"/>
                          <a:sym typeface="Calibri"/>
                        </a:rPr>
                        <a:t>Responsibilities</a:t>
                      </a:r>
                      <a:endParaRPr b="1" sz="2000">
                        <a:solidFill>
                          <a:schemeClr val="lt1"/>
                        </a:solidFill>
                        <a:latin typeface="Calibri"/>
                        <a:ea typeface="Calibri"/>
                        <a:cs typeface="Calibri"/>
                        <a:sym typeface="Calibri"/>
                      </a:endParaRPr>
                    </a:p>
                  </a:txBody>
                  <a:tcPr marT="91425" marB="91425" marR="91425" marL="91425">
                    <a:solidFill>
                      <a:srgbClr val="1C7293"/>
                    </a:solidFill>
                  </a:tcPr>
                </a:tc>
              </a:tr>
              <a:tr h="1140625">
                <a:tc>
                  <a:txBody>
                    <a:bodyPr/>
                    <a:lstStyle/>
                    <a:p>
                      <a:pPr indent="0" lvl="0" marL="0" rtl="0" algn="l">
                        <a:lnSpc>
                          <a:spcPct val="150000"/>
                        </a:lnSpc>
                        <a:spcBef>
                          <a:spcPts val="0"/>
                        </a:spcBef>
                        <a:spcAft>
                          <a:spcPts val="0"/>
                        </a:spcAft>
                        <a:buNone/>
                      </a:pPr>
                      <a:r>
                        <a:rPr b="1" lang="en-US" sz="1800">
                          <a:latin typeface="Calibri"/>
                          <a:ea typeface="Calibri"/>
                          <a:cs typeface="Calibri"/>
                          <a:sym typeface="Calibri"/>
                        </a:rPr>
                        <a:t>Shahroz</a:t>
                      </a:r>
                      <a:endParaRPr b="1" sz="1800">
                        <a:latin typeface="Calibri"/>
                        <a:ea typeface="Calibri"/>
                        <a:cs typeface="Calibri"/>
                        <a:sym typeface="Calibri"/>
                      </a:endParaRPr>
                    </a:p>
                  </a:txBody>
                  <a:tcPr marT="91425" marB="91425" marR="91425" marL="91425"/>
                </a:tc>
                <a:tc>
                  <a:txBody>
                    <a:bodyPr/>
                    <a:lstStyle/>
                    <a:p>
                      <a:pPr indent="0" lvl="0" marL="0" rtl="0" algn="l">
                        <a:lnSpc>
                          <a:spcPct val="150000"/>
                        </a:lnSpc>
                        <a:spcBef>
                          <a:spcPts val="0"/>
                        </a:spcBef>
                        <a:spcAft>
                          <a:spcPts val="0"/>
                        </a:spcAft>
                        <a:buNone/>
                      </a:pPr>
                      <a:r>
                        <a:rPr lang="en-US" sz="1800">
                          <a:solidFill>
                            <a:schemeClr val="dk1"/>
                          </a:solidFill>
                          <a:latin typeface="Calibri"/>
                          <a:ea typeface="Calibri"/>
                          <a:cs typeface="Calibri"/>
                          <a:sym typeface="Calibri"/>
                        </a:rPr>
                        <a:t>Palm &amp; Conjunctiva Pipelines</a:t>
                      </a:r>
                      <a:r>
                        <a:rPr lang="en-US" sz="1800">
                          <a:latin typeface="Calibri"/>
                          <a:ea typeface="Calibri"/>
                          <a:cs typeface="Calibri"/>
                          <a:sym typeface="Calibri"/>
                        </a:rPr>
                        <a:t> + </a:t>
                      </a:r>
                      <a:r>
                        <a:rPr lang="en-US" sz="1800">
                          <a:solidFill>
                            <a:schemeClr val="dk1"/>
                          </a:solidFill>
                          <a:latin typeface="Calibri"/>
                          <a:ea typeface="Calibri"/>
                          <a:cs typeface="Calibri"/>
                          <a:sym typeface="Calibri"/>
                        </a:rPr>
                        <a:t>Deployment Lead</a:t>
                      </a:r>
                      <a:endParaRPr sz="1800">
                        <a:latin typeface="Calibri"/>
                        <a:ea typeface="Calibri"/>
                        <a:cs typeface="Calibri"/>
                        <a:sym typeface="Calibri"/>
                      </a:endParaRPr>
                    </a:p>
                  </a:txBody>
                  <a:tcPr marT="91425" marB="91425" marR="91425" marL="91425"/>
                </a:tc>
                <a:tc>
                  <a:txBody>
                    <a:bodyPr/>
                    <a:lstStyle/>
                    <a:p>
                      <a:pPr indent="0" lvl="0" marL="0" rtl="0" algn="l">
                        <a:lnSpc>
                          <a:spcPct val="150000"/>
                        </a:lnSpc>
                        <a:spcBef>
                          <a:spcPts val="0"/>
                        </a:spcBef>
                        <a:spcAft>
                          <a:spcPts val="0"/>
                        </a:spcAft>
                        <a:buNone/>
                      </a:pPr>
                      <a:r>
                        <a:rPr lang="en-US" sz="1800">
                          <a:solidFill>
                            <a:schemeClr val="dk1"/>
                          </a:solidFill>
                          <a:latin typeface="Calibri"/>
                          <a:ea typeface="Calibri"/>
                          <a:cs typeface="Calibri"/>
                          <a:sym typeface="Calibri"/>
                        </a:rPr>
                        <a:t>Full pipeline for palm and conjunctiva (data, encoder, evaluation)</a:t>
                      </a:r>
                      <a:r>
                        <a:rPr lang="en-US" sz="1800">
                          <a:latin typeface="Calibri"/>
                          <a:ea typeface="Calibri"/>
                          <a:cs typeface="Calibri"/>
                          <a:sym typeface="Calibri"/>
                        </a:rPr>
                        <a:t> </a:t>
                      </a:r>
                      <a:r>
                        <a:rPr lang="en-US" sz="1800">
                          <a:solidFill>
                            <a:schemeClr val="dk1"/>
                          </a:solidFill>
                          <a:latin typeface="Calibri"/>
                          <a:ea typeface="Calibri"/>
                          <a:cs typeface="Calibri"/>
                          <a:sym typeface="Calibri"/>
                        </a:rPr>
                        <a:t>handles deployment</a:t>
                      </a:r>
                      <a:endParaRPr sz="1800">
                        <a:latin typeface="Calibri"/>
                        <a:ea typeface="Calibri"/>
                        <a:cs typeface="Calibri"/>
                        <a:sym typeface="Calibri"/>
                      </a:endParaRPr>
                    </a:p>
                  </a:txBody>
                  <a:tcPr marT="91425" marB="91425" marR="91425" marL="91425"/>
                </a:tc>
              </a:tr>
              <a:tr h="1030450">
                <a:tc>
                  <a:txBody>
                    <a:bodyPr/>
                    <a:lstStyle/>
                    <a:p>
                      <a:pPr indent="0" lvl="0" marL="0" rtl="0" algn="l">
                        <a:lnSpc>
                          <a:spcPct val="150000"/>
                        </a:lnSpc>
                        <a:spcBef>
                          <a:spcPts val="0"/>
                        </a:spcBef>
                        <a:spcAft>
                          <a:spcPts val="0"/>
                        </a:spcAft>
                        <a:buNone/>
                      </a:pPr>
                      <a:r>
                        <a:rPr b="1" lang="en-US" sz="1800">
                          <a:latin typeface="Calibri"/>
                          <a:ea typeface="Calibri"/>
                          <a:cs typeface="Calibri"/>
                          <a:sym typeface="Calibri"/>
                        </a:rPr>
                        <a:t>Sarmad</a:t>
                      </a:r>
                      <a:endParaRPr b="1" sz="1800">
                        <a:latin typeface="Calibri"/>
                        <a:ea typeface="Calibri"/>
                        <a:cs typeface="Calibri"/>
                        <a:sym typeface="Calibri"/>
                      </a:endParaRPr>
                    </a:p>
                  </a:txBody>
                  <a:tcPr marT="91425" marB="91425" marR="91425" marL="91425"/>
                </a:tc>
                <a:tc>
                  <a:txBody>
                    <a:bodyPr/>
                    <a:lstStyle/>
                    <a:p>
                      <a:pPr indent="0" lvl="0" marL="0" rtl="0" algn="l">
                        <a:lnSpc>
                          <a:spcPct val="150000"/>
                        </a:lnSpc>
                        <a:spcBef>
                          <a:spcPts val="0"/>
                        </a:spcBef>
                        <a:spcAft>
                          <a:spcPts val="0"/>
                        </a:spcAft>
                        <a:buNone/>
                      </a:pPr>
                      <a:r>
                        <a:rPr lang="en-US" sz="1800">
                          <a:solidFill>
                            <a:schemeClr val="dk1"/>
                          </a:solidFill>
                          <a:latin typeface="Calibri"/>
                          <a:ea typeface="Calibri"/>
                          <a:cs typeface="Calibri"/>
                          <a:sym typeface="Calibri"/>
                        </a:rPr>
                        <a:t>Tongue &amp; Fingernail Pipelines</a:t>
                      </a:r>
                      <a:r>
                        <a:rPr lang="en-US" sz="1800">
                          <a:latin typeface="Calibri"/>
                          <a:ea typeface="Calibri"/>
                          <a:cs typeface="Calibri"/>
                          <a:sym typeface="Calibri"/>
                        </a:rPr>
                        <a:t> +</a:t>
                      </a:r>
                      <a:endParaRPr sz="1800">
                        <a:latin typeface="Calibri"/>
                        <a:ea typeface="Calibri"/>
                        <a:cs typeface="Calibri"/>
                        <a:sym typeface="Calibri"/>
                      </a:endParaRPr>
                    </a:p>
                    <a:p>
                      <a:pPr indent="0" lvl="0" marL="0" rtl="0" algn="l">
                        <a:lnSpc>
                          <a:spcPct val="150000"/>
                        </a:lnSpc>
                        <a:spcBef>
                          <a:spcPts val="0"/>
                        </a:spcBef>
                        <a:spcAft>
                          <a:spcPts val="0"/>
                        </a:spcAft>
                        <a:buNone/>
                      </a:pPr>
                      <a:r>
                        <a:rPr lang="en-US" sz="1800">
                          <a:solidFill>
                            <a:schemeClr val="dk1"/>
                          </a:solidFill>
                          <a:latin typeface="Calibri"/>
                          <a:ea typeface="Calibri"/>
                          <a:cs typeface="Calibri"/>
                          <a:sym typeface="Calibri"/>
                        </a:rPr>
                        <a:t>App Lead </a:t>
                      </a:r>
                      <a:r>
                        <a:rPr lang="en-US" sz="1800">
                          <a:latin typeface="Calibri"/>
                          <a:ea typeface="Calibri"/>
                          <a:cs typeface="Calibri"/>
                          <a:sym typeface="Calibri"/>
                        </a:rPr>
                        <a:t> </a:t>
                      </a:r>
                      <a:endParaRPr sz="1800">
                        <a:latin typeface="Calibri"/>
                        <a:ea typeface="Calibri"/>
                        <a:cs typeface="Calibri"/>
                        <a:sym typeface="Calibri"/>
                      </a:endParaRPr>
                    </a:p>
                  </a:txBody>
                  <a:tcPr marT="91425" marB="91425" marR="91425" marL="91425"/>
                </a:tc>
                <a:tc>
                  <a:txBody>
                    <a:bodyPr/>
                    <a:lstStyle/>
                    <a:p>
                      <a:pPr indent="0" lvl="0" marL="0" rtl="0" algn="l">
                        <a:lnSpc>
                          <a:spcPct val="150000"/>
                        </a:lnSpc>
                        <a:spcBef>
                          <a:spcPts val="0"/>
                        </a:spcBef>
                        <a:spcAft>
                          <a:spcPts val="0"/>
                        </a:spcAft>
                        <a:buClr>
                          <a:schemeClr val="dk1"/>
                        </a:buClr>
                        <a:buSzPts val="1100"/>
                        <a:buFont typeface="Arial"/>
                        <a:buNone/>
                      </a:pPr>
                      <a:r>
                        <a:rPr lang="en-US" sz="1800">
                          <a:solidFill>
                            <a:schemeClr val="dk1"/>
                          </a:solidFill>
                          <a:latin typeface="Calibri"/>
                          <a:ea typeface="Calibri"/>
                          <a:cs typeface="Calibri"/>
                          <a:sym typeface="Calibri"/>
                        </a:rPr>
                        <a:t>Full pipeline for tongue and nail (data, encoder, evaluation); App development and app-to-model integration</a:t>
                      </a:r>
                      <a:endParaRPr b="1" sz="1800">
                        <a:solidFill>
                          <a:schemeClr val="dk1"/>
                        </a:solidFill>
                        <a:latin typeface="Calibri"/>
                        <a:ea typeface="Calibri"/>
                        <a:cs typeface="Calibri"/>
                        <a:sym typeface="Calibri"/>
                      </a:endParaRPr>
                    </a:p>
                    <a:p>
                      <a:pPr indent="0" lvl="0" marL="0" rtl="0" algn="l">
                        <a:lnSpc>
                          <a:spcPct val="150000"/>
                        </a:lnSpc>
                        <a:spcBef>
                          <a:spcPts val="0"/>
                        </a:spcBef>
                        <a:spcAft>
                          <a:spcPts val="0"/>
                        </a:spcAft>
                        <a:buNone/>
                      </a:pPr>
                      <a:r>
                        <a:t/>
                      </a:r>
                      <a:endParaRPr sz="1800">
                        <a:latin typeface="Calibri"/>
                        <a:ea typeface="Calibri"/>
                        <a:cs typeface="Calibri"/>
                        <a:sym typeface="Calibri"/>
                      </a:endParaRPr>
                    </a:p>
                  </a:txBody>
                  <a:tcPr marT="91425" marB="91425" marR="91425" marL="91425"/>
                </a:tc>
              </a:tr>
            </a:tbl>
          </a:graphicData>
        </a:graphic>
      </p:graphicFrame>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