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y="6858000" cx="9144000"/>
  <p:notesSz cx="7315200" cy="96012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0C852DD-9957-4312-98B3-2853B80A6055}">
  <a:tblStyle styleId="{40C852DD-9957-4312-98B3-2853B80A605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D3DC4119-14DB-422D-BA40-32E6E394916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19425" y="720075"/>
            <a:ext cx="4877025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219425" y="720075"/>
            <a:ext cx="4877025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219425" y="720075"/>
            <a:ext cx="4877025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:notes"/>
          <p:cNvSpPr txBox="1"/>
          <p:nvPr>
            <p:ph idx="1" type="body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6" name="Google Shape;96;p3:notes"/>
          <p:cNvSpPr/>
          <p:nvPr>
            <p:ph idx="2" type="sldImg"/>
          </p:nvPr>
        </p:nvSpPr>
        <p:spPr>
          <a:xfrm>
            <a:off x="1257300" y="720725"/>
            <a:ext cx="4800600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:notes"/>
          <p:cNvSpPr txBox="1"/>
          <p:nvPr>
            <p:ph idx="1" type="body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3" name="Google Shape;103;p4:notes"/>
          <p:cNvSpPr/>
          <p:nvPr>
            <p:ph idx="2" type="sldImg"/>
          </p:nvPr>
        </p:nvSpPr>
        <p:spPr>
          <a:xfrm>
            <a:off x="1257300" y="720725"/>
            <a:ext cx="4800600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b4a8ef356_0_22:notes"/>
          <p:cNvSpPr txBox="1"/>
          <p:nvPr>
            <p:ph idx="1" type="body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0" name="Google Shape;110;g3fb4a8ef356_0_22:notes"/>
          <p:cNvSpPr/>
          <p:nvPr>
            <p:ph idx="2" type="sldImg"/>
          </p:nvPr>
        </p:nvSpPr>
        <p:spPr>
          <a:xfrm>
            <a:off x="1219425" y="720075"/>
            <a:ext cx="48771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fb4a8ef356_0_5:notes"/>
          <p:cNvSpPr txBox="1"/>
          <p:nvPr>
            <p:ph idx="1" type="body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9" name="Google Shape;119;g3fb4a8ef356_0_5:notes"/>
          <p:cNvSpPr/>
          <p:nvPr>
            <p:ph idx="2" type="sldImg"/>
          </p:nvPr>
        </p:nvSpPr>
        <p:spPr>
          <a:xfrm>
            <a:off x="1219425" y="720075"/>
            <a:ext cx="48771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 txBox="1"/>
          <p:nvPr>
            <p:ph idx="1" type="body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4" name="Google Shape;134;p6:notes"/>
          <p:cNvSpPr/>
          <p:nvPr>
            <p:ph idx="2" type="sldImg"/>
          </p:nvPr>
        </p:nvSpPr>
        <p:spPr>
          <a:xfrm>
            <a:off x="1219425" y="720075"/>
            <a:ext cx="4877025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:notes"/>
          <p:cNvSpPr txBox="1"/>
          <p:nvPr>
            <p:ph idx="1" type="body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1" name="Google Shape;141;p7:notes"/>
          <p:cNvSpPr/>
          <p:nvPr>
            <p:ph idx="2" type="sldImg"/>
          </p:nvPr>
        </p:nvSpPr>
        <p:spPr>
          <a:xfrm>
            <a:off x="1219425" y="720075"/>
            <a:ext cx="4877025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f9fbfbdbe5_5_69:notes"/>
          <p:cNvSpPr txBox="1"/>
          <p:nvPr>
            <p:ph idx="1" type="body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8" name="Google Shape;148;g3f9fbfbdbe5_5_69:notes"/>
          <p:cNvSpPr/>
          <p:nvPr>
            <p:ph idx="2" type="sldImg"/>
          </p:nvPr>
        </p:nvSpPr>
        <p:spPr>
          <a:xfrm>
            <a:off x="1219425" y="720075"/>
            <a:ext cx="48771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:notes"/>
          <p:cNvSpPr txBox="1"/>
          <p:nvPr>
            <p:ph idx="1" type="body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5" name="Google Shape;155;p8:notes"/>
          <p:cNvSpPr/>
          <p:nvPr>
            <p:ph idx="2" type="sldImg"/>
          </p:nvPr>
        </p:nvSpPr>
        <p:spPr>
          <a:xfrm>
            <a:off x="1219425" y="720075"/>
            <a:ext cx="48771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/>
          <p:nvPr>
            <p:ph idx="1" type="body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2" name="Google Shape;162;p9:notes"/>
          <p:cNvSpPr/>
          <p:nvPr>
            <p:ph idx="2" type="sldImg"/>
          </p:nvPr>
        </p:nvSpPr>
        <p:spPr>
          <a:xfrm>
            <a:off x="1219425" y="720075"/>
            <a:ext cx="48771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fa1e6576f6_0_190:notes"/>
          <p:cNvSpPr txBox="1"/>
          <p:nvPr>
            <p:ph idx="1" type="body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1" name="Google Shape;171;g3fa1e6576f6_0_190:notes"/>
          <p:cNvSpPr/>
          <p:nvPr>
            <p:ph idx="2" type="sldImg"/>
          </p:nvPr>
        </p:nvSpPr>
        <p:spPr>
          <a:xfrm>
            <a:off x="1219425" y="720075"/>
            <a:ext cx="48771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:notes"/>
          <p:cNvSpPr txBox="1"/>
          <p:nvPr>
            <p:ph idx="1" type="body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0" name="Google Shape;180;p10:notes"/>
          <p:cNvSpPr/>
          <p:nvPr>
            <p:ph idx="2" type="sldImg"/>
          </p:nvPr>
        </p:nvSpPr>
        <p:spPr>
          <a:xfrm>
            <a:off x="1219425" y="720075"/>
            <a:ext cx="4877025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1:notes"/>
          <p:cNvSpPr txBox="1"/>
          <p:nvPr>
            <p:ph idx="1" type="body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7" name="Google Shape;187;p11:notes"/>
          <p:cNvSpPr/>
          <p:nvPr>
            <p:ph idx="2" type="sldImg"/>
          </p:nvPr>
        </p:nvSpPr>
        <p:spPr>
          <a:xfrm>
            <a:off x="1219425" y="720075"/>
            <a:ext cx="4877025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2:notes"/>
          <p:cNvSpPr txBox="1"/>
          <p:nvPr>
            <p:ph idx="1" type="body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4" name="Google Shape;194;p12:notes"/>
          <p:cNvSpPr/>
          <p:nvPr>
            <p:ph idx="2" type="sldImg"/>
          </p:nvPr>
        </p:nvSpPr>
        <p:spPr>
          <a:xfrm>
            <a:off x="1257300" y="720725"/>
            <a:ext cx="4800600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5:notes"/>
          <p:cNvSpPr txBox="1"/>
          <p:nvPr>
            <p:ph idx="1" type="body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1" name="Google Shape;201;p15:notes"/>
          <p:cNvSpPr/>
          <p:nvPr>
            <p:ph idx="2" type="sldImg"/>
          </p:nvPr>
        </p:nvSpPr>
        <p:spPr>
          <a:xfrm>
            <a:off x="1219425" y="720075"/>
            <a:ext cx="4877025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3:notes"/>
          <p:cNvSpPr txBox="1"/>
          <p:nvPr>
            <p:ph idx="1" type="body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1" name="Google Shape;211;p13:notes"/>
          <p:cNvSpPr/>
          <p:nvPr>
            <p:ph idx="2" type="sldImg"/>
          </p:nvPr>
        </p:nvSpPr>
        <p:spPr>
          <a:xfrm>
            <a:off x="1219425" y="720075"/>
            <a:ext cx="4877025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4:notes"/>
          <p:cNvSpPr txBox="1"/>
          <p:nvPr>
            <p:ph idx="1" type="body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3" name="Google Shape;263;p14:notes"/>
          <p:cNvSpPr/>
          <p:nvPr>
            <p:ph idx="2" type="sldImg"/>
          </p:nvPr>
        </p:nvSpPr>
        <p:spPr>
          <a:xfrm>
            <a:off x="1219425" y="720075"/>
            <a:ext cx="4877025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fa1e6576f6_0_95:notes"/>
          <p:cNvSpPr txBox="1"/>
          <p:nvPr>
            <p:ph idx="1" type="body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0" name="Google Shape;270;g3fa1e6576f6_0_95:notes"/>
          <p:cNvSpPr/>
          <p:nvPr>
            <p:ph idx="2" type="sldImg"/>
          </p:nvPr>
        </p:nvSpPr>
        <p:spPr>
          <a:xfrm>
            <a:off x="1219425" y="720075"/>
            <a:ext cx="48771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fa1e6576f6_0_156:notes"/>
          <p:cNvSpPr txBox="1"/>
          <p:nvPr>
            <p:ph idx="1" type="body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7" name="Google Shape;277;g3fa1e6576f6_0_156:notes"/>
          <p:cNvSpPr/>
          <p:nvPr>
            <p:ph idx="2" type="sldImg"/>
          </p:nvPr>
        </p:nvSpPr>
        <p:spPr>
          <a:xfrm>
            <a:off x="1257300" y="720725"/>
            <a:ext cx="48006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7:notes"/>
          <p:cNvSpPr txBox="1"/>
          <p:nvPr>
            <p:ph idx="1" type="body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4" name="Google Shape;284;p17:notes"/>
          <p:cNvSpPr/>
          <p:nvPr>
            <p:ph idx="2" type="sldImg"/>
          </p:nvPr>
        </p:nvSpPr>
        <p:spPr>
          <a:xfrm>
            <a:off x="1257300" y="720725"/>
            <a:ext cx="4800600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fb84749b6b_0_32:notes"/>
          <p:cNvSpPr txBox="1"/>
          <p:nvPr>
            <p:ph idx="1" type="body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1" name="Google Shape;291;g3fb84749b6b_0_32:notes"/>
          <p:cNvSpPr/>
          <p:nvPr>
            <p:ph idx="2" type="sldImg"/>
          </p:nvPr>
        </p:nvSpPr>
        <p:spPr>
          <a:xfrm>
            <a:off x="1257300" y="720725"/>
            <a:ext cx="48006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fa40b541af_0_3:notes"/>
          <p:cNvSpPr txBox="1"/>
          <p:nvPr>
            <p:ph idx="1" type="body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8" name="Google Shape;298;g3fa40b541af_0_3:notes"/>
          <p:cNvSpPr/>
          <p:nvPr>
            <p:ph idx="2" type="sldImg"/>
          </p:nvPr>
        </p:nvSpPr>
        <p:spPr>
          <a:xfrm>
            <a:off x="1257300" y="720725"/>
            <a:ext cx="48006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fa40b541af_0_8:notes"/>
          <p:cNvSpPr txBox="1"/>
          <p:nvPr>
            <p:ph idx="1" type="body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5" name="Google Shape;305;g3fa40b541af_0_8:notes"/>
          <p:cNvSpPr/>
          <p:nvPr>
            <p:ph idx="2" type="sldImg"/>
          </p:nvPr>
        </p:nvSpPr>
        <p:spPr>
          <a:xfrm>
            <a:off x="1257300" y="720725"/>
            <a:ext cx="48006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fa1e6576f6_0_163:notes"/>
          <p:cNvSpPr txBox="1"/>
          <p:nvPr>
            <p:ph idx="1" type="body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2" name="Google Shape;312;g3fa1e6576f6_0_163:notes"/>
          <p:cNvSpPr/>
          <p:nvPr>
            <p:ph idx="2" type="sldImg"/>
          </p:nvPr>
        </p:nvSpPr>
        <p:spPr>
          <a:xfrm>
            <a:off x="1257300" y="720725"/>
            <a:ext cx="48006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6:notes"/>
          <p:cNvSpPr txBox="1"/>
          <p:nvPr>
            <p:ph idx="1" type="body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9" name="Google Shape;319;p16:notes"/>
          <p:cNvSpPr/>
          <p:nvPr>
            <p:ph idx="2" type="sldImg"/>
          </p:nvPr>
        </p:nvSpPr>
        <p:spPr>
          <a:xfrm>
            <a:off x="1257300" y="720725"/>
            <a:ext cx="4800600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fa1e6576f6_0_107:notes"/>
          <p:cNvSpPr txBox="1"/>
          <p:nvPr>
            <p:ph idx="1" type="body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6" name="Google Shape;326;g3fa1e6576f6_0_107:notes"/>
          <p:cNvSpPr/>
          <p:nvPr>
            <p:ph idx="2" type="sldImg"/>
          </p:nvPr>
        </p:nvSpPr>
        <p:spPr>
          <a:xfrm>
            <a:off x="1257300" y="720725"/>
            <a:ext cx="48006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fa40b541af_0_19:notes"/>
          <p:cNvSpPr txBox="1"/>
          <p:nvPr>
            <p:ph idx="1" type="body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3" name="Google Shape;333;g3fa40b541af_0_19:notes"/>
          <p:cNvSpPr/>
          <p:nvPr>
            <p:ph idx="2" type="sldImg"/>
          </p:nvPr>
        </p:nvSpPr>
        <p:spPr>
          <a:xfrm>
            <a:off x="1257300" y="720725"/>
            <a:ext cx="48006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fb84749b6b_0_38:notes"/>
          <p:cNvSpPr txBox="1"/>
          <p:nvPr>
            <p:ph idx="1" type="body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0" name="Google Shape;340;g3fb84749b6b_0_38:notes"/>
          <p:cNvSpPr/>
          <p:nvPr>
            <p:ph idx="2" type="sldImg"/>
          </p:nvPr>
        </p:nvSpPr>
        <p:spPr>
          <a:xfrm>
            <a:off x="1257300" y="720725"/>
            <a:ext cx="48006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fb84749b6b_0_44:notes"/>
          <p:cNvSpPr txBox="1"/>
          <p:nvPr>
            <p:ph idx="1" type="body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7" name="Google Shape;347;g3fb84749b6b_0_44:notes"/>
          <p:cNvSpPr/>
          <p:nvPr>
            <p:ph idx="2" type="sldImg"/>
          </p:nvPr>
        </p:nvSpPr>
        <p:spPr>
          <a:xfrm>
            <a:off x="1257300" y="720725"/>
            <a:ext cx="48006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fb84749b6b_0_51:notes"/>
          <p:cNvSpPr txBox="1"/>
          <p:nvPr>
            <p:ph idx="1" type="body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4" name="Google Shape;354;g3fb84749b6b_0_51:notes"/>
          <p:cNvSpPr/>
          <p:nvPr>
            <p:ph idx="2" type="sldImg"/>
          </p:nvPr>
        </p:nvSpPr>
        <p:spPr>
          <a:xfrm>
            <a:off x="1257300" y="720725"/>
            <a:ext cx="48006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2" name="Google Shape;32;p5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3" name="Google Shape;33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6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0" name="Google Shape;40;p6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6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2" name="Google Shape;42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8" y="-251619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7" y="2171700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1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3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spd="med">
    <p:fade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B3D59"/>
                </a:solidFill>
              </a:rPr>
              <a:t>Final Year Project Proposal</a:t>
            </a:r>
            <a:endParaRPr>
              <a:solidFill>
                <a:srgbClr val="0B3D59"/>
              </a:solidFill>
            </a:endParaRPr>
          </a:p>
        </p:txBody>
      </p:sp>
      <p:sp>
        <p:nvSpPr>
          <p:cNvPr id="85" name="Google Shape;85;p1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635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Arial"/>
              <a:buNone/>
            </a:pPr>
            <a:r>
              <a:rPr lang="en-US"/>
              <a:t>GLANCE </a:t>
            </a:r>
            <a:r>
              <a:rPr lang="en-US"/>
              <a:t>– General Look-based Assessment for Non-invasive Care &amp; Evaluation</a:t>
            </a:r>
            <a:endParaRPr/>
          </a:p>
          <a:p>
            <a:pPr indent="0" lvl="0" marL="63500" rtl="0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</a:pPr>
            <a:r>
              <a:rPr lang="en-US" sz="1600"/>
              <a:t>Supervised By: M. Islam Abbasi (Lecturer)</a:t>
            </a:r>
            <a:endParaRPr sz="3400"/>
          </a:p>
        </p:txBody>
      </p:sp>
      <p:pic>
        <p:nvPicPr>
          <p:cNvPr descr="Riphah.jpg" id="86" name="Google Shape;86;p13"/>
          <p:cNvPicPr preferRelativeResize="0"/>
          <p:nvPr/>
        </p:nvPicPr>
        <p:blipFill rotWithShape="1">
          <a:blip r:embed="rId4">
            <a:alphaModFix/>
          </a:blip>
          <a:srcRect b="4925" l="3033" r="6926" t="4065"/>
          <a:stretch/>
        </p:blipFill>
        <p:spPr>
          <a:xfrm>
            <a:off x="4076700" y="1295400"/>
            <a:ext cx="990600" cy="129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B3D59"/>
                </a:solidFill>
              </a:rPr>
              <a:t>Project Team</a:t>
            </a:r>
            <a:endParaRPr>
              <a:solidFill>
                <a:srgbClr val="0B3D59"/>
              </a:solidFill>
            </a:endParaRPr>
          </a:p>
        </p:txBody>
      </p:sp>
      <p:sp>
        <p:nvSpPr>
          <p:cNvPr id="92" name="Google Shape;92;p14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3D59"/>
              </a:buClr>
              <a:buSzPts val="3200"/>
              <a:buChar char="•"/>
            </a:pPr>
            <a:r>
              <a:rPr lang="en-US">
                <a:solidFill>
                  <a:srgbClr val="0B3D59"/>
                </a:solidFill>
              </a:rPr>
              <a:t>Syed Jaffar Raza Kazmi (57375)</a:t>
            </a:r>
            <a:endParaRPr>
              <a:solidFill>
                <a:srgbClr val="0B3D59"/>
              </a:solidFill>
            </a:endParaRPr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B3D59"/>
              </a:buClr>
              <a:buSzPts val="3200"/>
              <a:buChar char="•"/>
            </a:pPr>
            <a:r>
              <a:rPr lang="en-US">
                <a:solidFill>
                  <a:srgbClr val="0B3D59"/>
                </a:solidFill>
              </a:rPr>
              <a:t>Shahroz Khalid (53531)</a:t>
            </a:r>
            <a:endParaRPr>
              <a:solidFill>
                <a:srgbClr val="0B3D59"/>
              </a:solidFill>
            </a:endParaRPr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B3D59"/>
              </a:buClr>
              <a:buSzPts val="3200"/>
              <a:buChar char="•"/>
            </a:pPr>
            <a:r>
              <a:rPr lang="en-US">
                <a:solidFill>
                  <a:srgbClr val="0B3D59"/>
                </a:solidFill>
              </a:rPr>
              <a:t>Muhammad Sarmad Chughtai (54915)</a:t>
            </a:r>
            <a:endParaRPr>
              <a:solidFill>
                <a:srgbClr val="0B3D59"/>
              </a:solidFill>
            </a:endParaRPr>
          </a:p>
          <a:p>
            <a:pPr indent="-1397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>
              <a:solidFill>
                <a:srgbClr val="0B3D59"/>
              </a:solidFill>
            </a:endParaRPr>
          </a:p>
        </p:txBody>
      </p:sp>
      <p:sp>
        <p:nvSpPr>
          <p:cNvPr id="93" name="Google Shape;93;p14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457200" y="10174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B3D59"/>
                </a:solidFill>
              </a:rPr>
              <a:t>Table of Content</a:t>
            </a:r>
            <a:endParaRPr>
              <a:solidFill>
                <a:srgbClr val="0B3D59"/>
              </a:solidFill>
            </a:endParaRPr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457200" y="119154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68300" lvl="0" marL="45720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3232E"/>
              </a:buClr>
              <a:buSzPts val="2200"/>
              <a:buFont typeface="Calibri"/>
              <a:buChar char="○"/>
            </a:pPr>
            <a:r>
              <a:rPr lang="en-US" sz="2200">
                <a:solidFill>
                  <a:srgbClr val="13232E"/>
                </a:solidFill>
              </a:rPr>
              <a:t>Introduction and Background</a:t>
            </a:r>
            <a:endParaRPr sz="2200">
              <a:solidFill>
                <a:srgbClr val="13232E"/>
              </a:solidFill>
            </a:endParaRPr>
          </a:p>
          <a:p>
            <a:pPr indent="-368300" lvl="0" marL="45720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3232E"/>
              </a:buClr>
              <a:buSzPts val="2200"/>
              <a:buFont typeface="Calibri"/>
              <a:buChar char="○"/>
            </a:pPr>
            <a:r>
              <a:rPr lang="en-US" sz="2200">
                <a:solidFill>
                  <a:srgbClr val="13232E"/>
                </a:solidFill>
              </a:rPr>
              <a:t>Literature Review and Summary Table</a:t>
            </a:r>
            <a:endParaRPr sz="2200">
              <a:solidFill>
                <a:srgbClr val="13232E"/>
              </a:solidFill>
            </a:endParaRPr>
          </a:p>
          <a:p>
            <a:pPr indent="-368300" lvl="0" marL="45720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3232E"/>
              </a:buClr>
              <a:buSzPts val="2200"/>
              <a:buFont typeface="Calibri"/>
              <a:buChar char="○"/>
            </a:pPr>
            <a:r>
              <a:rPr lang="en-US" sz="2200">
                <a:solidFill>
                  <a:srgbClr val="13232E"/>
                </a:solidFill>
              </a:rPr>
              <a:t>Gap Analysis</a:t>
            </a:r>
            <a:endParaRPr sz="2200">
              <a:solidFill>
                <a:srgbClr val="13232E"/>
              </a:solidFill>
            </a:endParaRPr>
          </a:p>
          <a:p>
            <a:pPr indent="-368300" lvl="0" marL="45720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3232E"/>
              </a:buClr>
              <a:buSzPts val="2200"/>
              <a:buFont typeface="Calibri"/>
              <a:buChar char="○"/>
            </a:pPr>
            <a:r>
              <a:rPr lang="en-US" sz="2200">
                <a:solidFill>
                  <a:srgbClr val="13232E"/>
                </a:solidFill>
              </a:rPr>
              <a:t>Problem Statement</a:t>
            </a:r>
            <a:endParaRPr sz="2200">
              <a:solidFill>
                <a:srgbClr val="13232E"/>
              </a:solidFill>
            </a:endParaRPr>
          </a:p>
          <a:p>
            <a:pPr indent="-368300" lvl="0" marL="45720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3232E"/>
              </a:buClr>
              <a:buSzPts val="2200"/>
              <a:buFont typeface="Calibri"/>
              <a:buChar char="○"/>
            </a:pPr>
            <a:r>
              <a:rPr lang="en-US" sz="2200">
                <a:solidFill>
                  <a:srgbClr val="13232E"/>
                </a:solidFill>
              </a:rPr>
              <a:t>Proposed Solution &amp; Methodology</a:t>
            </a:r>
            <a:endParaRPr sz="2200">
              <a:solidFill>
                <a:srgbClr val="13232E"/>
              </a:solidFill>
            </a:endParaRPr>
          </a:p>
          <a:p>
            <a:pPr indent="-368300" lvl="0" marL="45720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3232E"/>
              </a:buClr>
              <a:buSzPts val="2200"/>
              <a:buFont typeface="Calibri"/>
              <a:buChar char="○"/>
            </a:pPr>
            <a:r>
              <a:rPr lang="en-US" sz="2200">
                <a:solidFill>
                  <a:srgbClr val="13232E"/>
                </a:solidFill>
              </a:rPr>
              <a:t>Project Scope and Evaluation Plan</a:t>
            </a:r>
            <a:endParaRPr sz="2200">
              <a:solidFill>
                <a:srgbClr val="13232E"/>
              </a:solidFill>
            </a:endParaRPr>
          </a:p>
          <a:p>
            <a:pPr indent="-368300" lvl="0" marL="45720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3232E"/>
              </a:buClr>
              <a:buSzPts val="2200"/>
              <a:buFont typeface="Calibri"/>
              <a:buChar char="○"/>
            </a:pPr>
            <a:r>
              <a:rPr lang="en-US" sz="2200">
                <a:solidFill>
                  <a:srgbClr val="13232E"/>
                </a:solidFill>
              </a:rPr>
              <a:t>Challenges and Risk Mitigation</a:t>
            </a:r>
            <a:endParaRPr sz="2200">
              <a:solidFill>
                <a:srgbClr val="13232E"/>
              </a:solidFill>
            </a:endParaRPr>
          </a:p>
          <a:p>
            <a:pPr indent="-368300" lvl="0" marL="45720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3232E"/>
              </a:buClr>
              <a:buSzPts val="2200"/>
              <a:buFont typeface="Calibri"/>
              <a:buChar char="○"/>
            </a:pPr>
            <a:r>
              <a:rPr lang="en-US" sz="2200">
                <a:solidFill>
                  <a:srgbClr val="13232E"/>
                </a:solidFill>
              </a:rPr>
              <a:t>Work Breakdown Structure</a:t>
            </a:r>
            <a:endParaRPr sz="2200">
              <a:solidFill>
                <a:srgbClr val="13232E"/>
              </a:solidFill>
            </a:endParaRPr>
          </a:p>
          <a:p>
            <a:pPr indent="-368300" lvl="0" marL="45720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3232E"/>
              </a:buClr>
              <a:buSzPts val="2200"/>
              <a:buFont typeface="Calibri"/>
              <a:buChar char="○"/>
            </a:pPr>
            <a:r>
              <a:rPr lang="en-US" sz="2200">
                <a:solidFill>
                  <a:srgbClr val="13232E"/>
                </a:solidFill>
              </a:rPr>
              <a:t>Roles and Responsibilities</a:t>
            </a:r>
            <a:endParaRPr sz="2200">
              <a:solidFill>
                <a:srgbClr val="13232E"/>
              </a:solidFill>
            </a:endParaRPr>
          </a:p>
          <a:p>
            <a:pPr indent="-368300" lvl="0" marL="45720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3232E"/>
              </a:buClr>
              <a:buSzPts val="2200"/>
              <a:buFont typeface="Calibri"/>
              <a:buChar char="○"/>
            </a:pPr>
            <a:r>
              <a:rPr lang="en-US" sz="2200">
                <a:solidFill>
                  <a:srgbClr val="13232E"/>
                </a:solidFill>
              </a:rPr>
              <a:t>Beyond the FYP</a:t>
            </a:r>
            <a:endParaRPr sz="2200">
              <a:solidFill>
                <a:srgbClr val="13232E"/>
              </a:solidFill>
            </a:endParaRPr>
          </a:p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B3D59"/>
                </a:solidFill>
              </a:rPr>
              <a:t>INTRODUCTION AND BACKGROUND</a:t>
            </a:r>
            <a:endParaRPr>
              <a:solidFill>
                <a:srgbClr val="0B3D59"/>
              </a:solidFill>
            </a:endParaRPr>
          </a:p>
        </p:txBody>
      </p:sp>
      <p:sp>
        <p:nvSpPr>
          <p:cNvPr id="106" name="Google Shape;106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444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07" name="Google Shape;107;p16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/>
          <p:nvPr>
            <p:ph type="title"/>
          </p:nvPr>
        </p:nvSpPr>
        <p:spPr>
          <a:xfrm>
            <a:off x="457200" y="168230"/>
            <a:ext cx="8229600" cy="8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US" sz="4000">
                <a:solidFill>
                  <a:srgbClr val="0B3D59"/>
                </a:solidFill>
              </a:rPr>
              <a:t>Physician Density</a:t>
            </a:r>
            <a:endParaRPr>
              <a:solidFill>
                <a:srgbClr val="0B3D59"/>
              </a:solidFill>
            </a:endParaRPr>
          </a:p>
        </p:txBody>
      </p:sp>
      <p:graphicFrame>
        <p:nvGraphicFramePr>
          <p:cNvPr id="113" name="Google Shape;113;p17"/>
          <p:cNvGraphicFramePr/>
          <p:nvPr/>
        </p:nvGraphicFramePr>
        <p:xfrm>
          <a:off x="457190" y="151650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{40C852DD-9957-4312-98B3-2853B80A6055}</a:tableStyleId>
              </a:tblPr>
              <a:tblGrid>
                <a:gridCol w="2743175"/>
                <a:gridCol w="2743175"/>
                <a:gridCol w="2743175"/>
              </a:tblGrid>
              <a:tr h="5393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Country</a:t>
                      </a:r>
                      <a:endParaRPr b="1" sz="2000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Physicians / 10,000</a:t>
                      </a:r>
                      <a:endParaRPr b="1" sz="2000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People / Physician</a:t>
                      </a:r>
                      <a:endParaRPr b="1" sz="2000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7293"/>
                    </a:solidFill>
                  </a:tcPr>
                </a:tc>
              </a:tr>
              <a:tr h="539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Germany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45.9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217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9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Austria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1E9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r>
                        <a:rPr lang="en-US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6.7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1E9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176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1E9EA"/>
                    </a:solidFill>
                  </a:tcPr>
                </a:tc>
              </a:tr>
              <a:tr h="539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United Kingdom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33.5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299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539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Norway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1E9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49.8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1E9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201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1E9EA"/>
                    </a:solidFill>
                  </a:tcPr>
                </a:tc>
              </a:tr>
              <a:tr h="539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Russia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51.1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196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9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Pakistan</a:t>
                      </a:r>
                      <a:endParaRPr b="1"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B8A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12.8</a:t>
                      </a:r>
                      <a:endParaRPr b="1"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B8A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781</a:t>
                      </a:r>
                      <a:endParaRPr b="1"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B8AF"/>
                    </a:solidFill>
                  </a:tcPr>
                </a:tc>
              </a:tr>
            </a:tbl>
          </a:graphicData>
        </a:graphic>
      </p:graphicFrame>
      <p:sp>
        <p:nvSpPr>
          <p:cNvPr id="114" name="Google Shape;114;p17"/>
          <p:cNvSpPr txBox="1"/>
          <p:nvPr/>
        </p:nvSpPr>
        <p:spPr>
          <a:xfrm>
            <a:off x="475325" y="5396525"/>
            <a:ext cx="8229600" cy="52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B3D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* WHO threshold = 44.5 doctors + nurses + midwives per 10,000 population</a:t>
            </a:r>
            <a:endParaRPr b="1" sz="1800">
              <a:solidFill>
                <a:srgbClr val="0B3D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5" name="Google Shape;115;p17"/>
          <p:cNvSpPr txBox="1"/>
          <p:nvPr/>
        </p:nvSpPr>
        <p:spPr>
          <a:xfrm>
            <a:off x="474011" y="902039"/>
            <a:ext cx="8229600" cy="52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B3D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Pakistan vs. Developed Countries</a:t>
            </a:r>
            <a:endParaRPr b="1" sz="1800">
              <a:solidFill>
                <a:srgbClr val="0B3D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6" name="Google Shape;116;p17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8"/>
          <p:cNvSpPr txBox="1"/>
          <p:nvPr>
            <p:ph type="title"/>
          </p:nvPr>
        </p:nvSpPr>
        <p:spPr>
          <a:xfrm>
            <a:off x="467299" y="108135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US" sz="4000">
                <a:solidFill>
                  <a:srgbClr val="0B3D59"/>
                </a:solidFill>
              </a:rPr>
              <a:t>INTRODUCTION AND BACKGROUND</a:t>
            </a:r>
            <a:endParaRPr>
              <a:solidFill>
                <a:srgbClr val="0B3D59"/>
              </a:solidFill>
            </a:endParaRPr>
          </a:p>
        </p:txBody>
      </p:sp>
      <p:sp>
        <p:nvSpPr>
          <p:cNvPr id="122" name="Google Shape;122;p18"/>
          <p:cNvSpPr/>
          <p:nvPr/>
        </p:nvSpPr>
        <p:spPr>
          <a:xfrm>
            <a:off x="424653" y="1359033"/>
            <a:ext cx="164700" cy="1647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117575" lIns="117575" spcFirstLastPara="1" rIns="117575" wrap="square" tIns="117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8"/>
          <p:cNvSpPr/>
          <p:nvPr/>
        </p:nvSpPr>
        <p:spPr>
          <a:xfrm>
            <a:off x="664864" y="1224279"/>
            <a:ext cx="7761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8775" lIns="117575" spcFirstLastPara="1" rIns="117575" wrap="square" tIns="587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59"/>
              </a:buClr>
              <a:buSzPts val="2058"/>
              <a:buFont typeface="Cambria"/>
              <a:buNone/>
            </a:pPr>
            <a:r>
              <a:rPr b="1" i="0" lang="en-US" sz="2058" u="none" cap="none" strike="noStrike">
                <a:solidFill>
                  <a:srgbClr val="0B3D59"/>
                </a:solidFill>
                <a:latin typeface="Calibri"/>
                <a:ea typeface="Calibri"/>
                <a:cs typeface="Calibri"/>
                <a:sym typeface="Calibri"/>
              </a:rPr>
              <a:t>The problem space</a:t>
            </a:r>
            <a:endParaRPr i="0" sz="2058" u="none" cap="none" strike="noStrike">
              <a:solidFill>
                <a:srgbClr val="0B3D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8"/>
          <p:cNvSpPr/>
          <p:nvPr/>
        </p:nvSpPr>
        <p:spPr>
          <a:xfrm>
            <a:off x="677967" y="1634575"/>
            <a:ext cx="7761900" cy="764400"/>
          </a:xfrm>
          <a:prstGeom prst="rect">
            <a:avLst/>
          </a:prstGeom>
          <a:noFill/>
          <a:ln>
            <a:noFill/>
          </a:ln>
        </p:spPr>
        <p:txBody>
          <a:bodyPr anchorCtr="0" anchor="t" bIns="58775" lIns="117575" spcFirstLastPara="1" rIns="117575" wrap="square" tIns="58775">
            <a:no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3232E"/>
              </a:buClr>
              <a:buSzPts val="1608"/>
              <a:buFont typeface="Calibri"/>
              <a:buNone/>
            </a:pPr>
            <a:r>
              <a:rPr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systemic diseases first surface as visible changes on body surfaces (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e.g</a:t>
            </a:r>
            <a:r>
              <a:rPr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oral lesions, nail clubbing, conjunctival pallor, tongue coating, palmar signs 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etc)</a:t>
            </a:r>
            <a:r>
              <a:rPr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long before lab-confirmed diagnosis.</a:t>
            </a:r>
            <a:endParaRPr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8"/>
          <p:cNvSpPr/>
          <p:nvPr/>
        </p:nvSpPr>
        <p:spPr>
          <a:xfrm>
            <a:off x="424653" y="2983898"/>
            <a:ext cx="164700" cy="1647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117575" lIns="117575" spcFirstLastPara="1" rIns="117575" wrap="square" tIns="117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8"/>
          <p:cNvSpPr/>
          <p:nvPr/>
        </p:nvSpPr>
        <p:spPr>
          <a:xfrm>
            <a:off x="664880" y="2824980"/>
            <a:ext cx="7761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8775" lIns="117575" spcFirstLastPara="1" rIns="117575" wrap="square" tIns="587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59"/>
              </a:buClr>
              <a:buSzPts val="2058"/>
              <a:buFont typeface="Cambria"/>
              <a:buNone/>
            </a:pPr>
            <a:r>
              <a:rPr b="1" i="0" lang="en-US" sz="2058" u="none" cap="none" strike="noStrike">
                <a:solidFill>
                  <a:srgbClr val="0B3D59"/>
                </a:solidFill>
                <a:latin typeface="Calibri"/>
                <a:ea typeface="Calibri"/>
                <a:cs typeface="Calibri"/>
                <a:sym typeface="Calibri"/>
              </a:rPr>
              <a:t>The opportunity</a:t>
            </a:r>
            <a:endParaRPr i="0" sz="2058" u="none" cap="none" strike="noStrike">
              <a:solidFill>
                <a:srgbClr val="0B3D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8"/>
          <p:cNvSpPr/>
          <p:nvPr/>
        </p:nvSpPr>
        <p:spPr>
          <a:xfrm>
            <a:off x="674979" y="3224949"/>
            <a:ext cx="7761900" cy="764400"/>
          </a:xfrm>
          <a:prstGeom prst="rect">
            <a:avLst/>
          </a:prstGeom>
          <a:noFill/>
          <a:ln>
            <a:noFill/>
          </a:ln>
        </p:spPr>
        <p:txBody>
          <a:bodyPr anchorCtr="0" anchor="t" bIns="58775" lIns="117575" spcFirstLastPara="1" rIns="117575" wrap="square" tIns="58775">
            <a:no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3232E"/>
              </a:buClr>
              <a:buSzPts val="1608"/>
              <a:buFont typeface="Calibri"/>
              <a:buNone/>
            </a:pPr>
            <a:r>
              <a:rPr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Smartphones are now ubiquitous even where clinicians and diagnostic labs are scarce, making camera-based pre-screening a realistic first triage layer.</a:t>
            </a:r>
            <a:endParaRPr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8"/>
          <p:cNvSpPr/>
          <p:nvPr/>
        </p:nvSpPr>
        <p:spPr>
          <a:xfrm>
            <a:off x="424653" y="4562202"/>
            <a:ext cx="164700" cy="1647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117575" lIns="117575" spcFirstLastPara="1" rIns="117575" wrap="square" tIns="117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8"/>
          <p:cNvSpPr/>
          <p:nvPr/>
        </p:nvSpPr>
        <p:spPr>
          <a:xfrm>
            <a:off x="701157" y="4425682"/>
            <a:ext cx="7761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8775" lIns="117575" spcFirstLastPara="1" rIns="117575" wrap="square" tIns="587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59"/>
              </a:buClr>
              <a:buSzPts val="2058"/>
              <a:buFont typeface="Cambria"/>
              <a:buNone/>
            </a:pPr>
            <a:r>
              <a:rPr b="1" i="0" lang="en-US" sz="2058" u="none" cap="none" strike="noStrike">
                <a:solidFill>
                  <a:srgbClr val="0B3D59"/>
                </a:solidFill>
                <a:latin typeface="Calibri"/>
                <a:ea typeface="Calibri"/>
                <a:cs typeface="Calibri"/>
                <a:sym typeface="Calibri"/>
              </a:rPr>
              <a:t>The technical angle</a:t>
            </a:r>
            <a:endParaRPr i="0" sz="2058" u="none" cap="none" strike="noStrike">
              <a:solidFill>
                <a:srgbClr val="0B3D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8"/>
          <p:cNvSpPr/>
          <p:nvPr/>
        </p:nvSpPr>
        <p:spPr>
          <a:xfrm>
            <a:off x="701155" y="4801578"/>
            <a:ext cx="7761900" cy="764400"/>
          </a:xfrm>
          <a:prstGeom prst="rect">
            <a:avLst/>
          </a:prstGeom>
          <a:noFill/>
          <a:ln>
            <a:noFill/>
          </a:ln>
        </p:spPr>
        <p:txBody>
          <a:bodyPr anchorCtr="0" anchor="t" bIns="58775" lIns="117575" spcFirstLastPara="1" rIns="117575" wrap="square" tIns="58775">
            <a:no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3232E"/>
              </a:buClr>
              <a:buSzPts val="1608"/>
              <a:buFont typeface="Calibri"/>
              <a:buNone/>
            </a:pPr>
            <a:r>
              <a:rPr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Vision Transformers now match or beat CNNs on medical image tasks, and cross-modal fusion lets multiple weak visual signals combine into one confident, explainable assessment.</a:t>
            </a:r>
            <a:endParaRPr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8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9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B3D59"/>
                </a:solidFill>
              </a:rPr>
              <a:t>LITERATURE REVIEW</a:t>
            </a:r>
            <a:endParaRPr>
              <a:solidFill>
                <a:srgbClr val="0B3D59"/>
              </a:solidFill>
            </a:endParaRPr>
          </a:p>
        </p:txBody>
      </p:sp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444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38" name="Google Shape;138;p19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US" sz="4000"/>
              <a:t>LITERATURE REVIEW</a:t>
            </a:r>
            <a:endParaRPr sz="2000"/>
          </a:p>
        </p:txBody>
      </p:sp>
      <p:graphicFrame>
        <p:nvGraphicFramePr>
          <p:cNvPr id="144" name="Google Shape;144;p20"/>
          <p:cNvGraphicFramePr/>
          <p:nvPr/>
        </p:nvGraphicFramePr>
        <p:xfrm>
          <a:off x="457200" y="156459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{D3DC4119-14DB-422D-BA40-32E6E3949163}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527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Source</a:t>
                      </a:r>
                      <a:endParaRPr b="1" sz="2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Modality</a:t>
                      </a:r>
                      <a:endParaRPr b="1" sz="2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Method</a:t>
                      </a:r>
                      <a:endParaRPr b="1" sz="2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Key Limitation</a:t>
                      </a:r>
                      <a:endParaRPr b="1" sz="2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1C7293"/>
                    </a:solidFill>
                  </a:tcPr>
                </a:tc>
              </a:tr>
              <a:tr h="10765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Flügge et al., 2023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Oral cavity, OSCC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Swin Transformer, Grad-CAM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Single surface, no fusion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</a:tr>
              <a:tr h="10765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Rabinovici-Cohen et al., 2024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E1E9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Oral cavity,  OPMD/OSCC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E1E9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CNN (ResNet18), OCNN (ResNet50)</a:t>
                      </a:r>
                      <a:endParaRPr sz="2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Grad-CAM</a:t>
                      </a:r>
                      <a:endParaRPr sz="2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E1E9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lass imbalance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E1E9EA"/>
                    </a:solidFill>
                  </a:tcPr>
                </a:tc>
              </a:tr>
              <a:tr h="1179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Asare et al., 2023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Nails, palm, conjunctiva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CNN, SVM, k-NN (compared)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</a:t>
                      </a: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urfaces compared, never fused</a:t>
                      </a:r>
                      <a:endParaRPr sz="2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45" name="Google Shape;145;p20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US" sz="4000">
                <a:solidFill>
                  <a:srgbClr val="0B3D59"/>
                </a:solidFill>
              </a:rPr>
              <a:t>LITERATURE REVIEW</a:t>
            </a:r>
            <a:endParaRPr sz="2000">
              <a:solidFill>
                <a:srgbClr val="0B3D59"/>
              </a:solidFill>
            </a:endParaRPr>
          </a:p>
        </p:txBody>
      </p:sp>
      <p:graphicFrame>
        <p:nvGraphicFramePr>
          <p:cNvPr id="151" name="Google Shape;151;p21"/>
          <p:cNvGraphicFramePr/>
          <p:nvPr/>
        </p:nvGraphicFramePr>
        <p:xfrm>
          <a:off x="457200" y="153485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{D3DC4119-14DB-422D-BA40-32E6E3949163}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524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Source</a:t>
                      </a:r>
                      <a:endParaRPr b="1" sz="2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Modality</a:t>
                      </a:r>
                      <a:endParaRPr b="1" sz="2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Method</a:t>
                      </a:r>
                      <a:endParaRPr b="1" sz="2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Key Limitation</a:t>
                      </a:r>
                      <a:endParaRPr b="1" sz="2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1C7293"/>
                    </a:solidFill>
                  </a:tcPr>
                </a:tc>
              </a:tr>
              <a:tr h="13854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 et al., 2026 (iMES)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Face, tongue, pulse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CCA fusion, SHAP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Dedicated hardware, no uncertainty output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</a:tr>
              <a:tr h="1084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General ViT literature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E1E9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Various medical imaging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E1E9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Vision Transformer encoders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E1E9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Rarely combined across surfaces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E1E9EA"/>
                    </a:solidFill>
                  </a:tcPr>
                </a:tc>
              </a:tr>
              <a:tr h="13854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Multimodal fusion literature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Cross-domain imaging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Attention-based fusion</a:t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smartphone-only variant</a:t>
                      </a:r>
                      <a:endParaRPr sz="2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52" name="Google Shape;152;p2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2"/>
          <p:cNvSpPr txBox="1"/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B3D59"/>
                </a:solidFill>
              </a:rPr>
              <a:t>Gap Analysis</a:t>
            </a:r>
            <a:endParaRPr>
              <a:solidFill>
                <a:srgbClr val="0B3D59"/>
              </a:solidFill>
            </a:endParaRPr>
          </a:p>
        </p:txBody>
      </p:sp>
      <p:sp>
        <p:nvSpPr>
          <p:cNvPr id="158" name="Google Shape;158;p22"/>
          <p:cNvSpPr txBox="1"/>
          <p:nvPr>
            <p:ph idx="1" type="body"/>
          </p:nvPr>
        </p:nvSpPr>
        <p:spPr>
          <a:xfrm>
            <a:off x="722313" y="2906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444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59" name="Google Shape;159;p22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US" sz="4000">
                <a:solidFill>
                  <a:srgbClr val="0B3D59"/>
                </a:solidFill>
              </a:rPr>
              <a:t>Gap Analysis</a:t>
            </a:r>
            <a:endParaRPr b="1" sz="4000">
              <a:solidFill>
                <a:srgbClr val="0B3D59"/>
              </a:solidFill>
            </a:endParaRPr>
          </a:p>
        </p:txBody>
      </p:sp>
      <p:sp>
        <p:nvSpPr>
          <p:cNvPr id="165" name="Google Shape;165;p23"/>
          <p:cNvSpPr txBox="1"/>
          <p:nvPr>
            <p:ph idx="1" type="body"/>
          </p:nvPr>
        </p:nvSpPr>
        <p:spPr>
          <a:xfrm>
            <a:off x="457200" y="1470530"/>
            <a:ext cx="8229600" cy="140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 sz="2100"/>
              <a:t>1. Single-surface tools dominate the field.</a:t>
            </a:r>
            <a:r>
              <a:rPr lang="en-US" sz="2100"/>
              <a:t> Conjunctival pallor detection, nail-based anemia/clubbing classifiers, and oral cavity OSCC screeners each work on one body surface only. None combine surfaces.</a:t>
            </a:r>
            <a:endParaRPr sz="2100"/>
          </a:p>
          <a:p>
            <a:pPr indent="-139700" lvl="0" marL="3429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 sz="12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3"/>
          <p:cNvSpPr txBox="1"/>
          <p:nvPr/>
        </p:nvSpPr>
        <p:spPr>
          <a:xfrm>
            <a:off x="478325" y="2944900"/>
            <a:ext cx="8208600" cy="13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No cross-surface fusion.</a:t>
            </a:r>
            <a:r>
              <a:rPr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Asare et al. (2023) collected fingernail, palm, and conjunctiva images from the same patients but only compared them, never fused them into one model.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3"/>
          <p:cNvSpPr txBox="1"/>
          <p:nvPr/>
        </p:nvSpPr>
        <p:spPr>
          <a:xfrm>
            <a:off x="492750" y="4428875"/>
            <a:ext cx="8229600" cy="13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Fusion exists, but needs dedicated hardware.</a:t>
            </a:r>
            <a:r>
              <a:rPr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iMES (Ye et al., 2026) fuses face, tongue, and pulse for 9 diseases at 92%+ accuracy, but requires a purpose-built capture device, not a smartphone.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US" sz="4000">
                <a:solidFill>
                  <a:srgbClr val="0B3D59"/>
                </a:solidFill>
              </a:rPr>
              <a:t>Gap Analysis</a:t>
            </a:r>
            <a:endParaRPr b="1" sz="4000">
              <a:solidFill>
                <a:srgbClr val="0B3D59"/>
              </a:solidFill>
            </a:endParaRPr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457200" y="1470527"/>
            <a:ext cx="8229600" cy="8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b="1" lang="en-US" sz="2000"/>
              <a:t>4. No uncertainty output.</a:t>
            </a:r>
            <a:r>
              <a:rPr lang="en-US" sz="2000"/>
              <a:t> iMES's CCA-based fusion and Asare et al.'s classifiers all return a bare label or SHAP heatmap, never a confidence score.</a:t>
            </a:r>
            <a:endParaRPr b="1" sz="2100"/>
          </a:p>
          <a:p>
            <a:pPr indent="-139700" lvl="0" marL="3429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 sz="12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4"/>
          <p:cNvSpPr txBox="1"/>
          <p:nvPr/>
        </p:nvSpPr>
        <p:spPr>
          <a:xfrm>
            <a:off x="478325" y="2471664"/>
            <a:ext cx="8208600" cy="13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5. Severe class imbalance, unaddressed.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Rabinovici-Cohen et al. (2024) report OSCC accuracy on datasets where positive samples (540) are dwarfed by negatives (1,500), with no stated imbalance strategy.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4"/>
          <p:cNvSpPr txBox="1"/>
          <p:nvPr/>
        </p:nvSpPr>
        <p:spPr>
          <a:xfrm>
            <a:off x="479662" y="3944266"/>
            <a:ext cx="8229600" cy="13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6. No missing-modality robustness.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Every reviewed system (Asare et al., iMES, single-surface classifiers) assumes all inputs are always present and well-captured.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4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B3D59"/>
                </a:solidFill>
              </a:rPr>
              <a:t>PROBLEM STATEMENT</a:t>
            </a:r>
            <a:endParaRPr>
              <a:solidFill>
                <a:srgbClr val="0B3D59"/>
              </a:solidFill>
            </a:endParaRPr>
          </a:p>
        </p:txBody>
      </p:sp>
      <p:sp>
        <p:nvSpPr>
          <p:cNvPr id="183" name="Google Shape;183;p2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444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84" name="Google Shape;184;p25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US" sz="4000">
                <a:solidFill>
                  <a:srgbClr val="0B3D59"/>
                </a:solidFill>
              </a:rPr>
              <a:t>PROBLEM STATEMENT</a:t>
            </a:r>
            <a:endParaRPr>
              <a:solidFill>
                <a:srgbClr val="0B3D59"/>
              </a:solidFill>
            </a:endParaRPr>
          </a:p>
        </p:txBody>
      </p:sp>
      <p:sp>
        <p:nvSpPr>
          <p:cNvPr id="190" name="Google Shape;190;p26"/>
          <p:cNvSpPr txBox="1"/>
          <p:nvPr/>
        </p:nvSpPr>
        <p:spPr>
          <a:xfrm>
            <a:off x="413253" y="1501325"/>
            <a:ext cx="7912500" cy="426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139700" lvl="0" marL="3429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Systemic diseases often show </a:t>
            </a:r>
            <a:r>
              <a:rPr b="1"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early visible signs</a:t>
            </a: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 body surfaces like oral cavity, nails, eyes, tongue, and palms, but no existing tool screens for them together. Current approaches work on a single surface at a time, require dedicated capture hardware, or return a result with no confidence score and no explanation. A clinician has little reason to trust or act on this result. In a setting with 781 people per physician, clinicians have no </a:t>
            </a:r>
            <a:r>
              <a:rPr b="1"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fast, evidence-backed</a:t>
            </a: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way to decide which patients should be referred or sent for laboratory confirmation first.</a:t>
            </a:r>
            <a:endParaRPr sz="2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6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7"/>
          <p:cNvSpPr txBox="1"/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B3D59"/>
                </a:solidFill>
              </a:rPr>
              <a:t>PROPOSED SOLUTION AND</a:t>
            </a:r>
            <a:r>
              <a:rPr lang="en-US">
                <a:solidFill>
                  <a:srgbClr val="0B3D59"/>
                </a:solidFill>
              </a:rPr>
              <a:t> </a:t>
            </a:r>
            <a:r>
              <a:rPr lang="en-US">
                <a:solidFill>
                  <a:srgbClr val="0B3D59"/>
                </a:solidFill>
              </a:rPr>
              <a:t>METHODOLOGY</a:t>
            </a:r>
            <a:endParaRPr>
              <a:solidFill>
                <a:srgbClr val="0B3D59"/>
              </a:solidFill>
            </a:endParaRPr>
          </a:p>
        </p:txBody>
      </p:sp>
      <p:sp>
        <p:nvSpPr>
          <p:cNvPr id="197" name="Google Shape;197;p2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444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98" name="Google Shape;198;p27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en-US" sz="4000">
                <a:solidFill>
                  <a:srgbClr val="0B3D59"/>
                </a:solidFill>
              </a:rPr>
              <a:t>PROPOSED SOLUTION</a:t>
            </a:r>
            <a:endParaRPr>
              <a:solidFill>
                <a:srgbClr val="0B3D59"/>
              </a:solidFill>
            </a:endParaRPr>
          </a:p>
        </p:txBody>
      </p:sp>
      <p:sp>
        <p:nvSpPr>
          <p:cNvPr id="204" name="Google Shape;204;p28"/>
          <p:cNvSpPr txBox="1"/>
          <p:nvPr>
            <p:ph idx="1" type="body"/>
          </p:nvPr>
        </p:nvSpPr>
        <p:spPr>
          <a:xfrm>
            <a:off x="457200" y="1461304"/>
            <a:ext cx="8229600" cy="7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556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GLANCE is a clinical decision support system. A clinician captures </a:t>
            </a:r>
            <a:r>
              <a:rPr b="1" lang="en-US" sz="2000"/>
              <a:t>five smartphone photographs</a:t>
            </a:r>
            <a:r>
              <a:rPr lang="en-US" sz="2000"/>
              <a:t>, one per body surface: oral cavity, fingernails, conjunctiva, tongue, and palm.</a:t>
            </a:r>
            <a:endParaRPr sz="2000"/>
          </a:p>
        </p:txBody>
      </p:sp>
      <p:sp>
        <p:nvSpPr>
          <p:cNvPr id="205" name="Google Shape;205;p28"/>
          <p:cNvSpPr txBox="1"/>
          <p:nvPr/>
        </p:nvSpPr>
        <p:spPr>
          <a:xfrm>
            <a:off x="419789" y="2569093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 surface is processed by its own </a:t>
            </a: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ViT-B/16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encoder. A custom </a:t>
            </a: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cross-modal attention fusion transformer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combines the five encoder outputs into one joint assessment.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8"/>
          <p:cNvSpPr txBox="1"/>
          <p:nvPr/>
        </p:nvSpPr>
        <p:spPr>
          <a:xfrm>
            <a:off x="405363" y="372309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system adds three things: a </a:t>
            </a: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confidence score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via Monte Carlo Dropout, an attention-based</a:t>
            </a: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visual explanation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what drove the result, and robustness when a surface image is </a:t>
            </a: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missing or low quality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8"/>
          <p:cNvSpPr txBox="1"/>
          <p:nvPr/>
        </p:nvSpPr>
        <p:spPr>
          <a:xfrm>
            <a:off x="435100" y="4939443"/>
            <a:ext cx="8229600" cy="7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final output is a </a:t>
            </a: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referral-support report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risk indication, confidence and explanation; which is reviewed and acted upon by the clinician.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8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en-US" sz="4000">
                <a:solidFill>
                  <a:srgbClr val="0B3D59"/>
                </a:solidFill>
              </a:rPr>
              <a:t>METHODOLOGY</a:t>
            </a:r>
            <a:endParaRPr>
              <a:solidFill>
                <a:srgbClr val="0B3D59"/>
              </a:solidFill>
            </a:endParaRPr>
          </a:p>
        </p:txBody>
      </p:sp>
      <p:sp>
        <p:nvSpPr>
          <p:cNvPr id="214" name="Google Shape;214;p29"/>
          <p:cNvSpPr/>
          <p:nvPr/>
        </p:nvSpPr>
        <p:spPr>
          <a:xfrm>
            <a:off x="457175" y="1835525"/>
            <a:ext cx="1492500" cy="603300"/>
          </a:xfrm>
          <a:prstGeom prst="roundRect">
            <a:avLst>
              <a:gd fmla="val 9677" name="adj"/>
            </a:avLst>
          </a:prstGeom>
          <a:solidFill>
            <a:srgbClr val="FFFFFF"/>
          </a:solidFill>
          <a:ln cap="flat" cmpd="sng" w="12700">
            <a:solidFill>
              <a:srgbClr val="E1E9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29"/>
          <p:cNvSpPr/>
          <p:nvPr/>
        </p:nvSpPr>
        <p:spPr>
          <a:xfrm>
            <a:off x="457175" y="1835525"/>
            <a:ext cx="1492500" cy="60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32E"/>
              </a:buClr>
              <a:buSzPts val="1150"/>
              <a:buFont typeface="Calibri"/>
              <a:buNone/>
            </a:pPr>
            <a:r>
              <a:rPr b="1" i="0" lang="en-US" sz="1800" u="none" cap="none" strike="noStrike">
                <a:solidFill>
                  <a:srgbClr val="13232E"/>
                </a:solidFill>
                <a:latin typeface="Calibri"/>
                <a:ea typeface="Calibri"/>
                <a:cs typeface="Calibri"/>
                <a:sym typeface="Calibri"/>
              </a:rPr>
              <a:t>Oral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6" name="Google Shape;216;p29"/>
          <p:cNvCxnSpPr/>
          <p:nvPr/>
        </p:nvCxnSpPr>
        <p:spPr>
          <a:xfrm>
            <a:off x="1949803" y="2137211"/>
            <a:ext cx="443700" cy="0"/>
          </a:xfrm>
          <a:prstGeom prst="straightConnector1">
            <a:avLst/>
          </a:prstGeom>
          <a:noFill/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17" name="Google Shape;217;p29"/>
          <p:cNvSpPr/>
          <p:nvPr/>
        </p:nvSpPr>
        <p:spPr>
          <a:xfrm>
            <a:off x="457175" y="2594605"/>
            <a:ext cx="1492500" cy="603300"/>
          </a:xfrm>
          <a:prstGeom prst="roundRect">
            <a:avLst>
              <a:gd fmla="val 9677" name="adj"/>
            </a:avLst>
          </a:prstGeom>
          <a:solidFill>
            <a:srgbClr val="FFFFFF"/>
          </a:solidFill>
          <a:ln cap="flat" cmpd="sng" w="12700">
            <a:solidFill>
              <a:srgbClr val="E1E9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29"/>
          <p:cNvSpPr/>
          <p:nvPr/>
        </p:nvSpPr>
        <p:spPr>
          <a:xfrm>
            <a:off x="457175" y="2594605"/>
            <a:ext cx="1492500" cy="60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32E"/>
              </a:buClr>
              <a:buSzPts val="1150"/>
              <a:buFont typeface="Calibri"/>
              <a:buNone/>
            </a:pPr>
            <a:r>
              <a:rPr b="1" i="0" lang="en-US" sz="1800" u="none" cap="none" strike="noStrike">
                <a:solidFill>
                  <a:srgbClr val="13232E"/>
                </a:solidFill>
                <a:latin typeface="Calibri"/>
                <a:ea typeface="Calibri"/>
                <a:cs typeface="Calibri"/>
                <a:sym typeface="Calibri"/>
              </a:rPr>
              <a:t>Nails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9" name="Google Shape;219;p29"/>
          <p:cNvCxnSpPr/>
          <p:nvPr/>
        </p:nvCxnSpPr>
        <p:spPr>
          <a:xfrm>
            <a:off x="1949803" y="2896291"/>
            <a:ext cx="443700" cy="0"/>
          </a:xfrm>
          <a:prstGeom prst="straightConnector1">
            <a:avLst/>
          </a:prstGeom>
          <a:noFill/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20" name="Google Shape;220;p29"/>
          <p:cNvSpPr/>
          <p:nvPr/>
        </p:nvSpPr>
        <p:spPr>
          <a:xfrm>
            <a:off x="457175" y="3353685"/>
            <a:ext cx="1492500" cy="603300"/>
          </a:xfrm>
          <a:prstGeom prst="roundRect">
            <a:avLst>
              <a:gd fmla="val 9677" name="adj"/>
            </a:avLst>
          </a:prstGeom>
          <a:solidFill>
            <a:srgbClr val="FFFFFF"/>
          </a:solidFill>
          <a:ln cap="flat" cmpd="sng" w="12700">
            <a:solidFill>
              <a:srgbClr val="E1E9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29"/>
          <p:cNvSpPr/>
          <p:nvPr/>
        </p:nvSpPr>
        <p:spPr>
          <a:xfrm>
            <a:off x="457175" y="3353685"/>
            <a:ext cx="1492500" cy="60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32E"/>
              </a:buClr>
              <a:buSzPts val="1150"/>
              <a:buFont typeface="Calibri"/>
              <a:buNone/>
            </a:pPr>
            <a:r>
              <a:rPr b="1" i="0" lang="en-US" sz="1800" u="none" cap="none" strike="noStrike">
                <a:solidFill>
                  <a:srgbClr val="13232E"/>
                </a:solidFill>
                <a:latin typeface="Calibri"/>
                <a:ea typeface="Calibri"/>
                <a:cs typeface="Calibri"/>
                <a:sym typeface="Calibri"/>
              </a:rPr>
              <a:t>Conjunctiva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2" name="Google Shape;222;p29"/>
          <p:cNvCxnSpPr/>
          <p:nvPr/>
        </p:nvCxnSpPr>
        <p:spPr>
          <a:xfrm>
            <a:off x="1949803" y="3655371"/>
            <a:ext cx="443700" cy="0"/>
          </a:xfrm>
          <a:prstGeom prst="straightConnector1">
            <a:avLst/>
          </a:prstGeom>
          <a:noFill/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23" name="Google Shape;223;p29"/>
          <p:cNvSpPr/>
          <p:nvPr/>
        </p:nvSpPr>
        <p:spPr>
          <a:xfrm>
            <a:off x="457175" y="4112765"/>
            <a:ext cx="1492500" cy="603300"/>
          </a:xfrm>
          <a:prstGeom prst="roundRect">
            <a:avLst>
              <a:gd fmla="val 9677" name="adj"/>
            </a:avLst>
          </a:prstGeom>
          <a:solidFill>
            <a:srgbClr val="FFFFFF"/>
          </a:solidFill>
          <a:ln cap="flat" cmpd="sng" w="12700">
            <a:solidFill>
              <a:srgbClr val="E1E9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9"/>
          <p:cNvSpPr/>
          <p:nvPr/>
        </p:nvSpPr>
        <p:spPr>
          <a:xfrm>
            <a:off x="457175" y="4112765"/>
            <a:ext cx="1492500" cy="60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32E"/>
              </a:buClr>
              <a:buSzPts val="1150"/>
              <a:buFont typeface="Calibri"/>
              <a:buNone/>
            </a:pPr>
            <a:r>
              <a:rPr b="1" i="0" lang="en-US" sz="1800" u="none" cap="none" strike="noStrike">
                <a:solidFill>
                  <a:srgbClr val="13232E"/>
                </a:solidFill>
                <a:latin typeface="Calibri"/>
                <a:ea typeface="Calibri"/>
                <a:cs typeface="Calibri"/>
                <a:sym typeface="Calibri"/>
              </a:rPr>
              <a:t>Tongue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5" name="Google Shape;225;p29"/>
          <p:cNvCxnSpPr/>
          <p:nvPr/>
        </p:nvCxnSpPr>
        <p:spPr>
          <a:xfrm>
            <a:off x="1949803" y="4414451"/>
            <a:ext cx="443700" cy="0"/>
          </a:xfrm>
          <a:prstGeom prst="straightConnector1">
            <a:avLst/>
          </a:prstGeom>
          <a:noFill/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26" name="Google Shape;226;p29"/>
          <p:cNvSpPr/>
          <p:nvPr/>
        </p:nvSpPr>
        <p:spPr>
          <a:xfrm>
            <a:off x="457175" y="4871845"/>
            <a:ext cx="1492500" cy="603300"/>
          </a:xfrm>
          <a:prstGeom prst="roundRect">
            <a:avLst>
              <a:gd fmla="val 9677" name="adj"/>
            </a:avLst>
          </a:prstGeom>
          <a:solidFill>
            <a:srgbClr val="FFFFFF"/>
          </a:solidFill>
          <a:ln cap="flat" cmpd="sng" w="12700">
            <a:solidFill>
              <a:srgbClr val="E1E9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29"/>
          <p:cNvSpPr/>
          <p:nvPr/>
        </p:nvSpPr>
        <p:spPr>
          <a:xfrm>
            <a:off x="457175" y="4871845"/>
            <a:ext cx="1492500" cy="60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32E"/>
              </a:buClr>
              <a:buSzPts val="1150"/>
              <a:buFont typeface="Calibri"/>
              <a:buNone/>
            </a:pPr>
            <a:r>
              <a:rPr b="1" i="0" lang="en-US" sz="1800" u="none" cap="none" strike="noStrike">
                <a:solidFill>
                  <a:srgbClr val="13232E"/>
                </a:solidFill>
                <a:latin typeface="Calibri"/>
                <a:ea typeface="Calibri"/>
                <a:cs typeface="Calibri"/>
                <a:sym typeface="Calibri"/>
              </a:rPr>
              <a:t>Palm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8" name="Google Shape;228;p29"/>
          <p:cNvCxnSpPr/>
          <p:nvPr/>
        </p:nvCxnSpPr>
        <p:spPr>
          <a:xfrm>
            <a:off x="1949803" y="5173530"/>
            <a:ext cx="443700" cy="0"/>
          </a:xfrm>
          <a:prstGeom prst="straightConnector1">
            <a:avLst/>
          </a:prstGeom>
          <a:noFill/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29" name="Google Shape;229;p29"/>
          <p:cNvSpPr/>
          <p:nvPr/>
        </p:nvSpPr>
        <p:spPr>
          <a:xfrm>
            <a:off x="2393557" y="1835525"/>
            <a:ext cx="1734600" cy="603300"/>
          </a:xfrm>
          <a:prstGeom prst="roundRect">
            <a:avLst>
              <a:gd fmla="val 9677" name="adj"/>
            </a:avLst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9"/>
          <p:cNvSpPr/>
          <p:nvPr/>
        </p:nvSpPr>
        <p:spPr>
          <a:xfrm>
            <a:off x="2393557" y="1835525"/>
            <a:ext cx="1734600" cy="60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ViT-B/16 encoder</a:t>
            </a:r>
            <a:endParaRPr b="0" i="0" sz="1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1" name="Google Shape;231;p29"/>
          <p:cNvCxnSpPr/>
          <p:nvPr/>
        </p:nvCxnSpPr>
        <p:spPr>
          <a:xfrm>
            <a:off x="4128233" y="2137211"/>
            <a:ext cx="403500" cy="0"/>
          </a:xfrm>
          <a:prstGeom prst="straightConnector1">
            <a:avLst/>
          </a:prstGeom>
          <a:noFill/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" name="Google Shape;232;p29"/>
          <p:cNvSpPr/>
          <p:nvPr/>
        </p:nvSpPr>
        <p:spPr>
          <a:xfrm>
            <a:off x="2393557" y="2594605"/>
            <a:ext cx="1734600" cy="603300"/>
          </a:xfrm>
          <a:prstGeom prst="roundRect">
            <a:avLst>
              <a:gd fmla="val 9677" name="adj"/>
            </a:avLst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29"/>
          <p:cNvSpPr/>
          <p:nvPr/>
        </p:nvSpPr>
        <p:spPr>
          <a:xfrm>
            <a:off x="2393557" y="2594605"/>
            <a:ext cx="1734600" cy="60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ViT-B/16 encoder</a:t>
            </a:r>
            <a:endParaRPr b="0" i="0" sz="1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4" name="Google Shape;234;p29"/>
          <p:cNvCxnSpPr/>
          <p:nvPr/>
        </p:nvCxnSpPr>
        <p:spPr>
          <a:xfrm>
            <a:off x="4128233" y="2896291"/>
            <a:ext cx="403500" cy="0"/>
          </a:xfrm>
          <a:prstGeom prst="straightConnector1">
            <a:avLst/>
          </a:prstGeom>
          <a:noFill/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5" name="Google Shape;235;p29"/>
          <p:cNvSpPr/>
          <p:nvPr/>
        </p:nvSpPr>
        <p:spPr>
          <a:xfrm>
            <a:off x="2393557" y="3353685"/>
            <a:ext cx="1734600" cy="603300"/>
          </a:xfrm>
          <a:prstGeom prst="roundRect">
            <a:avLst>
              <a:gd fmla="val 9677" name="adj"/>
            </a:avLst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29"/>
          <p:cNvSpPr/>
          <p:nvPr/>
        </p:nvSpPr>
        <p:spPr>
          <a:xfrm>
            <a:off x="2393557" y="3353685"/>
            <a:ext cx="1734600" cy="60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ViT-B/16 encoder</a:t>
            </a:r>
            <a:endParaRPr b="0" i="0" sz="1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7" name="Google Shape;237;p29"/>
          <p:cNvCxnSpPr/>
          <p:nvPr/>
        </p:nvCxnSpPr>
        <p:spPr>
          <a:xfrm>
            <a:off x="4128233" y="3655371"/>
            <a:ext cx="403500" cy="0"/>
          </a:xfrm>
          <a:prstGeom prst="straightConnector1">
            <a:avLst/>
          </a:prstGeom>
          <a:noFill/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8" name="Google Shape;238;p29"/>
          <p:cNvSpPr/>
          <p:nvPr/>
        </p:nvSpPr>
        <p:spPr>
          <a:xfrm>
            <a:off x="2393557" y="4112765"/>
            <a:ext cx="1734600" cy="603300"/>
          </a:xfrm>
          <a:prstGeom prst="roundRect">
            <a:avLst>
              <a:gd fmla="val 9677" name="adj"/>
            </a:avLst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29"/>
          <p:cNvSpPr/>
          <p:nvPr/>
        </p:nvSpPr>
        <p:spPr>
          <a:xfrm>
            <a:off x="2393557" y="4112765"/>
            <a:ext cx="1734600" cy="60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ViT-B/16 encoder</a:t>
            </a:r>
            <a:endParaRPr b="0" i="0" sz="1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0" name="Google Shape;240;p29"/>
          <p:cNvCxnSpPr/>
          <p:nvPr/>
        </p:nvCxnSpPr>
        <p:spPr>
          <a:xfrm>
            <a:off x="4128233" y="4414451"/>
            <a:ext cx="403500" cy="0"/>
          </a:xfrm>
          <a:prstGeom prst="straightConnector1">
            <a:avLst/>
          </a:prstGeom>
          <a:noFill/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1" name="Google Shape;241;p29"/>
          <p:cNvSpPr/>
          <p:nvPr/>
        </p:nvSpPr>
        <p:spPr>
          <a:xfrm>
            <a:off x="2393557" y="4871845"/>
            <a:ext cx="1734600" cy="603300"/>
          </a:xfrm>
          <a:prstGeom prst="roundRect">
            <a:avLst>
              <a:gd fmla="val 9677" name="adj"/>
            </a:avLst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29"/>
          <p:cNvSpPr/>
          <p:nvPr/>
        </p:nvSpPr>
        <p:spPr>
          <a:xfrm>
            <a:off x="2393557" y="4871845"/>
            <a:ext cx="1734600" cy="60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ViT-B/16 encoder</a:t>
            </a:r>
            <a:endParaRPr b="0" i="0" sz="1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3" name="Google Shape;243;p29"/>
          <p:cNvCxnSpPr/>
          <p:nvPr/>
        </p:nvCxnSpPr>
        <p:spPr>
          <a:xfrm>
            <a:off x="4128233" y="5173530"/>
            <a:ext cx="403500" cy="0"/>
          </a:xfrm>
          <a:prstGeom prst="straightConnector1">
            <a:avLst/>
          </a:prstGeom>
          <a:noFill/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4" name="Google Shape;244;p29"/>
          <p:cNvCxnSpPr/>
          <p:nvPr/>
        </p:nvCxnSpPr>
        <p:spPr>
          <a:xfrm>
            <a:off x="4530839" y="2137211"/>
            <a:ext cx="900" cy="1518300"/>
          </a:xfrm>
          <a:prstGeom prst="straightConnector1">
            <a:avLst/>
          </a:prstGeom>
          <a:noFill/>
          <a:ln cap="flat" cmpd="sng" w="12700">
            <a:solidFill>
              <a:srgbClr val="02C39A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45" name="Google Shape;245;p29"/>
          <p:cNvCxnSpPr/>
          <p:nvPr/>
        </p:nvCxnSpPr>
        <p:spPr>
          <a:xfrm>
            <a:off x="4530839" y="2896291"/>
            <a:ext cx="900" cy="759000"/>
          </a:xfrm>
          <a:prstGeom prst="straightConnector1">
            <a:avLst/>
          </a:prstGeom>
          <a:noFill/>
          <a:ln cap="flat" cmpd="sng" w="12700">
            <a:solidFill>
              <a:srgbClr val="02C39A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46" name="Google Shape;246;p29"/>
          <p:cNvCxnSpPr/>
          <p:nvPr/>
        </p:nvCxnSpPr>
        <p:spPr>
          <a:xfrm>
            <a:off x="4530839" y="3655371"/>
            <a:ext cx="900" cy="0"/>
          </a:xfrm>
          <a:prstGeom prst="straightConnector1">
            <a:avLst/>
          </a:prstGeom>
          <a:noFill/>
          <a:ln cap="flat" cmpd="sng" w="12700">
            <a:solidFill>
              <a:srgbClr val="02C39A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47" name="Google Shape;247;p29"/>
          <p:cNvCxnSpPr/>
          <p:nvPr/>
        </p:nvCxnSpPr>
        <p:spPr>
          <a:xfrm flipH="1" rot="10800000">
            <a:off x="4530839" y="3655451"/>
            <a:ext cx="900" cy="759000"/>
          </a:xfrm>
          <a:prstGeom prst="straightConnector1">
            <a:avLst/>
          </a:prstGeom>
          <a:noFill/>
          <a:ln cap="flat" cmpd="sng" w="12700">
            <a:solidFill>
              <a:srgbClr val="02C39A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48" name="Google Shape;248;p29"/>
          <p:cNvCxnSpPr/>
          <p:nvPr/>
        </p:nvCxnSpPr>
        <p:spPr>
          <a:xfrm flipH="1" rot="10800000">
            <a:off x="4530839" y="3655230"/>
            <a:ext cx="900" cy="1518300"/>
          </a:xfrm>
          <a:prstGeom prst="straightConnector1">
            <a:avLst/>
          </a:prstGeom>
          <a:noFill/>
          <a:ln cap="flat" cmpd="sng" w="12700">
            <a:solidFill>
              <a:srgbClr val="02C39A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49" name="Google Shape;249;p29"/>
          <p:cNvSpPr/>
          <p:nvPr/>
        </p:nvSpPr>
        <p:spPr>
          <a:xfrm>
            <a:off x="4531646" y="1835525"/>
            <a:ext cx="2178600" cy="3639900"/>
          </a:xfrm>
          <a:prstGeom prst="roundRect">
            <a:avLst>
              <a:gd fmla="val 2963" name="adj"/>
            </a:avLst>
          </a:prstGeom>
          <a:solidFill>
            <a:srgbClr val="0B3D59"/>
          </a:solidFill>
          <a:ln>
            <a:noFill/>
          </a:ln>
          <a:effectLst>
            <a:outerShdw blurRad="76200" rotWithShape="0" algn="bl" dir="54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29"/>
          <p:cNvSpPr/>
          <p:nvPr/>
        </p:nvSpPr>
        <p:spPr>
          <a:xfrm>
            <a:off x="4612328" y="1835525"/>
            <a:ext cx="2017200" cy="3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mbria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Cross-Modal</a:t>
            </a:r>
            <a:endParaRPr b="0" i="0" sz="1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mbria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Attention</a:t>
            </a:r>
            <a:endParaRPr b="0" i="0" sz="1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mbria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Fusion</a:t>
            </a:r>
            <a:endParaRPr b="0" i="0" sz="1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mbria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Transformer</a:t>
            </a:r>
            <a:endParaRPr b="0" i="0" sz="1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1" name="Google Shape;251;p29"/>
          <p:cNvCxnSpPr/>
          <p:nvPr/>
        </p:nvCxnSpPr>
        <p:spPr>
          <a:xfrm>
            <a:off x="6710076" y="3655371"/>
            <a:ext cx="403500" cy="0"/>
          </a:xfrm>
          <a:prstGeom prst="straightConnector1">
            <a:avLst/>
          </a:prstGeom>
          <a:noFill/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52" name="Google Shape;252;p29"/>
          <p:cNvSpPr/>
          <p:nvPr/>
        </p:nvSpPr>
        <p:spPr>
          <a:xfrm>
            <a:off x="7113489" y="1835525"/>
            <a:ext cx="1573200" cy="827400"/>
          </a:xfrm>
          <a:prstGeom prst="roundRect">
            <a:avLst>
              <a:gd fmla="val 7059" name="adj"/>
            </a:avLst>
          </a:prstGeom>
          <a:solidFill>
            <a:srgbClr val="FFFFFF"/>
          </a:solidFill>
          <a:ln cap="flat" cmpd="sng" w="15875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9"/>
          <p:cNvSpPr/>
          <p:nvPr/>
        </p:nvSpPr>
        <p:spPr>
          <a:xfrm>
            <a:off x="7113489" y="1835525"/>
            <a:ext cx="15732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3D59"/>
              </a:buClr>
              <a:buSzPts val="1000"/>
              <a:buFont typeface="Calibri"/>
              <a:buNone/>
            </a:pPr>
            <a:r>
              <a:rPr b="1" i="0" lang="en-US" sz="1600" u="none" cap="none" strike="noStrike">
                <a:solidFill>
                  <a:srgbClr val="0B3D59"/>
                </a:solidFill>
                <a:latin typeface="Calibri"/>
                <a:ea typeface="Calibri"/>
                <a:cs typeface="Calibri"/>
                <a:sym typeface="Calibri"/>
              </a:rPr>
              <a:t>Risk score</a:t>
            </a:r>
            <a:endParaRPr b="0" i="0" sz="1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9"/>
          <p:cNvSpPr/>
          <p:nvPr/>
        </p:nvSpPr>
        <p:spPr>
          <a:xfrm>
            <a:off x="7113489" y="2784375"/>
            <a:ext cx="1573200" cy="827400"/>
          </a:xfrm>
          <a:prstGeom prst="roundRect">
            <a:avLst>
              <a:gd fmla="val 7059" name="adj"/>
            </a:avLst>
          </a:prstGeom>
          <a:solidFill>
            <a:srgbClr val="FFFFFF"/>
          </a:solidFill>
          <a:ln cap="flat" cmpd="sng" w="15875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9"/>
          <p:cNvSpPr/>
          <p:nvPr/>
        </p:nvSpPr>
        <p:spPr>
          <a:xfrm>
            <a:off x="7113489" y="2784375"/>
            <a:ext cx="15732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3D59"/>
              </a:buClr>
              <a:buSzPts val="1000"/>
              <a:buFont typeface="Calibri"/>
              <a:buNone/>
            </a:pPr>
            <a:r>
              <a:rPr b="1" i="0" lang="en-US" sz="1600" u="none" cap="none" strike="noStrike">
                <a:solidFill>
                  <a:srgbClr val="0B3D59"/>
                </a:solidFill>
                <a:latin typeface="Calibri"/>
                <a:ea typeface="Calibri"/>
                <a:cs typeface="Calibri"/>
                <a:sym typeface="Calibri"/>
              </a:rPr>
              <a:t>Uncertainty</a:t>
            </a:r>
            <a:endParaRPr b="0" i="0" sz="1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3D59"/>
              </a:buClr>
              <a:buSzPts val="1000"/>
              <a:buFont typeface="Calibri"/>
              <a:buNone/>
            </a:pPr>
            <a:r>
              <a:rPr b="1" i="0" lang="en-US" sz="1600" u="none" cap="none" strike="noStrike">
                <a:solidFill>
                  <a:srgbClr val="0B3D59"/>
                </a:solidFill>
                <a:latin typeface="Calibri"/>
                <a:ea typeface="Calibri"/>
                <a:cs typeface="Calibri"/>
                <a:sym typeface="Calibri"/>
              </a:rPr>
              <a:t>(MC Dropout)</a:t>
            </a:r>
            <a:endParaRPr b="0" i="0" sz="1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9"/>
          <p:cNvSpPr/>
          <p:nvPr/>
        </p:nvSpPr>
        <p:spPr>
          <a:xfrm>
            <a:off x="7113489" y="3733225"/>
            <a:ext cx="1573200" cy="827400"/>
          </a:xfrm>
          <a:prstGeom prst="roundRect">
            <a:avLst>
              <a:gd fmla="val 7059" name="adj"/>
            </a:avLst>
          </a:prstGeom>
          <a:solidFill>
            <a:srgbClr val="FFFFFF"/>
          </a:solidFill>
          <a:ln cap="flat" cmpd="sng" w="15875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29"/>
          <p:cNvSpPr/>
          <p:nvPr/>
        </p:nvSpPr>
        <p:spPr>
          <a:xfrm>
            <a:off x="7113489" y="3733225"/>
            <a:ext cx="15732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3D59"/>
              </a:buClr>
              <a:buSzPts val="1000"/>
              <a:buFont typeface="Calibri"/>
              <a:buNone/>
            </a:pPr>
            <a:r>
              <a:rPr b="1" lang="en-US" sz="1600">
                <a:solidFill>
                  <a:srgbClr val="0B3D59"/>
                </a:solidFill>
                <a:latin typeface="Calibri"/>
                <a:ea typeface="Calibri"/>
                <a:cs typeface="Calibri"/>
                <a:sym typeface="Calibri"/>
              </a:rPr>
              <a:t>Attention map</a:t>
            </a:r>
            <a:endParaRPr b="0" i="0" sz="1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9"/>
          <p:cNvSpPr/>
          <p:nvPr/>
        </p:nvSpPr>
        <p:spPr>
          <a:xfrm>
            <a:off x="7113489" y="4682075"/>
            <a:ext cx="1573200" cy="827400"/>
          </a:xfrm>
          <a:prstGeom prst="roundRect">
            <a:avLst>
              <a:gd fmla="val 7059" name="adj"/>
            </a:avLst>
          </a:prstGeom>
          <a:solidFill>
            <a:srgbClr val="FFFFFF"/>
          </a:solidFill>
          <a:ln cap="flat" cmpd="sng" w="15875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29"/>
          <p:cNvSpPr/>
          <p:nvPr/>
        </p:nvSpPr>
        <p:spPr>
          <a:xfrm>
            <a:off x="7113489" y="4682075"/>
            <a:ext cx="15732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3D59"/>
              </a:buClr>
              <a:buSzPts val="1000"/>
              <a:buFont typeface="Calibri"/>
              <a:buNone/>
            </a:pPr>
            <a:r>
              <a:rPr b="1" lang="en-US" sz="1600">
                <a:solidFill>
                  <a:srgbClr val="0B3D59"/>
                </a:solidFill>
                <a:latin typeface="Calibri"/>
                <a:ea typeface="Calibri"/>
                <a:cs typeface="Calibri"/>
                <a:sym typeface="Calibri"/>
              </a:rPr>
              <a:t>Modality Contribution Breakdown</a:t>
            </a:r>
            <a:endParaRPr b="0" i="0" sz="1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9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B3D59"/>
                </a:solidFill>
              </a:rPr>
              <a:t>PROJECT SCOPE</a:t>
            </a:r>
            <a:endParaRPr>
              <a:solidFill>
                <a:srgbClr val="0B3D59"/>
              </a:solidFill>
            </a:endParaRPr>
          </a:p>
        </p:txBody>
      </p:sp>
      <p:sp>
        <p:nvSpPr>
          <p:cNvPr id="266" name="Google Shape;266;p3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444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67" name="Google Shape;267;p30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US" sz="4000">
                <a:solidFill>
                  <a:srgbClr val="0B3D59"/>
                </a:solidFill>
              </a:rPr>
              <a:t>PROJECT SCOPE</a:t>
            </a:r>
            <a:endParaRPr/>
          </a:p>
        </p:txBody>
      </p:sp>
      <p:sp>
        <p:nvSpPr>
          <p:cNvPr id="273" name="Google Shape;273;p31"/>
          <p:cNvSpPr txBox="1"/>
          <p:nvPr>
            <p:ph idx="1" type="body"/>
          </p:nvPr>
        </p:nvSpPr>
        <p:spPr>
          <a:xfrm>
            <a:off x="457200" y="1268826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b="1" lang="en-US" sz="2000"/>
              <a:t>Clinician</a:t>
            </a:r>
            <a:r>
              <a:rPr b="1" lang="en-US" sz="2000"/>
              <a:t> facing cross-platform mobile application</a:t>
            </a:r>
            <a:r>
              <a:rPr lang="en-US" sz="2000"/>
              <a:t> for capturing and body-surface images, and reviewing decision support output.</a:t>
            </a:r>
            <a:endParaRPr sz="2000"/>
          </a:p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Screening across </a:t>
            </a:r>
            <a:r>
              <a:rPr b="1" lang="en-US" sz="2000"/>
              <a:t>five body surfaces</a:t>
            </a:r>
            <a:r>
              <a:rPr lang="en-US" sz="2000"/>
              <a:t>: oral cavity, fingernails, conjunctiva, tongue, palm, with a modular design allowing a surface to be substituted if needed</a:t>
            </a:r>
            <a:endParaRPr sz="2000"/>
          </a:p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Custom </a:t>
            </a:r>
            <a:r>
              <a:rPr b="1" lang="en-US" sz="2000"/>
              <a:t>cross-modal attention fusion </a:t>
            </a:r>
            <a:r>
              <a:rPr lang="en-US" sz="2000"/>
              <a:t>transformer, built in PyTorch</a:t>
            </a:r>
            <a:endParaRPr sz="2000"/>
          </a:p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Monte Carlo Dropout for </a:t>
            </a:r>
            <a:r>
              <a:rPr b="1" lang="en-US" sz="2000"/>
              <a:t>uncertainty estimation</a:t>
            </a:r>
            <a:endParaRPr b="1" sz="2000"/>
          </a:p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Attention-based </a:t>
            </a:r>
            <a:r>
              <a:rPr b="1" lang="en-US" sz="2000"/>
              <a:t>Visual explanation</a:t>
            </a:r>
            <a:r>
              <a:rPr lang="en-US" sz="2000"/>
              <a:t> showing which regions influenced the result</a:t>
            </a:r>
            <a:endParaRPr sz="2000"/>
          </a:p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b="1" lang="en-US" sz="2000"/>
              <a:t>Missing-modality robustness</a:t>
            </a:r>
            <a:r>
              <a:rPr lang="en-US" sz="2000"/>
              <a:t> handling</a:t>
            </a:r>
            <a:endParaRPr sz="2000"/>
          </a:p>
        </p:txBody>
      </p:sp>
      <p:sp>
        <p:nvSpPr>
          <p:cNvPr id="274" name="Google Shape;274;p3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2"/>
          <p:cNvSpPr txBox="1"/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B3D59"/>
                </a:solidFill>
              </a:rPr>
              <a:t>Challenges and Risk Mitigation</a:t>
            </a:r>
            <a:endParaRPr>
              <a:solidFill>
                <a:srgbClr val="0B3D59"/>
              </a:solidFill>
            </a:endParaRPr>
          </a:p>
        </p:txBody>
      </p:sp>
      <p:sp>
        <p:nvSpPr>
          <p:cNvPr id="280" name="Google Shape;280;p32"/>
          <p:cNvSpPr txBox="1"/>
          <p:nvPr>
            <p:ph idx="1" type="body"/>
          </p:nvPr>
        </p:nvSpPr>
        <p:spPr>
          <a:xfrm>
            <a:off x="722313" y="2906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444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81" name="Google Shape;281;p32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en-US" sz="4000">
                <a:solidFill>
                  <a:srgbClr val="0B3D59"/>
                </a:solidFill>
              </a:rPr>
              <a:t>Challenges</a:t>
            </a:r>
            <a:endParaRPr/>
          </a:p>
        </p:txBody>
      </p:sp>
      <p:sp>
        <p:nvSpPr>
          <p:cNvPr id="287" name="Google Shape;287;p33"/>
          <p:cNvSpPr txBox="1"/>
          <p:nvPr/>
        </p:nvSpPr>
        <p:spPr>
          <a:xfrm>
            <a:off x="342900" y="1418725"/>
            <a:ext cx="8343900" cy="4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○"/>
            </a:pP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 imbalance varies across modalities, 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 each modality requires its own mitigation strategy.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○"/>
            </a:pP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Fusing five independent encoders into one coherent model.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Cross-modal attention fusion is the core contribution and the highest-risk component. No prior system fuses this many surfaces this way.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○"/>
            </a:pP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Explainability on Vision Transformers.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Standard Grad-CAM doesn't apply to ViT architectures. They require an attention-based method adapted specifically for transformers.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○"/>
            </a:pP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Domain Shift: 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Domain gap between training data and real-world captures.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</a:endParaRPr>
          </a:p>
        </p:txBody>
      </p:sp>
      <p:sp>
        <p:nvSpPr>
          <p:cNvPr id="288" name="Google Shape;288;p3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en-US" sz="4000">
                <a:solidFill>
                  <a:srgbClr val="0B3D59"/>
                </a:solidFill>
              </a:rPr>
              <a:t>Risk Mitigation</a:t>
            </a:r>
            <a:endParaRPr b="1" sz="4000">
              <a:solidFill>
                <a:srgbClr val="0B3D59"/>
              </a:solidFill>
            </a:endParaRPr>
          </a:p>
        </p:txBody>
      </p:sp>
      <p:sp>
        <p:nvSpPr>
          <p:cNvPr id="294" name="Google Shape;294;p34"/>
          <p:cNvSpPr txBox="1"/>
          <p:nvPr/>
        </p:nvSpPr>
        <p:spPr>
          <a:xfrm>
            <a:off x="342900" y="1314647"/>
            <a:ext cx="8343900" cy="4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93700" lvl="0" marL="457200" rtl="0" algn="just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○"/>
            </a:pP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Fusion underperforms: 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fall back to a concatenation + MLP fusion head as lower-complexity backup architecture which requires less data.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93700" lvl="0" marL="457200" rtl="0" algn="just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○"/>
            </a:pP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 imbalance: 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per-modality class weighting and targeted augmentation, plus additional datasets (Berlin OSCC, IBM Research Israel) sought for the OSCC class specifically.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93700" lvl="0" marL="457200" rtl="0" algn="just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○"/>
            </a:pP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ViT explainability: 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attention rollout and transformer-adapted attribution, validated against annotated lesion regions.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93700" lvl="0" marL="457200" rtl="0" algn="just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○"/>
            </a:pP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Domain shift: 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photometric augmentation, plus capture-time quality checks that reject blurred or poorly lit images before inference.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34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5"/>
          <p:cNvSpPr txBox="1"/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B3D59"/>
                </a:solidFill>
              </a:rPr>
              <a:t>Work Breakdown &amp; Structure</a:t>
            </a:r>
            <a:endParaRPr>
              <a:solidFill>
                <a:srgbClr val="0B3D59"/>
              </a:solidFill>
            </a:endParaRPr>
          </a:p>
        </p:txBody>
      </p:sp>
      <p:sp>
        <p:nvSpPr>
          <p:cNvPr id="301" name="Google Shape;301;p35"/>
          <p:cNvSpPr txBox="1"/>
          <p:nvPr>
            <p:ph idx="1" type="body"/>
          </p:nvPr>
        </p:nvSpPr>
        <p:spPr>
          <a:xfrm>
            <a:off x="722313" y="2906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444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302" name="Google Shape;302;p35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6"/>
          <p:cNvSpPr txBox="1"/>
          <p:nvPr>
            <p:ph type="title"/>
          </p:nvPr>
        </p:nvSpPr>
        <p:spPr>
          <a:xfrm>
            <a:off x="457200" y="10174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en-US" sz="4000">
                <a:solidFill>
                  <a:srgbClr val="0B3D59"/>
                </a:solidFill>
              </a:rPr>
              <a:t>Work Breakdown</a:t>
            </a:r>
            <a:endParaRPr/>
          </a:p>
        </p:txBody>
      </p:sp>
      <p:sp>
        <p:nvSpPr>
          <p:cNvPr id="308" name="Google Shape;308;p36"/>
          <p:cNvSpPr txBox="1"/>
          <p:nvPr/>
        </p:nvSpPr>
        <p:spPr>
          <a:xfrm>
            <a:off x="342900" y="1101759"/>
            <a:ext cx="8343900" cy="4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B3D59"/>
                </a:solidFill>
                <a:latin typeface="Calibri"/>
                <a:ea typeface="Calibri"/>
                <a:cs typeface="Calibri"/>
                <a:sym typeface="Calibri"/>
              </a:rPr>
              <a:t>Phase 1: Proposal &amp; Literature Foundation (Weeks 1–4)</a:t>
            </a:r>
            <a:b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Finalize literature review, gap analysis, problem statement. Build and deliver proposal presentation.</a:t>
            </a:r>
            <a:endParaRPr i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B3D59"/>
                </a:solidFill>
                <a:latin typeface="Calibri"/>
                <a:ea typeface="Calibri"/>
                <a:cs typeface="Calibri"/>
                <a:sym typeface="Calibri"/>
              </a:rPr>
              <a:t>Phase 2: Data Pipeline &amp; Preprocessing (Weeks 5–7)</a:t>
            </a:r>
            <a:b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Collect and standardize all five modality datasets. Address class imbalance. Build train/validation/test splits.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B3D59"/>
                </a:solidFill>
                <a:latin typeface="Calibri"/>
                <a:ea typeface="Calibri"/>
                <a:cs typeface="Calibri"/>
                <a:sym typeface="Calibri"/>
              </a:rPr>
              <a:t>Phase 3: Encoder &amp; Fusion Development (Weeks 8–10)</a:t>
            </a:r>
            <a:br>
              <a:rPr b="1" lang="en-US" sz="2000">
                <a:solidFill>
                  <a:srgbClr val="0B3D59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Train five ViT-B/16 specialist encoders. Implement the cross-modal attention fusion transformer, designed to handle a missing modality input. Begin mobile app development in parallel.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36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7"/>
          <p:cNvSpPr txBox="1"/>
          <p:nvPr>
            <p:ph type="title"/>
          </p:nvPr>
        </p:nvSpPr>
        <p:spPr>
          <a:xfrm>
            <a:off x="457200" y="182041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US" sz="4000">
                <a:solidFill>
                  <a:srgbClr val="0B3D59"/>
                </a:solidFill>
              </a:rPr>
              <a:t>Work Breakdown</a:t>
            </a:r>
            <a:endParaRPr/>
          </a:p>
        </p:txBody>
      </p:sp>
      <p:sp>
        <p:nvSpPr>
          <p:cNvPr id="315" name="Google Shape;315;p37"/>
          <p:cNvSpPr txBox="1"/>
          <p:nvPr/>
        </p:nvSpPr>
        <p:spPr>
          <a:xfrm>
            <a:off x="342900" y="1418725"/>
            <a:ext cx="8343900" cy="4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100">
                <a:solidFill>
                  <a:srgbClr val="0B3D59"/>
                </a:solidFill>
                <a:latin typeface="Calibri"/>
                <a:ea typeface="Calibri"/>
                <a:cs typeface="Calibri"/>
                <a:sym typeface="Calibri"/>
              </a:rPr>
              <a:t>Phase 4: Model Testing &amp; App Integration (Weeks 11–13)</a:t>
            </a:r>
            <a:br>
              <a:rPr b="1"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Full model training and evaluation. Continue app development, connect app to the model pipeline end-to-end.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100">
                <a:solidFill>
                  <a:srgbClr val="0B3D59"/>
                </a:solidFill>
                <a:latin typeface="Calibri"/>
                <a:ea typeface="Calibri"/>
                <a:cs typeface="Calibri"/>
                <a:sym typeface="Calibri"/>
              </a:rPr>
              <a:t>Phase 5: Integration, Testing &amp; Documentation (Weeks 14–16)</a:t>
            </a:r>
            <a:br>
              <a:rPr b="1" lang="en-US" sz="2100">
                <a:solidFill>
                  <a:srgbClr val="0B3D59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Final integration testing between app and model. Benchmark against literature baselines. Finalize documentation.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100">
                <a:solidFill>
                  <a:srgbClr val="0B3D59"/>
                </a:solidFill>
                <a:latin typeface="Calibri"/>
                <a:ea typeface="Calibri"/>
                <a:cs typeface="Calibri"/>
                <a:sym typeface="Calibri"/>
              </a:rPr>
              <a:t>Phase 6: Part 1 Defense Prep (After Finals)</a:t>
            </a:r>
            <a:br>
              <a:rPr b="1"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Rehearse and deliver Part 1 Defense.</a:t>
            </a:r>
            <a:endParaRPr b="1"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37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3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4400">
                <a:solidFill>
                  <a:srgbClr val="0B3D59"/>
                </a:solidFill>
              </a:rPr>
              <a:t>Roles &amp; Responsibilities</a:t>
            </a:r>
            <a:endParaRPr/>
          </a:p>
        </p:txBody>
      </p:sp>
      <p:sp>
        <p:nvSpPr>
          <p:cNvPr id="322" name="Google Shape;322;p3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444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323" name="Google Shape;323;p38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B3D59"/>
                </a:solidFill>
              </a:rPr>
              <a:t>Roles &amp; Responsibilities</a:t>
            </a:r>
            <a:endParaRPr>
              <a:solidFill>
                <a:srgbClr val="0B3D59"/>
              </a:solidFill>
            </a:endParaRPr>
          </a:p>
        </p:txBody>
      </p:sp>
      <p:graphicFrame>
        <p:nvGraphicFramePr>
          <p:cNvPr id="329" name="Google Shape;329;p39"/>
          <p:cNvGraphicFramePr/>
          <p:nvPr/>
        </p:nvGraphicFramePr>
        <p:xfrm>
          <a:off x="457200" y="15563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{D3DC4119-14DB-422D-BA40-32E6E3949163}</a:tableStyleId>
              </a:tblPr>
              <a:tblGrid>
                <a:gridCol w="2720975"/>
                <a:gridCol w="2720975"/>
                <a:gridCol w="2720975"/>
              </a:tblGrid>
              <a:tr h="469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Member</a:t>
                      </a:r>
                      <a:endParaRPr b="1" sz="2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Role</a:t>
                      </a:r>
                      <a:endParaRPr b="1" sz="2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Responsibilities</a:t>
                      </a:r>
                      <a:endParaRPr b="1" sz="2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1C7293"/>
                    </a:solidFill>
                  </a:tcPr>
                </a:tc>
              </a:tr>
              <a:tr h="16272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Sir Islam Abbasi</a:t>
                      </a:r>
                      <a:endParaRPr b="1"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 Supervisor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Provides technical guidance, reviews progress at each milestone, approves scope and methodology decisions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</a:tr>
              <a:tr h="16272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Jaffar</a:t>
                      </a:r>
                      <a:endParaRPr b="1"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 Lead + Oral Cavity Pipeline + Fusion Lead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Oral cavity pipeline; cross-modal fusion; 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backend API;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overall coordination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330" name="Google Shape;330;p39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B3D59"/>
                </a:solidFill>
              </a:rPr>
              <a:t>Roles &amp; Responsibilities</a:t>
            </a:r>
            <a:endParaRPr>
              <a:solidFill>
                <a:srgbClr val="0B3D59"/>
              </a:solidFill>
            </a:endParaRPr>
          </a:p>
        </p:txBody>
      </p:sp>
      <p:graphicFrame>
        <p:nvGraphicFramePr>
          <p:cNvPr id="336" name="Google Shape;336;p40"/>
          <p:cNvGraphicFramePr/>
          <p:nvPr/>
        </p:nvGraphicFramePr>
        <p:xfrm>
          <a:off x="457200" y="15563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{D3DC4119-14DB-422D-BA40-32E6E3949163}</a:tableStyleId>
              </a:tblPr>
              <a:tblGrid>
                <a:gridCol w="2720975"/>
                <a:gridCol w="2720975"/>
                <a:gridCol w="2720975"/>
              </a:tblGrid>
              <a:tr h="469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Member</a:t>
                      </a:r>
                      <a:endParaRPr b="1" sz="2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Role</a:t>
                      </a:r>
                      <a:endParaRPr b="1" sz="2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Responsibilities</a:t>
                      </a:r>
                      <a:endParaRPr b="1" sz="2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solidFill>
                      <a:srgbClr val="1C7293"/>
                    </a:solidFill>
                  </a:tcPr>
                </a:tc>
              </a:tr>
              <a:tr h="11406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Shahroz</a:t>
                      </a:r>
                      <a:endParaRPr b="1"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Palm &amp; Conjunctiva Pipelines</a:t>
                      </a:r>
                      <a:r>
                        <a:rPr lang="en-US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+ </a:t>
                      </a: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Deployment Lead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Full pipeline for palm and conjunctiva (data, encoder, evaluation)</a:t>
                      </a:r>
                      <a:r>
                        <a:rPr lang="en-US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handles deployment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</a:tr>
              <a:tr h="23963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Sarmad</a:t>
                      </a:r>
                      <a:endParaRPr b="1"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Tongue &amp; Fingernail Pipelines</a:t>
                      </a:r>
                      <a:r>
                        <a:rPr lang="en-US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+ </a:t>
                      </a: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 Lead </a:t>
                      </a:r>
                      <a:r>
                        <a:rPr lang="en-US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Full pipeline for tongue and nail (data, encoder, evaluation); App development and app-to-model integration</a:t>
                      </a:r>
                      <a:endParaRPr b="1"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337" name="Google Shape;337;p40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1"/>
          <p:cNvSpPr txBox="1"/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4400">
                <a:solidFill>
                  <a:srgbClr val="0B3D59"/>
                </a:solidFill>
              </a:rPr>
              <a:t>Beyond the FYP</a:t>
            </a:r>
            <a:endParaRPr/>
          </a:p>
        </p:txBody>
      </p:sp>
      <p:sp>
        <p:nvSpPr>
          <p:cNvPr id="343" name="Google Shape;343;p41"/>
          <p:cNvSpPr txBox="1"/>
          <p:nvPr>
            <p:ph idx="1" type="body"/>
          </p:nvPr>
        </p:nvSpPr>
        <p:spPr>
          <a:xfrm>
            <a:off x="722313" y="2906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444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344" name="Google Shape;344;p4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US" sz="4000">
                <a:solidFill>
                  <a:srgbClr val="0B3D59"/>
                </a:solidFill>
              </a:rPr>
              <a:t>Beyond the FYP</a:t>
            </a:r>
            <a:endParaRPr b="1" sz="4000">
              <a:solidFill>
                <a:srgbClr val="0B3D59"/>
              </a:solidFill>
            </a:endParaRPr>
          </a:p>
        </p:txBody>
      </p:sp>
      <p:sp>
        <p:nvSpPr>
          <p:cNvPr id="350" name="Google Shape;350;p42"/>
          <p:cNvSpPr txBox="1"/>
          <p:nvPr/>
        </p:nvSpPr>
        <p:spPr>
          <a:xfrm>
            <a:off x="342900" y="1418725"/>
            <a:ext cx="8343900" cy="4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just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○"/>
            </a:pP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Publication. 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submission targeting MICCAI or ISBI or a suitable workshop, based  on fusion vs. baseline and missing modality ablations.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7350" lvl="0" marL="457200" rtl="0" algn="just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○"/>
            </a:pP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Clinical pilot. 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Partner with a clinic to collect real, consented data and evaluate the system prospectively. Pilot and publication run in parallel.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7350" lvl="0" marL="457200" rtl="0" algn="just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○"/>
            </a:pP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Regulatory. 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pilot is the gate toward DRAP approval, which is required before any clinical use.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7350" lvl="0" marL="457200" rtl="0" algn="just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○"/>
            </a:pPr>
            <a:r>
              <a:rPr b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Deployment routes once approved. 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second-opinion app for doctors, an API for health platforms, and a CDS licence for clinics, health camps and telehealth providers.</a:t>
            </a:r>
            <a:endParaRPr b="1" sz="2000">
              <a:solidFill>
                <a:srgbClr val="0B3D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42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43"/>
          <p:cNvSpPr txBox="1"/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B3D59"/>
                </a:solidFill>
              </a:rPr>
              <a:t>Thank You</a:t>
            </a:r>
            <a:endParaRPr b="0" sz="4400">
              <a:solidFill>
                <a:srgbClr val="0B3D59"/>
              </a:solidFill>
            </a:endParaRPr>
          </a:p>
        </p:txBody>
      </p:sp>
      <p:sp>
        <p:nvSpPr>
          <p:cNvPr id="357" name="Google Shape;357;p43"/>
          <p:cNvSpPr txBox="1"/>
          <p:nvPr>
            <p:ph idx="1" type="body"/>
          </p:nvPr>
        </p:nvSpPr>
        <p:spPr>
          <a:xfrm>
            <a:off x="722313" y="2906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n-US" sz="1600">
                <a:solidFill>
                  <a:schemeClr val="dk1"/>
                </a:solidFill>
              </a:rPr>
              <a:t>GLANCE: Clinical Decision Support for Non-Invasive Screening</a:t>
            </a:r>
            <a:endParaRPr/>
          </a:p>
        </p:txBody>
      </p:sp>
      <p:sp>
        <p:nvSpPr>
          <p:cNvPr id="358" name="Google Shape;358;p4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