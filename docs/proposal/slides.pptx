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F5D670A-1C51-49B9-9B8F-6BC062B6B0A7}">
  <a:tblStyle styleId="{5F5D670A-1C51-49B9-9B8F-6BC062B6B0A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72C5A8D-5030-47FC-9FBE-639BE6E0244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 name="Google Shape;89;p2: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5" name="Google Shape;95;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1" name="Google Shape;10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fb4a8ef356_0_22: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fb4a8ef356_0_22: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b4a8ef356_0_5: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fb4a8ef356_0_5: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6: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7: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9fbfbdbe5_5_69: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g3f9fbfbdbe5_5_69: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8: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9: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3" name="Google Shape;153;p9: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fa1e6576f6_0_190: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1" name="Google Shape;161;g3fa1e6576f6_0_190: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p10: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1: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2: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5: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6" name="Google Shape;196;p13: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p14:notes"/>
          <p:cNvSpPr/>
          <p:nvPr>
            <p:ph idx="2" type="sldImg"/>
          </p:nvPr>
        </p:nvSpPr>
        <p:spPr>
          <a:xfrm>
            <a:off x="1219425" y="720075"/>
            <a:ext cx="4877025"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a1e6576f6_0_95: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3" name="Google Shape;253;g3fa1e6576f6_0_95:notes"/>
          <p:cNvSpPr/>
          <p:nvPr>
            <p:ph idx="2" type="sldImg"/>
          </p:nvPr>
        </p:nvSpPr>
        <p:spPr>
          <a:xfrm>
            <a:off x="1219425" y="720075"/>
            <a:ext cx="48771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a1e6576f6_0_156: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g3fa1e6576f6_0_156: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5" name="Google Shape;265;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a40b541af_0_3: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g3fa40b541af_0_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a40b541af_0_8: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fa40b541af_0_8: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fa1e6576f6_0_163: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3" name="Google Shape;283;g3fa1e6576f6_0_163: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6:notes"/>
          <p:cNvSpPr txBox="1"/>
          <p:nvPr>
            <p:ph idx="1" type="body"/>
          </p:nvPr>
        </p:nvSpPr>
        <p:spPr>
          <a:xfrm>
            <a:off x="731500" y="4560550"/>
            <a:ext cx="5852150" cy="432052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9" name="Google Shape;289;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fa1e6576f6_0_107: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g3fa1e6576f6_0_107: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fa40b541af_0_19:notes"/>
          <p:cNvSpPr txBox="1"/>
          <p:nvPr>
            <p:ph idx="1" type="body"/>
          </p:nvPr>
        </p:nvSpPr>
        <p:spPr>
          <a:xfrm>
            <a:off x="731500" y="4560550"/>
            <a:ext cx="5852100" cy="432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g3fa40b541af_0_19: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 name="Google Shape;20;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1" sz="4000" cap="none"/>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5" name="Google Shape;25;p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6" name="Google Shape;26;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1" name="Google Shape;31;p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2" name="Google Shape;32;p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8" name="Google Shape;38;p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39" name="Google Shape;39;p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0" name="Google Shape;40;p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SzPts val="1400"/>
              <a:buNone/>
              <a:defRPr b="1" sz="20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transition spd="med">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Final Year Project Proposal</a:t>
            </a:r>
            <a:endParaRPr>
              <a:solidFill>
                <a:srgbClr val="0B3D59"/>
              </a:solidFill>
            </a:endParaRPr>
          </a:p>
        </p:txBody>
      </p:sp>
      <p:sp>
        <p:nvSpPr>
          <p:cNvPr id="85" name="Google Shape;85;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lnSpcReduction="10000"/>
          </a:bodyPr>
          <a:lstStyle/>
          <a:p>
            <a:pPr indent="0" lvl="0" marL="63500" rtl="0" algn="ctr">
              <a:lnSpc>
                <a:spcPct val="100000"/>
              </a:lnSpc>
              <a:spcBef>
                <a:spcPts val="0"/>
              </a:spcBef>
              <a:spcAft>
                <a:spcPts val="0"/>
              </a:spcAft>
              <a:buClr>
                <a:srgbClr val="888888"/>
              </a:buClr>
              <a:buSzPts val="3200"/>
              <a:buFont typeface="Arial"/>
              <a:buNone/>
            </a:pPr>
            <a:r>
              <a:rPr lang="en-US"/>
              <a:t>GLANCE </a:t>
            </a:r>
            <a:r>
              <a:rPr lang="en-US"/>
              <a:t>– General Look-based Assessment for Non-invasive Care &amp; Evaluation</a:t>
            </a:r>
            <a:endParaRPr/>
          </a:p>
          <a:p>
            <a:pPr indent="0" lvl="0" marL="63500" rtl="0" algn="ctr">
              <a:lnSpc>
                <a:spcPct val="100000"/>
              </a:lnSpc>
              <a:spcBef>
                <a:spcPts val="280"/>
              </a:spcBef>
              <a:spcAft>
                <a:spcPts val="0"/>
              </a:spcAft>
              <a:buClr>
                <a:srgbClr val="888888"/>
              </a:buClr>
              <a:buSzPts val="1400"/>
              <a:buFont typeface="Arial"/>
              <a:buNone/>
            </a:pPr>
            <a:r>
              <a:rPr lang="en-US" sz="1600"/>
              <a:t>Supervised By: M. Islam Abbasi (Lecturer)</a:t>
            </a:r>
            <a:endParaRPr sz="3400"/>
          </a:p>
        </p:txBody>
      </p:sp>
      <p:pic>
        <p:nvPicPr>
          <p:cNvPr descr="Riphah.jpg" id="86" name="Google Shape;86;p13"/>
          <p:cNvPicPr preferRelativeResize="0"/>
          <p:nvPr/>
        </p:nvPicPr>
        <p:blipFill rotWithShape="1">
          <a:blip r:embed="rId4">
            <a:alphaModFix/>
          </a:blip>
          <a:srcRect b="4925" l="3033" r="6926" t="4065"/>
          <a:stretch/>
        </p:blipFill>
        <p:spPr>
          <a:xfrm>
            <a:off x="4076700" y="1295400"/>
            <a:ext cx="990600" cy="1295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Project Team</a:t>
            </a:r>
            <a:endParaRPr>
              <a:solidFill>
                <a:srgbClr val="0B3D59"/>
              </a:solidFill>
            </a:endParaRPr>
          </a:p>
        </p:txBody>
      </p:sp>
      <p:sp>
        <p:nvSpPr>
          <p:cNvPr id="92" name="Google Shape;92;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B3D59"/>
              </a:buClr>
              <a:buSzPts val="3200"/>
              <a:buChar char="•"/>
            </a:pPr>
            <a:r>
              <a:rPr lang="en-US">
                <a:solidFill>
                  <a:srgbClr val="0B3D59"/>
                </a:solidFill>
              </a:rPr>
              <a:t>Syed Jaffar Raza Kazmi (57375)</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Shahroz Khalid (53531)</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Muhammad Sarmad Chughtai (54915)</a:t>
            </a:r>
            <a:endParaRPr>
              <a:solidFill>
                <a:srgbClr val="0B3D59"/>
              </a:solidFill>
            </a:endParaRPr>
          </a:p>
          <a:p>
            <a:pPr indent="-139700" lvl="0" marL="342900" rtl="0" algn="l">
              <a:lnSpc>
                <a:spcPct val="100000"/>
              </a:lnSpc>
              <a:spcBef>
                <a:spcPts val="640"/>
              </a:spcBef>
              <a:spcAft>
                <a:spcPts val="0"/>
              </a:spcAft>
              <a:buClr>
                <a:schemeClr val="dk1"/>
              </a:buClr>
              <a:buSzPts val="3200"/>
              <a:buNone/>
            </a:pPr>
            <a:r>
              <a:t/>
            </a:r>
            <a:endParaRPr>
              <a:solidFill>
                <a:srgbClr val="0B3D5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Table of Content</a:t>
            </a:r>
            <a:endParaRPr>
              <a:solidFill>
                <a:srgbClr val="0B3D59"/>
              </a:solidFill>
            </a:endParaRPr>
          </a:p>
        </p:txBody>
      </p:sp>
      <p:sp>
        <p:nvSpPr>
          <p:cNvPr id="98" name="Google Shape;98;p15"/>
          <p:cNvSpPr txBox="1"/>
          <p:nvPr>
            <p:ph idx="1" type="body"/>
          </p:nvPr>
        </p:nvSpPr>
        <p:spPr>
          <a:xfrm>
            <a:off x="457200" y="144780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rgbClr val="0B3D59"/>
              </a:buClr>
              <a:buSzPts val="3200"/>
              <a:buChar char="•"/>
            </a:pPr>
            <a:r>
              <a:rPr lang="en-US">
                <a:solidFill>
                  <a:srgbClr val="0B3D59"/>
                </a:solidFill>
              </a:rPr>
              <a:t>Introduction and Background</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Literature Review and Summary Table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Gap Analysis</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Problem Statement</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Proposed Solution &amp; Methodology</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Project Scope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Work Breakdown Structure</a:t>
            </a:r>
            <a:endParaRPr>
              <a:solidFill>
                <a:srgbClr val="0B3D59"/>
              </a:solidFill>
            </a:endParaRPr>
          </a:p>
          <a:p>
            <a:pPr indent="-342900" lvl="0" marL="342900" rtl="0" algn="l">
              <a:lnSpc>
                <a:spcPct val="100000"/>
              </a:lnSpc>
              <a:spcBef>
                <a:spcPts val="640"/>
              </a:spcBef>
              <a:spcAft>
                <a:spcPts val="0"/>
              </a:spcAft>
              <a:buClr>
                <a:srgbClr val="0B3D59"/>
              </a:buClr>
              <a:buSzPts val="3200"/>
              <a:buChar char="•"/>
            </a:pPr>
            <a:r>
              <a:rPr lang="en-US">
                <a:solidFill>
                  <a:srgbClr val="0B3D59"/>
                </a:solidFill>
              </a:rPr>
              <a:t>Roles and Responsibilities</a:t>
            </a:r>
            <a:endParaRPr>
              <a:solidFill>
                <a:srgbClr val="0B3D5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INTRODUCTION AND BACKGROUND</a:t>
            </a:r>
            <a:endParaRPr>
              <a:solidFill>
                <a:srgbClr val="0B3D59"/>
              </a:solidFill>
            </a:endParaRPr>
          </a:p>
        </p:txBody>
      </p:sp>
      <p:sp>
        <p:nvSpPr>
          <p:cNvPr id="104" name="Google Shape;104;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457200" y="168230"/>
            <a:ext cx="8229600" cy="8769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Physician Density</a:t>
            </a:r>
            <a:endParaRPr>
              <a:solidFill>
                <a:srgbClr val="0B3D59"/>
              </a:solidFill>
            </a:endParaRPr>
          </a:p>
        </p:txBody>
      </p:sp>
      <p:graphicFrame>
        <p:nvGraphicFramePr>
          <p:cNvPr id="110" name="Google Shape;110;p17"/>
          <p:cNvGraphicFramePr/>
          <p:nvPr/>
        </p:nvGraphicFramePr>
        <p:xfrm>
          <a:off x="457190" y="1516502"/>
          <a:ext cx="3000000" cy="3000000"/>
        </p:xfrm>
        <a:graphic>
          <a:graphicData uri="http://schemas.openxmlformats.org/drawingml/2006/table">
            <a:tbl>
              <a:tblPr>
                <a:noFill/>
                <a:tableStyleId>{5F5D670A-1C51-49B9-9B8F-6BC062B6B0A7}</a:tableStyleId>
              </a:tblPr>
              <a:tblGrid>
                <a:gridCol w="2743175"/>
                <a:gridCol w="2743175"/>
                <a:gridCol w="2743175"/>
              </a:tblGrid>
              <a:tr h="539350">
                <a:tc>
                  <a:txBody>
                    <a:bodyPr/>
                    <a:lstStyle/>
                    <a:p>
                      <a:pPr indent="0" lvl="0" marL="0" rtl="0" algn="ctr">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Country</a:t>
                      </a:r>
                      <a:endParaRPr b="1" sz="2000">
                        <a:solidFill>
                          <a:schemeClr val="lt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1C7293"/>
                    </a:solidFill>
                  </a:tcPr>
                </a:tc>
                <a:tc>
                  <a:txBody>
                    <a:bodyPr/>
                    <a:lstStyle/>
                    <a:p>
                      <a:pPr indent="0" lvl="0" marL="0" rtl="0" algn="ctr">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Physicians / 10,000</a:t>
                      </a:r>
                      <a:endParaRPr b="1" sz="2000">
                        <a:solidFill>
                          <a:schemeClr val="lt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1C7293"/>
                    </a:solidFill>
                  </a:tcPr>
                </a:tc>
                <a:tc>
                  <a:txBody>
                    <a:bodyPr/>
                    <a:lstStyle/>
                    <a:p>
                      <a:pPr indent="0" lvl="0" marL="0" rtl="0" algn="ctr">
                        <a:lnSpc>
                          <a:spcPct val="115000"/>
                        </a:lnSpc>
                        <a:spcBef>
                          <a:spcPts val="0"/>
                        </a:spcBef>
                        <a:spcAft>
                          <a:spcPts val="0"/>
                        </a:spcAft>
                        <a:buNone/>
                      </a:pPr>
                      <a:r>
                        <a:rPr b="1" lang="en-US" sz="2000">
                          <a:solidFill>
                            <a:schemeClr val="lt1"/>
                          </a:solidFill>
                          <a:latin typeface="Times New Roman"/>
                          <a:ea typeface="Times New Roman"/>
                          <a:cs typeface="Times New Roman"/>
                          <a:sym typeface="Times New Roman"/>
                        </a:rPr>
                        <a:t>People / Physician</a:t>
                      </a:r>
                      <a:endParaRPr b="1" sz="2000">
                        <a:solidFill>
                          <a:schemeClr val="lt1"/>
                        </a:solidFill>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1C7293"/>
                    </a:solidFill>
                  </a:tcPr>
                </a:tc>
              </a:tr>
              <a:tr h="539350">
                <a:tc>
                  <a:txBody>
                    <a:bodyPr/>
                    <a:lstStyle/>
                    <a:p>
                      <a:pPr indent="0" lvl="0" marL="0" rtl="0" algn="l">
                        <a:spcBef>
                          <a:spcPts val="0"/>
                        </a:spcBef>
                        <a:spcAft>
                          <a:spcPts val="0"/>
                        </a:spcAft>
                        <a:buNone/>
                      </a:pPr>
                      <a:r>
                        <a:rPr lang="en-US" sz="2000">
                          <a:solidFill>
                            <a:schemeClr val="dk1"/>
                          </a:solidFill>
                          <a:latin typeface="Times New Roman"/>
                          <a:ea typeface="Times New Roman"/>
                          <a:cs typeface="Times New Roman"/>
                          <a:sym typeface="Times New Roman"/>
                        </a:rPr>
                        <a:t>Germany</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000">
                          <a:solidFill>
                            <a:schemeClr val="dk1"/>
                          </a:solidFill>
                          <a:latin typeface="Times New Roman"/>
                          <a:ea typeface="Times New Roman"/>
                          <a:cs typeface="Times New Roman"/>
                          <a:sym typeface="Times New Roman"/>
                        </a:rPr>
                        <a:t>45.9</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217</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39350">
                <a:tc>
                  <a:txBody>
                    <a:bodyPr/>
                    <a:lstStyle/>
                    <a:p>
                      <a:pPr indent="0" lvl="0" marL="0" rtl="0" algn="l">
                        <a:spcBef>
                          <a:spcPts val="0"/>
                        </a:spcBef>
                        <a:spcAft>
                          <a:spcPts val="0"/>
                        </a:spcAft>
                        <a:buNone/>
                      </a:pPr>
                      <a:r>
                        <a:rPr lang="en-US" sz="2000">
                          <a:latin typeface="Times New Roman"/>
                          <a:ea typeface="Times New Roman"/>
                          <a:cs typeface="Times New Roman"/>
                          <a:sym typeface="Times New Roman"/>
                        </a:rPr>
                        <a:t>Austria</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5</a:t>
                      </a:r>
                      <a:r>
                        <a:rPr lang="en-US" sz="2000">
                          <a:latin typeface="Times New Roman"/>
                          <a:ea typeface="Times New Roman"/>
                          <a:cs typeface="Times New Roman"/>
                          <a:sym typeface="Times New Roman"/>
                        </a:rPr>
                        <a:t>6.7</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176</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r>
              <a:tr h="539350">
                <a:tc>
                  <a:txBody>
                    <a:bodyPr/>
                    <a:lstStyle/>
                    <a:p>
                      <a:pPr indent="0" lvl="0" marL="0" rtl="0" algn="l">
                        <a:spcBef>
                          <a:spcPts val="0"/>
                        </a:spcBef>
                        <a:spcAft>
                          <a:spcPts val="0"/>
                        </a:spcAft>
                        <a:buNone/>
                      </a:pPr>
                      <a:r>
                        <a:rPr lang="en-US" sz="2000">
                          <a:latin typeface="Times New Roman"/>
                          <a:ea typeface="Times New Roman"/>
                          <a:cs typeface="Times New Roman"/>
                          <a:sym typeface="Times New Roman"/>
                        </a:rPr>
                        <a:t>United Kingdom</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33.5</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299</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539350">
                <a:tc>
                  <a:txBody>
                    <a:bodyPr/>
                    <a:lstStyle/>
                    <a:p>
                      <a:pPr indent="0" lvl="0" marL="0" rtl="0" algn="l">
                        <a:spcBef>
                          <a:spcPts val="0"/>
                        </a:spcBef>
                        <a:spcAft>
                          <a:spcPts val="0"/>
                        </a:spcAft>
                        <a:buNone/>
                      </a:pPr>
                      <a:r>
                        <a:rPr lang="en-US" sz="2000">
                          <a:latin typeface="Times New Roman"/>
                          <a:ea typeface="Times New Roman"/>
                          <a:cs typeface="Times New Roman"/>
                          <a:sym typeface="Times New Roman"/>
                        </a:rPr>
                        <a:t>Norway</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49.8</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201</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1E9EA"/>
                    </a:solidFill>
                  </a:tcPr>
                </a:tc>
              </a:tr>
              <a:tr h="539350">
                <a:tc>
                  <a:txBody>
                    <a:bodyPr/>
                    <a:lstStyle/>
                    <a:p>
                      <a:pPr indent="0" lvl="0" marL="0" rtl="0" algn="l">
                        <a:spcBef>
                          <a:spcPts val="0"/>
                        </a:spcBef>
                        <a:spcAft>
                          <a:spcPts val="0"/>
                        </a:spcAft>
                        <a:buNone/>
                      </a:pPr>
                      <a:r>
                        <a:rPr lang="en-US" sz="2000">
                          <a:latin typeface="Times New Roman"/>
                          <a:ea typeface="Times New Roman"/>
                          <a:cs typeface="Times New Roman"/>
                          <a:sym typeface="Times New Roman"/>
                        </a:rPr>
                        <a:t>Russia</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51.1</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2000">
                          <a:latin typeface="Times New Roman"/>
                          <a:ea typeface="Times New Roman"/>
                          <a:cs typeface="Times New Roman"/>
                          <a:sym typeface="Times New Roman"/>
                        </a:rPr>
                        <a:t>196</a:t>
                      </a:r>
                      <a:endParaRPr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539350">
                <a:tc>
                  <a:txBody>
                    <a:bodyPr/>
                    <a:lstStyle/>
                    <a:p>
                      <a:pPr indent="0" lvl="0" marL="0" rtl="0" algn="l">
                        <a:spcBef>
                          <a:spcPts val="0"/>
                        </a:spcBef>
                        <a:spcAft>
                          <a:spcPts val="0"/>
                        </a:spcAft>
                        <a:buNone/>
                      </a:pPr>
                      <a:r>
                        <a:rPr b="1" lang="en-US" sz="2000">
                          <a:latin typeface="Times New Roman"/>
                          <a:ea typeface="Times New Roman"/>
                          <a:cs typeface="Times New Roman"/>
                          <a:sym typeface="Times New Roman"/>
                        </a:rPr>
                        <a:t>Pakistan</a:t>
                      </a:r>
                      <a:endParaRPr b="1"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rtl="0" algn="r">
                        <a:lnSpc>
                          <a:spcPct val="115000"/>
                        </a:lnSpc>
                        <a:spcBef>
                          <a:spcPts val="0"/>
                        </a:spcBef>
                        <a:spcAft>
                          <a:spcPts val="0"/>
                        </a:spcAft>
                        <a:buNone/>
                      </a:pPr>
                      <a:r>
                        <a:rPr b="1" lang="en-US" sz="2000">
                          <a:latin typeface="Times New Roman"/>
                          <a:ea typeface="Times New Roman"/>
                          <a:cs typeface="Times New Roman"/>
                          <a:sym typeface="Times New Roman"/>
                        </a:rPr>
                        <a:t>12.8</a:t>
                      </a:r>
                      <a:endParaRPr b="1"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c>
                  <a:txBody>
                    <a:bodyPr/>
                    <a:lstStyle/>
                    <a:p>
                      <a:pPr indent="0" lvl="0" marL="0" rtl="0" algn="r">
                        <a:lnSpc>
                          <a:spcPct val="115000"/>
                        </a:lnSpc>
                        <a:spcBef>
                          <a:spcPts val="0"/>
                        </a:spcBef>
                        <a:spcAft>
                          <a:spcPts val="0"/>
                        </a:spcAft>
                        <a:buNone/>
                      </a:pPr>
                      <a:r>
                        <a:rPr b="1" lang="en-US" sz="2000">
                          <a:latin typeface="Times New Roman"/>
                          <a:ea typeface="Times New Roman"/>
                          <a:cs typeface="Times New Roman"/>
                          <a:sym typeface="Times New Roman"/>
                        </a:rPr>
                        <a:t>781</a:t>
                      </a:r>
                      <a:endParaRPr b="1" sz="2000">
                        <a:latin typeface="Times New Roman"/>
                        <a:ea typeface="Times New Roman"/>
                        <a:cs typeface="Times New Roman"/>
                        <a:sym typeface="Times New Roman"/>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6B8AF"/>
                    </a:solidFill>
                  </a:tcPr>
                </a:tc>
              </a:tr>
            </a:tbl>
          </a:graphicData>
        </a:graphic>
      </p:graphicFrame>
      <p:sp>
        <p:nvSpPr>
          <p:cNvPr id="111" name="Google Shape;111;p17"/>
          <p:cNvSpPr txBox="1"/>
          <p:nvPr/>
        </p:nvSpPr>
        <p:spPr>
          <a:xfrm>
            <a:off x="475325" y="5396525"/>
            <a:ext cx="8229600" cy="52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0B3D59"/>
                </a:solidFill>
                <a:latin typeface="Times New Roman"/>
                <a:ea typeface="Times New Roman"/>
                <a:cs typeface="Times New Roman"/>
                <a:sym typeface="Times New Roman"/>
              </a:rPr>
              <a:t>* WHO threshold = 44.5 doctors + nurses + midwives per 10,000 population</a:t>
            </a:r>
            <a:endParaRPr b="1" sz="1800">
              <a:solidFill>
                <a:srgbClr val="0B3D59"/>
              </a:solidFill>
              <a:latin typeface="Times New Roman"/>
              <a:ea typeface="Times New Roman"/>
              <a:cs typeface="Times New Roman"/>
              <a:sym typeface="Times New Roman"/>
            </a:endParaRPr>
          </a:p>
        </p:txBody>
      </p:sp>
      <p:sp>
        <p:nvSpPr>
          <p:cNvPr id="112" name="Google Shape;112;p17"/>
          <p:cNvSpPr txBox="1"/>
          <p:nvPr/>
        </p:nvSpPr>
        <p:spPr>
          <a:xfrm>
            <a:off x="474011" y="902039"/>
            <a:ext cx="8229600" cy="520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1800">
                <a:solidFill>
                  <a:srgbClr val="0B3D59"/>
                </a:solidFill>
                <a:latin typeface="Times New Roman"/>
                <a:ea typeface="Times New Roman"/>
                <a:cs typeface="Times New Roman"/>
                <a:sym typeface="Times New Roman"/>
              </a:rPr>
              <a:t>Pakistan vs. Developed Countries</a:t>
            </a:r>
            <a:endParaRPr b="1" sz="1800">
              <a:solidFill>
                <a:srgbClr val="0B3D59"/>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INTRODUCTION AND BACKGROUND</a:t>
            </a:r>
            <a:endParaRPr>
              <a:solidFill>
                <a:srgbClr val="0B3D59"/>
              </a:solidFill>
            </a:endParaRPr>
          </a:p>
        </p:txBody>
      </p:sp>
      <p:sp>
        <p:nvSpPr>
          <p:cNvPr id="118" name="Google Shape;118;p18"/>
          <p:cNvSpPr/>
          <p:nvPr/>
        </p:nvSpPr>
        <p:spPr>
          <a:xfrm>
            <a:off x="548653" y="1580406"/>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19" name="Google Shape;119;p18"/>
          <p:cNvSpPr/>
          <p:nvPr/>
        </p:nvSpPr>
        <p:spPr>
          <a:xfrm>
            <a:off x="896165" y="1443109"/>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problem space</a:t>
            </a:r>
            <a:endParaRPr i="0" sz="2058" u="none" cap="none" strike="noStrike">
              <a:solidFill>
                <a:srgbClr val="0B3D59"/>
              </a:solidFill>
              <a:latin typeface="Calibri"/>
              <a:ea typeface="Calibri"/>
              <a:cs typeface="Calibri"/>
              <a:sym typeface="Calibri"/>
            </a:endParaRPr>
          </a:p>
        </p:txBody>
      </p:sp>
      <p:sp>
        <p:nvSpPr>
          <p:cNvPr id="120" name="Google Shape;120;p18"/>
          <p:cNvSpPr/>
          <p:nvPr/>
        </p:nvSpPr>
        <p:spPr>
          <a:xfrm>
            <a:off x="924980" y="1775085"/>
            <a:ext cx="7761900" cy="764400"/>
          </a:xfrm>
          <a:prstGeom prst="rect">
            <a:avLst/>
          </a:prstGeom>
          <a:noFill/>
          <a:ln>
            <a:noFill/>
          </a:ln>
        </p:spPr>
        <p:txBody>
          <a:bodyPr anchorCtr="0" anchor="t" bIns="58775" lIns="117575" spcFirstLastPara="1" rIns="117575" wrap="square" tIns="58775">
            <a:noAutofit/>
          </a:bodyPr>
          <a:lstStyle/>
          <a:p>
            <a:pPr indent="0" lvl="0" marL="0" marR="0" rtl="0" algn="just">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Many systemic diseases first surface as visible changes on body surfaces (</a:t>
            </a:r>
            <a:r>
              <a:rPr lang="en-US" sz="2000">
                <a:solidFill>
                  <a:schemeClr val="dk1"/>
                </a:solidFill>
                <a:latin typeface="Calibri"/>
                <a:ea typeface="Calibri"/>
                <a:cs typeface="Calibri"/>
                <a:sym typeface="Calibri"/>
              </a:rPr>
              <a:t>e.g</a:t>
            </a:r>
            <a:r>
              <a:rPr i="0" lang="en-US" sz="2000" u="none" cap="none" strike="noStrike">
                <a:solidFill>
                  <a:schemeClr val="dk1"/>
                </a:solidFill>
                <a:latin typeface="Calibri"/>
                <a:ea typeface="Calibri"/>
                <a:cs typeface="Calibri"/>
                <a:sym typeface="Calibri"/>
              </a:rPr>
              <a:t> oral lesions, nail clubbing, conjunctival pallor, tongue coating, palmar signs </a:t>
            </a:r>
            <a:r>
              <a:rPr lang="en-US" sz="2000">
                <a:solidFill>
                  <a:schemeClr val="dk1"/>
                </a:solidFill>
                <a:latin typeface="Calibri"/>
                <a:ea typeface="Calibri"/>
                <a:cs typeface="Calibri"/>
                <a:sym typeface="Calibri"/>
              </a:rPr>
              <a:t>etc)</a:t>
            </a:r>
            <a:r>
              <a:rPr i="0" lang="en-US" sz="2000" u="none" cap="none" strike="noStrike">
                <a:solidFill>
                  <a:schemeClr val="dk1"/>
                </a:solidFill>
                <a:latin typeface="Calibri"/>
                <a:ea typeface="Calibri"/>
                <a:cs typeface="Calibri"/>
                <a:sym typeface="Calibri"/>
              </a:rPr>
              <a:t> long before lab-confirmed diagnosis.</a:t>
            </a:r>
            <a:endParaRPr i="0" sz="2000" u="none" cap="none" strike="noStrike">
              <a:solidFill>
                <a:schemeClr val="dk1"/>
              </a:solidFill>
              <a:latin typeface="Calibri"/>
              <a:ea typeface="Calibri"/>
              <a:cs typeface="Calibri"/>
              <a:sym typeface="Calibri"/>
            </a:endParaRPr>
          </a:p>
        </p:txBody>
      </p:sp>
      <p:sp>
        <p:nvSpPr>
          <p:cNvPr id="121" name="Google Shape;121;p18"/>
          <p:cNvSpPr/>
          <p:nvPr/>
        </p:nvSpPr>
        <p:spPr>
          <a:xfrm>
            <a:off x="548653" y="3088678"/>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22" name="Google Shape;122;p18"/>
          <p:cNvSpPr/>
          <p:nvPr/>
        </p:nvSpPr>
        <p:spPr>
          <a:xfrm>
            <a:off x="924980" y="2942835"/>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opportunity</a:t>
            </a:r>
            <a:endParaRPr i="0" sz="2058" u="none" cap="none" strike="noStrike">
              <a:solidFill>
                <a:srgbClr val="0B3D59"/>
              </a:solidFill>
              <a:latin typeface="Calibri"/>
              <a:ea typeface="Calibri"/>
              <a:cs typeface="Calibri"/>
              <a:sym typeface="Calibri"/>
            </a:endParaRPr>
          </a:p>
        </p:txBody>
      </p:sp>
      <p:sp>
        <p:nvSpPr>
          <p:cNvPr id="123" name="Google Shape;123;p18"/>
          <p:cNvSpPr/>
          <p:nvPr/>
        </p:nvSpPr>
        <p:spPr>
          <a:xfrm>
            <a:off x="924980" y="3278034"/>
            <a:ext cx="7761900" cy="764400"/>
          </a:xfrm>
          <a:prstGeom prst="rect">
            <a:avLst/>
          </a:prstGeom>
          <a:noFill/>
          <a:ln>
            <a:noFill/>
          </a:ln>
        </p:spPr>
        <p:txBody>
          <a:bodyPr anchorCtr="0" anchor="t" bIns="58775" lIns="117575" spcFirstLastPara="1" rIns="117575" wrap="square" tIns="58775">
            <a:noAutofit/>
          </a:bodyPr>
          <a:lstStyle/>
          <a:p>
            <a:pPr indent="0" lvl="0" marL="0" marR="0" rtl="0" algn="just">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Smartphones are now ubiquitous even where clinicians and diagnostic labs are scarce, making camera-based pre-screening a realistic first triage layer.</a:t>
            </a:r>
            <a:endParaRPr i="0" sz="2000" u="none" cap="none" strike="noStrike">
              <a:solidFill>
                <a:schemeClr val="dk1"/>
              </a:solidFill>
              <a:latin typeface="Calibri"/>
              <a:ea typeface="Calibri"/>
              <a:cs typeface="Calibri"/>
              <a:sym typeface="Calibri"/>
            </a:endParaRPr>
          </a:p>
        </p:txBody>
      </p:sp>
      <p:sp>
        <p:nvSpPr>
          <p:cNvPr id="124" name="Google Shape;124;p18"/>
          <p:cNvSpPr/>
          <p:nvPr/>
        </p:nvSpPr>
        <p:spPr>
          <a:xfrm>
            <a:off x="548653" y="4513144"/>
            <a:ext cx="164700" cy="164700"/>
          </a:xfrm>
          <a:prstGeom prst="ellipse">
            <a:avLst/>
          </a:prstGeom>
          <a:solidFill>
            <a:srgbClr val="02C39A"/>
          </a:solidFill>
          <a:ln>
            <a:noFill/>
          </a:ln>
        </p:spPr>
        <p:txBody>
          <a:bodyPr anchorCtr="0" anchor="ctr" bIns="117575" lIns="117575" spcFirstLastPara="1" rIns="117575" wrap="square" tIns="117575">
            <a:noAutofit/>
          </a:bodyPr>
          <a:lstStyle/>
          <a:p>
            <a:pPr indent="0" lvl="0" marL="0" rtl="0" algn="l">
              <a:spcBef>
                <a:spcPts val="0"/>
              </a:spcBef>
              <a:spcAft>
                <a:spcPts val="0"/>
              </a:spcAft>
              <a:buNone/>
            </a:pPr>
            <a:r>
              <a:t/>
            </a:r>
            <a:endParaRPr>
              <a:solidFill>
                <a:schemeClr val="dk1"/>
              </a:solidFill>
              <a:latin typeface="Calibri"/>
              <a:ea typeface="Calibri"/>
              <a:cs typeface="Calibri"/>
              <a:sym typeface="Calibri"/>
            </a:endParaRPr>
          </a:p>
        </p:txBody>
      </p:sp>
      <p:sp>
        <p:nvSpPr>
          <p:cNvPr id="125" name="Google Shape;125;p18"/>
          <p:cNvSpPr/>
          <p:nvPr/>
        </p:nvSpPr>
        <p:spPr>
          <a:xfrm>
            <a:off x="881757" y="4378487"/>
            <a:ext cx="7761900" cy="411600"/>
          </a:xfrm>
          <a:prstGeom prst="rect">
            <a:avLst/>
          </a:prstGeom>
          <a:noFill/>
          <a:ln>
            <a:noFill/>
          </a:ln>
        </p:spPr>
        <p:txBody>
          <a:bodyPr anchorCtr="0" anchor="ctr" bIns="58775" lIns="117575" spcFirstLastPara="1" rIns="117575" wrap="square" tIns="58775">
            <a:noAutofit/>
          </a:bodyPr>
          <a:lstStyle/>
          <a:p>
            <a:pPr indent="0" lvl="0" marL="0" marR="0" rtl="0" algn="l">
              <a:spcBef>
                <a:spcPts val="0"/>
              </a:spcBef>
              <a:spcAft>
                <a:spcPts val="0"/>
              </a:spcAft>
              <a:buClr>
                <a:srgbClr val="0B3D59"/>
              </a:buClr>
              <a:buSzPts val="2058"/>
              <a:buFont typeface="Cambria"/>
              <a:buNone/>
            </a:pPr>
            <a:r>
              <a:rPr b="1" i="0" lang="en-US" sz="2058" u="none" cap="none" strike="noStrike">
                <a:solidFill>
                  <a:srgbClr val="0B3D59"/>
                </a:solidFill>
                <a:latin typeface="Calibri"/>
                <a:ea typeface="Calibri"/>
                <a:cs typeface="Calibri"/>
                <a:sym typeface="Calibri"/>
              </a:rPr>
              <a:t>The technical angle</a:t>
            </a:r>
            <a:endParaRPr i="0" sz="2058" u="none" cap="none" strike="noStrike">
              <a:solidFill>
                <a:srgbClr val="0B3D59"/>
              </a:solidFill>
              <a:latin typeface="Calibri"/>
              <a:ea typeface="Calibri"/>
              <a:cs typeface="Calibri"/>
              <a:sym typeface="Calibri"/>
            </a:endParaRPr>
          </a:p>
        </p:txBody>
      </p:sp>
      <p:sp>
        <p:nvSpPr>
          <p:cNvPr id="126" name="Google Shape;126;p18"/>
          <p:cNvSpPr/>
          <p:nvPr/>
        </p:nvSpPr>
        <p:spPr>
          <a:xfrm>
            <a:off x="924980" y="4737760"/>
            <a:ext cx="7761900" cy="764400"/>
          </a:xfrm>
          <a:prstGeom prst="rect">
            <a:avLst/>
          </a:prstGeom>
          <a:noFill/>
          <a:ln>
            <a:noFill/>
          </a:ln>
        </p:spPr>
        <p:txBody>
          <a:bodyPr anchorCtr="0" anchor="t" bIns="58775" lIns="117575" spcFirstLastPara="1" rIns="117575" wrap="square" tIns="58775">
            <a:noAutofit/>
          </a:bodyPr>
          <a:lstStyle/>
          <a:p>
            <a:pPr indent="0" lvl="0" marL="0" marR="0" rtl="0" algn="just">
              <a:lnSpc>
                <a:spcPct val="115000"/>
              </a:lnSpc>
              <a:spcBef>
                <a:spcPts val="0"/>
              </a:spcBef>
              <a:spcAft>
                <a:spcPts val="0"/>
              </a:spcAft>
              <a:buClr>
                <a:srgbClr val="13232E"/>
              </a:buClr>
              <a:buSzPts val="1608"/>
              <a:buFont typeface="Calibri"/>
              <a:buNone/>
            </a:pPr>
            <a:r>
              <a:rPr i="0" lang="en-US" sz="2000" u="none" cap="none" strike="noStrike">
                <a:solidFill>
                  <a:schemeClr val="dk1"/>
                </a:solidFill>
                <a:latin typeface="Calibri"/>
                <a:ea typeface="Calibri"/>
                <a:cs typeface="Calibri"/>
                <a:sym typeface="Calibri"/>
              </a:rPr>
              <a:t>Vision Transformers now match or beat CNNs on medical image tasks, and cross-modal fusion lets multiple weak visual signals combine into one confident, explainable assessment.</a:t>
            </a:r>
            <a:endParaRPr i="0" sz="20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1000"/>
                                        <p:tgtEl>
                                          <p:spTgt spid="118"/>
                                        </p:tgtEl>
                                      </p:cBhvr>
                                    </p:animEffect>
                                  </p:childTnLst>
                                </p:cTn>
                              </p:par>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par>
                                <p:cTn fill="hold" nodeType="with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par>
                                <p:cTn fill="hold" nodeType="with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10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1000"/>
                                        <p:tgtEl>
                                          <p:spTgt spid="124"/>
                                        </p:tgtEl>
                                      </p:cBhvr>
                                    </p:animEffect>
                                  </p:childTnLst>
                                </p:cTn>
                              </p:par>
                              <p:par>
                                <p:cTn fill="hold" nodeType="with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1000"/>
                                        <p:tgtEl>
                                          <p:spTgt spid="125"/>
                                        </p:tgtEl>
                                      </p:cBhvr>
                                    </p:animEffect>
                                  </p:childTnLst>
                                </p:cTn>
                              </p:par>
                              <p:par>
                                <p:cTn fill="hold" nodeType="with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LITERATURE REVIEW</a:t>
            </a:r>
            <a:endParaRPr>
              <a:solidFill>
                <a:srgbClr val="0B3D59"/>
              </a:solidFill>
            </a:endParaRPr>
          </a:p>
        </p:txBody>
      </p:sp>
      <p:sp>
        <p:nvSpPr>
          <p:cNvPr id="132" name="Google Shape;132;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t>LITERATURE REVIEW</a:t>
            </a:r>
            <a:endParaRPr sz="2000"/>
          </a:p>
        </p:txBody>
      </p:sp>
      <p:graphicFrame>
        <p:nvGraphicFramePr>
          <p:cNvPr id="138" name="Google Shape;138;p20"/>
          <p:cNvGraphicFramePr/>
          <p:nvPr/>
        </p:nvGraphicFramePr>
        <p:xfrm>
          <a:off x="457200" y="1609200"/>
          <a:ext cx="3000000" cy="3000000"/>
        </p:xfrm>
        <a:graphic>
          <a:graphicData uri="http://schemas.openxmlformats.org/drawingml/2006/table">
            <a:tbl>
              <a:tblPr>
                <a:noFill/>
                <a:tableStyleId>{B72C5A8D-5030-47FC-9FBE-639BE6E02443}</a:tableStyleId>
              </a:tblPr>
              <a:tblGrid>
                <a:gridCol w="2057400"/>
                <a:gridCol w="2057400"/>
                <a:gridCol w="2057400"/>
                <a:gridCol w="2057400"/>
              </a:tblGrid>
              <a:tr h="527000">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Source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Modality</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Method</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Key Limitation</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076550">
                <a:tc>
                  <a:txBody>
                    <a:bodyPr/>
                    <a:lstStyle/>
                    <a:p>
                      <a:pPr indent="0" lvl="0" marL="0" rtl="0" algn="l">
                        <a:spcBef>
                          <a:spcPts val="0"/>
                        </a:spcBef>
                        <a:spcAft>
                          <a:spcPts val="0"/>
                        </a:spcAft>
                        <a:buNone/>
                      </a:pPr>
                      <a:r>
                        <a:rPr lang="en-US" sz="2000">
                          <a:latin typeface="Calibri"/>
                          <a:ea typeface="Calibri"/>
                          <a:cs typeface="Calibri"/>
                          <a:sym typeface="Calibri"/>
                        </a:rPr>
                        <a:t>Flügge et al., 2023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Oral cavity, OSCC</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Swin Transformer, Grad-CAM</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Single surface, no fusion</a:t>
                      </a:r>
                      <a:endParaRPr sz="2000">
                        <a:latin typeface="Calibri"/>
                        <a:ea typeface="Calibri"/>
                        <a:cs typeface="Calibri"/>
                        <a:sym typeface="Calibri"/>
                      </a:endParaRPr>
                    </a:p>
                  </a:txBody>
                  <a:tcPr marT="91425" marB="91425" marR="91425" marL="91425"/>
                </a:tc>
              </a:tr>
              <a:tr h="1076550">
                <a:tc>
                  <a:txBody>
                    <a:bodyPr/>
                    <a:lstStyle/>
                    <a:p>
                      <a:pPr indent="0" lvl="0" marL="0" rtl="0" algn="l">
                        <a:spcBef>
                          <a:spcPts val="0"/>
                        </a:spcBef>
                        <a:spcAft>
                          <a:spcPts val="0"/>
                        </a:spcAft>
                        <a:buNone/>
                      </a:pPr>
                      <a:r>
                        <a:rPr lang="en-US" sz="2000">
                          <a:latin typeface="Calibri"/>
                          <a:ea typeface="Calibri"/>
                          <a:cs typeface="Calibri"/>
                          <a:sym typeface="Calibri"/>
                        </a:rPr>
                        <a:t>Rabinovici-Cohen et al., 2024</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Oral cavity,  OPMD/OSCC</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CNN (ResNet18), OCNN (ResNet50)</a:t>
                      </a:r>
                      <a:endParaRPr sz="20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Grad-CAM</a:t>
                      </a:r>
                      <a:endParaRPr sz="2000">
                        <a:solidFill>
                          <a:schemeClr val="dk1"/>
                        </a:solidFill>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a:t>
                      </a:r>
                      <a:r>
                        <a:rPr lang="en-US" sz="2000">
                          <a:solidFill>
                            <a:schemeClr val="dk1"/>
                          </a:solidFill>
                          <a:latin typeface="Calibri"/>
                          <a:ea typeface="Calibri"/>
                          <a:cs typeface="Calibri"/>
                          <a:sym typeface="Calibri"/>
                        </a:rPr>
                        <a:t>lass imbalance</a:t>
                      </a:r>
                      <a:endParaRPr sz="2000">
                        <a:latin typeface="Calibri"/>
                        <a:ea typeface="Calibri"/>
                        <a:cs typeface="Calibri"/>
                        <a:sym typeface="Calibri"/>
                      </a:endParaRPr>
                    </a:p>
                  </a:txBody>
                  <a:tcPr marT="91425" marB="91425" marR="91425" marL="91425">
                    <a:solidFill>
                      <a:srgbClr val="E1E9EA"/>
                    </a:solidFill>
                  </a:tcPr>
                </a:tc>
              </a:tr>
              <a:tr h="1179525">
                <a:tc>
                  <a:txBody>
                    <a:bodyPr/>
                    <a:lstStyle/>
                    <a:p>
                      <a:pPr indent="0" lvl="0" marL="0" rtl="0" algn="l">
                        <a:spcBef>
                          <a:spcPts val="0"/>
                        </a:spcBef>
                        <a:spcAft>
                          <a:spcPts val="0"/>
                        </a:spcAft>
                        <a:buNone/>
                      </a:pPr>
                      <a:r>
                        <a:rPr lang="en-US" sz="2000">
                          <a:latin typeface="Calibri"/>
                          <a:ea typeface="Calibri"/>
                          <a:cs typeface="Calibri"/>
                          <a:sym typeface="Calibri"/>
                        </a:rPr>
                        <a:t>Asare et al., 2023</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Nails, palm, conjunctiva</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CNN, SVM, k-NN (compared)</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sz="2000">
                          <a:solidFill>
                            <a:schemeClr val="dk1"/>
                          </a:solidFill>
                          <a:latin typeface="Calibri"/>
                          <a:ea typeface="Calibri"/>
                          <a:cs typeface="Calibri"/>
                          <a:sym typeface="Calibri"/>
                        </a:rPr>
                        <a:t>S</a:t>
                      </a:r>
                      <a:r>
                        <a:rPr lang="en-US" sz="2000">
                          <a:solidFill>
                            <a:schemeClr val="dk1"/>
                          </a:solidFill>
                          <a:latin typeface="Calibri"/>
                          <a:ea typeface="Calibri"/>
                          <a:cs typeface="Calibri"/>
                          <a:sym typeface="Calibri"/>
                        </a:rPr>
                        <a:t>urfaces compared, never fused</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txBody>
                  <a:tcPr marT="91425" marB="91425" marR="91425" marL="91425"/>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LITERATURE REVIEW</a:t>
            </a:r>
            <a:endParaRPr sz="2000">
              <a:solidFill>
                <a:srgbClr val="0B3D59"/>
              </a:solidFill>
            </a:endParaRPr>
          </a:p>
        </p:txBody>
      </p:sp>
      <p:graphicFrame>
        <p:nvGraphicFramePr>
          <p:cNvPr id="144" name="Google Shape;144;p21"/>
          <p:cNvGraphicFramePr/>
          <p:nvPr/>
        </p:nvGraphicFramePr>
        <p:xfrm>
          <a:off x="457200" y="1609200"/>
          <a:ext cx="3000000" cy="3000000"/>
        </p:xfrm>
        <a:graphic>
          <a:graphicData uri="http://schemas.openxmlformats.org/drawingml/2006/table">
            <a:tbl>
              <a:tblPr>
                <a:noFill/>
                <a:tableStyleId>{B72C5A8D-5030-47FC-9FBE-639BE6E02443}</a:tableStyleId>
              </a:tblPr>
              <a:tblGrid>
                <a:gridCol w="2057400"/>
                <a:gridCol w="2057400"/>
                <a:gridCol w="2057400"/>
                <a:gridCol w="2057400"/>
              </a:tblGrid>
              <a:tr h="524750">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Source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Modality</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Method</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Key Limitation</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385475">
                <a:tc>
                  <a:txBody>
                    <a:bodyPr/>
                    <a:lstStyle/>
                    <a:p>
                      <a:pPr indent="0" lvl="0" marL="0" rtl="0" algn="l">
                        <a:spcBef>
                          <a:spcPts val="0"/>
                        </a:spcBef>
                        <a:spcAft>
                          <a:spcPts val="0"/>
                        </a:spcAft>
                        <a:buNone/>
                      </a:pPr>
                      <a:r>
                        <a:rPr lang="en-US" sz="2000">
                          <a:latin typeface="Calibri"/>
                          <a:ea typeface="Calibri"/>
                          <a:cs typeface="Calibri"/>
                          <a:sym typeface="Calibri"/>
                        </a:rPr>
                        <a:t>Ye et al., 2026 (iMES)</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Face, tongue, pulse</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CCA fusion, SHAP</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Dedicated hardware, no uncertainty output</a:t>
                      </a:r>
                      <a:endParaRPr sz="2000">
                        <a:latin typeface="Calibri"/>
                        <a:ea typeface="Calibri"/>
                        <a:cs typeface="Calibri"/>
                        <a:sym typeface="Calibri"/>
                      </a:endParaRPr>
                    </a:p>
                  </a:txBody>
                  <a:tcPr marT="91425" marB="91425" marR="91425" marL="91425"/>
                </a:tc>
              </a:tr>
              <a:tr h="1084275">
                <a:tc>
                  <a:txBody>
                    <a:bodyPr/>
                    <a:lstStyle/>
                    <a:p>
                      <a:pPr indent="0" lvl="0" marL="0" rtl="0" algn="l">
                        <a:spcBef>
                          <a:spcPts val="0"/>
                        </a:spcBef>
                        <a:spcAft>
                          <a:spcPts val="0"/>
                        </a:spcAft>
                        <a:buNone/>
                      </a:pPr>
                      <a:r>
                        <a:rPr lang="en-US" sz="2000">
                          <a:latin typeface="Calibri"/>
                          <a:ea typeface="Calibri"/>
                          <a:cs typeface="Calibri"/>
                          <a:sym typeface="Calibri"/>
                        </a:rPr>
                        <a:t>General ViT literature</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Various medical imaging</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Vision Transformer encoders</a:t>
                      </a:r>
                      <a:endParaRPr sz="2000">
                        <a:latin typeface="Calibri"/>
                        <a:ea typeface="Calibri"/>
                        <a:cs typeface="Calibri"/>
                        <a:sym typeface="Calibri"/>
                      </a:endParaRPr>
                    </a:p>
                  </a:txBody>
                  <a:tcPr marT="91425" marB="91425" marR="91425" marL="91425">
                    <a:solidFill>
                      <a:srgbClr val="E1E9EA"/>
                    </a:solidFill>
                  </a:tcPr>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Rarely combined across surfaces</a:t>
                      </a:r>
                      <a:endParaRPr sz="2000">
                        <a:latin typeface="Calibri"/>
                        <a:ea typeface="Calibri"/>
                        <a:cs typeface="Calibri"/>
                        <a:sym typeface="Calibri"/>
                      </a:endParaRPr>
                    </a:p>
                  </a:txBody>
                  <a:tcPr marT="91425" marB="91425" marR="91425" marL="91425">
                    <a:solidFill>
                      <a:srgbClr val="E1E9EA"/>
                    </a:solidFill>
                  </a:tcPr>
                </a:tc>
              </a:tr>
              <a:tr h="1385475">
                <a:tc>
                  <a:txBody>
                    <a:bodyPr/>
                    <a:lstStyle/>
                    <a:p>
                      <a:pPr indent="0" lvl="0" marL="0" rtl="0" algn="l">
                        <a:spcBef>
                          <a:spcPts val="0"/>
                        </a:spcBef>
                        <a:spcAft>
                          <a:spcPts val="0"/>
                        </a:spcAft>
                        <a:buNone/>
                      </a:pPr>
                      <a:r>
                        <a:rPr lang="en-US" sz="2000">
                          <a:latin typeface="Calibri"/>
                          <a:ea typeface="Calibri"/>
                          <a:cs typeface="Calibri"/>
                          <a:sym typeface="Calibri"/>
                        </a:rPr>
                        <a:t>Multimodal fusion literature</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Cross-domain imaging</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Attention-based fusion</a:t>
                      </a:r>
                      <a:endParaRPr sz="2000">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No smartphone-only variant</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Gap Analysis</a:t>
            </a:r>
            <a:endParaRPr>
              <a:solidFill>
                <a:srgbClr val="0B3D59"/>
              </a:solidFill>
            </a:endParaRPr>
          </a:p>
        </p:txBody>
      </p:sp>
      <p:sp>
        <p:nvSpPr>
          <p:cNvPr id="150" name="Google Shape;150;p22"/>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Gap Analysis</a:t>
            </a:r>
            <a:endParaRPr b="1" sz="4000">
              <a:solidFill>
                <a:srgbClr val="0B3D59"/>
              </a:solidFill>
            </a:endParaRPr>
          </a:p>
        </p:txBody>
      </p:sp>
      <p:sp>
        <p:nvSpPr>
          <p:cNvPr id="156" name="Google Shape;156;p23"/>
          <p:cNvSpPr txBox="1"/>
          <p:nvPr>
            <p:ph idx="1" type="body"/>
          </p:nvPr>
        </p:nvSpPr>
        <p:spPr>
          <a:xfrm>
            <a:off x="457200" y="1470530"/>
            <a:ext cx="8229600" cy="14025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3200"/>
              <a:buNone/>
            </a:pPr>
            <a:r>
              <a:rPr b="1" lang="en-US" sz="2100"/>
              <a:t>1. Single-surface tools dominate the field.</a:t>
            </a:r>
            <a:r>
              <a:rPr lang="en-US" sz="2100"/>
              <a:t> Conjunctival pallor detection, nail-based anemia/clubbing classifiers, and oral cavity OSCC screeners each work on one body surface only. None combine surfaces.</a:t>
            </a:r>
            <a:endParaRPr sz="2100"/>
          </a:p>
          <a:p>
            <a:pPr indent="-139700" lvl="0" marL="342900" rtl="0" algn="l">
              <a:lnSpc>
                <a:spcPct val="150000"/>
              </a:lnSpc>
              <a:spcBef>
                <a:spcPts val="0"/>
              </a:spcBef>
              <a:spcAft>
                <a:spcPts val="0"/>
              </a:spcAft>
              <a:buClr>
                <a:schemeClr val="dk1"/>
              </a:buClr>
              <a:buSzPts val="3200"/>
              <a:buNone/>
            </a:pPr>
            <a:r>
              <a:t/>
            </a:r>
            <a:endParaRPr sz="1200">
              <a:latin typeface="Arial"/>
              <a:ea typeface="Arial"/>
              <a:cs typeface="Arial"/>
              <a:sym typeface="Arial"/>
            </a:endParaRPr>
          </a:p>
        </p:txBody>
      </p:sp>
      <p:sp>
        <p:nvSpPr>
          <p:cNvPr id="157" name="Google Shape;157;p23"/>
          <p:cNvSpPr txBox="1"/>
          <p:nvPr/>
        </p:nvSpPr>
        <p:spPr>
          <a:xfrm>
            <a:off x="478325" y="2944900"/>
            <a:ext cx="8208600" cy="1383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1200"/>
              </a:spcAft>
              <a:buClr>
                <a:schemeClr val="dk1"/>
              </a:buClr>
              <a:buSzPts val="1100"/>
              <a:buFont typeface="Arial"/>
              <a:buNone/>
            </a:pPr>
            <a:r>
              <a:rPr b="1" lang="en-US" sz="2100">
                <a:solidFill>
                  <a:schemeClr val="dk1"/>
                </a:solidFill>
                <a:latin typeface="Calibri"/>
                <a:ea typeface="Calibri"/>
                <a:cs typeface="Calibri"/>
                <a:sym typeface="Calibri"/>
              </a:rPr>
              <a:t>2. No cross-surface fusion.</a:t>
            </a:r>
            <a:r>
              <a:rPr lang="en-US" sz="2100">
                <a:solidFill>
                  <a:schemeClr val="dk1"/>
                </a:solidFill>
                <a:latin typeface="Calibri"/>
                <a:ea typeface="Calibri"/>
                <a:cs typeface="Calibri"/>
                <a:sym typeface="Calibri"/>
              </a:rPr>
              <a:t> Asare et al. (2023) collected fingernail, palm, and conjunctiva images from the same patients but only compared them, never fused them into one model.</a:t>
            </a:r>
            <a:endParaRPr sz="3200">
              <a:solidFill>
                <a:schemeClr val="dk1"/>
              </a:solidFill>
              <a:latin typeface="Calibri"/>
              <a:ea typeface="Calibri"/>
              <a:cs typeface="Calibri"/>
              <a:sym typeface="Calibri"/>
            </a:endParaRPr>
          </a:p>
        </p:txBody>
      </p:sp>
      <p:sp>
        <p:nvSpPr>
          <p:cNvPr id="158" name="Google Shape;158;p23"/>
          <p:cNvSpPr txBox="1"/>
          <p:nvPr/>
        </p:nvSpPr>
        <p:spPr>
          <a:xfrm>
            <a:off x="492750" y="4428875"/>
            <a:ext cx="8229600" cy="1311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1200"/>
              </a:spcAft>
              <a:buClr>
                <a:schemeClr val="dk1"/>
              </a:buClr>
              <a:buSzPts val="1100"/>
              <a:buFont typeface="Arial"/>
              <a:buNone/>
            </a:pPr>
            <a:r>
              <a:rPr b="1" lang="en-US" sz="2100">
                <a:solidFill>
                  <a:schemeClr val="dk1"/>
                </a:solidFill>
                <a:latin typeface="Calibri"/>
                <a:ea typeface="Calibri"/>
                <a:cs typeface="Calibri"/>
                <a:sym typeface="Calibri"/>
              </a:rPr>
              <a:t>3. Fusion exists, but needs dedicated hardware.</a:t>
            </a:r>
            <a:r>
              <a:rPr lang="en-US" sz="2100">
                <a:solidFill>
                  <a:schemeClr val="dk1"/>
                </a:solidFill>
                <a:latin typeface="Calibri"/>
                <a:ea typeface="Calibri"/>
                <a:cs typeface="Calibri"/>
                <a:sym typeface="Calibri"/>
              </a:rPr>
              <a:t> iMES (Ye et al., 2026) fuses face, tongue, and pulse for 9 diseases at 92%+ accuracy, but requires a purpose-built capture device, not a smartphone.</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
                                        </p:tgtEl>
                                        <p:attrNameLst>
                                          <p:attrName>style.visibility</p:attrName>
                                        </p:attrNameLst>
                                      </p:cBhvr>
                                      <p:to>
                                        <p:strVal val="visible"/>
                                      </p:to>
                                    </p:set>
                                    <p:animEffect filter="fade" transition="in">
                                      <p:cBhvr>
                                        <p:cTn dur="1000"/>
                                        <p:tgtEl>
                                          <p:spTgt spid="1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50000"/>
              </a:lnSpc>
              <a:spcBef>
                <a:spcPts val="0"/>
              </a:spcBef>
              <a:spcAft>
                <a:spcPts val="0"/>
              </a:spcAft>
              <a:buSzPts val="1400"/>
              <a:buNone/>
            </a:pPr>
            <a:r>
              <a:rPr b="1" lang="en-US" sz="4000">
                <a:solidFill>
                  <a:srgbClr val="0B3D59"/>
                </a:solidFill>
              </a:rPr>
              <a:t>Gap Analysis</a:t>
            </a:r>
            <a:endParaRPr b="1" sz="4000">
              <a:solidFill>
                <a:srgbClr val="0B3D59"/>
              </a:solidFill>
            </a:endParaRPr>
          </a:p>
        </p:txBody>
      </p:sp>
      <p:sp>
        <p:nvSpPr>
          <p:cNvPr id="164" name="Google Shape;164;p24"/>
          <p:cNvSpPr txBox="1"/>
          <p:nvPr>
            <p:ph idx="1" type="body"/>
          </p:nvPr>
        </p:nvSpPr>
        <p:spPr>
          <a:xfrm>
            <a:off x="457200" y="1470527"/>
            <a:ext cx="8229600" cy="8904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1200"/>
              </a:spcBef>
              <a:spcAft>
                <a:spcPts val="0"/>
              </a:spcAft>
              <a:buClr>
                <a:schemeClr val="dk1"/>
              </a:buClr>
              <a:buSzPts val="1100"/>
              <a:buNone/>
            </a:pPr>
            <a:r>
              <a:rPr b="1" lang="en-US" sz="2000"/>
              <a:t>4. No uncertainty output.</a:t>
            </a:r>
            <a:r>
              <a:rPr lang="en-US" sz="2000"/>
              <a:t> iMES's CCA-based fusion and Asare et al.'s classifiers all return a bare label or SHAP heatmap, never a confidence score.</a:t>
            </a:r>
            <a:endParaRPr b="1" sz="2100"/>
          </a:p>
          <a:p>
            <a:pPr indent="-139700" lvl="0" marL="342900" rtl="0" algn="l">
              <a:lnSpc>
                <a:spcPct val="150000"/>
              </a:lnSpc>
              <a:spcBef>
                <a:spcPts val="1200"/>
              </a:spcBef>
              <a:spcAft>
                <a:spcPts val="0"/>
              </a:spcAft>
              <a:buClr>
                <a:schemeClr val="dk1"/>
              </a:buClr>
              <a:buSzPts val="3200"/>
              <a:buNone/>
            </a:pPr>
            <a:r>
              <a:t/>
            </a:r>
            <a:endParaRPr sz="1200">
              <a:latin typeface="Arial"/>
              <a:ea typeface="Arial"/>
              <a:cs typeface="Arial"/>
              <a:sym typeface="Arial"/>
            </a:endParaRPr>
          </a:p>
        </p:txBody>
      </p:sp>
      <p:sp>
        <p:nvSpPr>
          <p:cNvPr id="165" name="Google Shape;165;p24"/>
          <p:cNvSpPr txBox="1"/>
          <p:nvPr/>
        </p:nvSpPr>
        <p:spPr>
          <a:xfrm>
            <a:off x="478325" y="2471664"/>
            <a:ext cx="8208600" cy="1383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b="1" lang="en-US" sz="2000">
                <a:solidFill>
                  <a:schemeClr val="dk1"/>
                </a:solidFill>
                <a:latin typeface="Calibri"/>
                <a:ea typeface="Calibri"/>
                <a:cs typeface="Calibri"/>
                <a:sym typeface="Calibri"/>
              </a:rPr>
              <a:t>5. Severe class imbalance, unaddressed.</a:t>
            </a:r>
            <a:r>
              <a:rPr lang="en-US" sz="2000">
                <a:solidFill>
                  <a:schemeClr val="dk1"/>
                </a:solidFill>
                <a:latin typeface="Calibri"/>
                <a:ea typeface="Calibri"/>
                <a:cs typeface="Calibri"/>
                <a:sym typeface="Calibri"/>
              </a:rPr>
              <a:t> Rabinovici-Cohen et al. (2024) report OSCC accuracy on datasets where positive samples (540) are dwarfed by negatives (1,500), with no stated imbalance strategy.</a:t>
            </a:r>
            <a:endParaRPr sz="2000">
              <a:solidFill>
                <a:schemeClr val="dk1"/>
              </a:solidFill>
              <a:latin typeface="Calibri"/>
              <a:ea typeface="Calibri"/>
              <a:cs typeface="Calibri"/>
              <a:sym typeface="Calibri"/>
            </a:endParaRPr>
          </a:p>
          <a:p>
            <a:pPr indent="0" lvl="0" marL="0" rtl="0" algn="l">
              <a:lnSpc>
                <a:spcPct val="150000"/>
              </a:lnSpc>
              <a:spcBef>
                <a:spcPts val="1200"/>
              </a:spcBef>
              <a:spcAft>
                <a:spcPts val="1200"/>
              </a:spcAft>
              <a:buNone/>
            </a:pPr>
            <a:r>
              <a:t/>
            </a:r>
            <a:endParaRPr b="1" sz="2100">
              <a:solidFill>
                <a:schemeClr val="dk1"/>
              </a:solidFill>
              <a:latin typeface="Calibri"/>
              <a:ea typeface="Calibri"/>
              <a:cs typeface="Calibri"/>
              <a:sym typeface="Calibri"/>
            </a:endParaRPr>
          </a:p>
        </p:txBody>
      </p:sp>
      <p:sp>
        <p:nvSpPr>
          <p:cNvPr id="166" name="Google Shape;166;p24"/>
          <p:cNvSpPr txBox="1"/>
          <p:nvPr/>
        </p:nvSpPr>
        <p:spPr>
          <a:xfrm>
            <a:off x="479662" y="3944266"/>
            <a:ext cx="8229600" cy="13110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None/>
            </a:pPr>
            <a:r>
              <a:rPr b="1" lang="en-US" sz="2000">
                <a:solidFill>
                  <a:schemeClr val="dk1"/>
                </a:solidFill>
                <a:latin typeface="Calibri"/>
                <a:ea typeface="Calibri"/>
                <a:cs typeface="Calibri"/>
                <a:sym typeface="Calibri"/>
              </a:rPr>
              <a:t>6. No missing-modality robustness.</a:t>
            </a:r>
            <a:r>
              <a:rPr lang="en-US" sz="2000">
                <a:solidFill>
                  <a:schemeClr val="dk1"/>
                </a:solidFill>
                <a:latin typeface="Calibri"/>
                <a:ea typeface="Calibri"/>
                <a:cs typeface="Calibri"/>
                <a:sym typeface="Calibri"/>
              </a:rPr>
              <a:t> Every reviewed system (Asare et al., iMES, single-surface classifiers) assumes all inputs are always present and well-captured.</a:t>
            </a:r>
            <a:endParaRPr sz="2000">
              <a:solidFill>
                <a:schemeClr val="dk1"/>
              </a:solidFill>
              <a:latin typeface="Calibri"/>
              <a:ea typeface="Calibri"/>
              <a:cs typeface="Calibri"/>
              <a:sym typeface="Calibri"/>
            </a:endParaRPr>
          </a:p>
          <a:p>
            <a:pPr indent="0" lvl="0" marL="0" rtl="0" algn="l">
              <a:lnSpc>
                <a:spcPct val="150000"/>
              </a:lnSpc>
              <a:spcBef>
                <a:spcPts val="1200"/>
              </a:spcBef>
              <a:spcAft>
                <a:spcPts val="1200"/>
              </a:spcAft>
              <a:buNone/>
            </a:pPr>
            <a:r>
              <a:t/>
            </a:r>
            <a:endParaRPr b="1" sz="21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PROBLEM STATEMENT</a:t>
            </a:r>
            <a:endParaRPr>
              <a:solidFill>
                <a:srgbClr val="0B3D59"/>
              </a:solidFill>
            </a:endParaRPr>
          </a:p>
        </p:txBody>
      </p:sp>
      <p:sp>
        <p:nvSpPr>
          <p:cNvPr id="172" name="Google Shape;172;p2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PROBLEM STATEMENT</a:t>
            </a:r>
            <a:endParaRPr>
              <a:solidFill>
                <a:srgbClr val="0B3D59"/>
              </a:solidFill>
            </a:endParaRPr>
          </a:p>
        </p:txBody>
      </p:sp>
      <p:sp>
        <p:nvSpPr>
          <p:cNvPr id="178" name="Google Shape;178;p26"/>
          <p:cNvSpPr txBox="1"/>
          <p:nvPr/>
        </p:nvSpPr>
        <p:spPr>
          <a:xfrm>
            <a:off x="413253" y="1501325"/>
            <a:ext cx="7912500" cy="4268700"/>
          </a:xfrm>
          <a:prstGeom prst="rect">
            <a:avLst/>
          </a:prstGeom>
          <a:noFill/>
          <a:ln>
            <a:noFill/>
          </a:ln>
        </p:spPr>
        <p:txBody>
          <a:bodyPr anchorCtr="0" anchor="t" bIns="91425" lIns="91425" spcFirstLastPara="1" rIns="91425" wrap="square" tIns="91425">
            <a:noAutofit/>
          </a:bodyPr>
          <a:lstStyle/>
          <a:p>
            <a:pPr indent="-139700" lvl="0" marL="342900" rtl="0" algn="just">
              <a:spcBef>
                <a:spcPts val="0"/>
              </a:spcBef>
              <a:spcAft>
                <a:spcPts val="0"/>
              </a:spcAft>
              <a:buNone/>
            </a:pPr>
            <a:r>
              <a:rPr lang="en-US" sz="2400">
                <a:solidFill>
                  <a:schemeClr val="dk1"/>
                </a:solidFill>
                <a:latin typeface="Calibri"/>
                <a:ea typeface="Calibri"/>
                <a:cs typeface="Calibri"/>
                <a:sym typeface="Calibri"/>
              </a:rPr>
              <a:t> Systemic diseases often show early visible signs on body surfaces such as the oral cavity, nails, eyes, tongue, and palms, but no existing tool screens for them together. Current approaches work on a single surface at a time, require dedicated capture hardware, or return a result with no confidence score and no explanation. As a result, patients without easy access to a clinician have no reliable way to self-screen using only a device they already own.</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PROPOSED SOLUTION AND METHODOLOGY</a:t>
            </a:r>
            <a:endParaRPr>
              <a:solidFill>
                <a:srgbClr val="0B3D59"/>
              </a:solidFill>
            </a:endParaRPr>
          </a:p>
        </p:txBody>
      </p:sp>
      <p:sp>
        <p:nvSpPr>
          <p:cNvPr id="184" name="Google Shape;184;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PROPOSED SOLUTION</a:t>
            </a:r>
            <a:endParaRPr>
              <a:solidFill>
                <a:srgbClr val="0B3D59"/>
              </a:solidFill>
            </a:endParaRPr>
          </a:p>
        </p:txBody>
      </p:sp>
      <p:sp>
        <p:nvSpPr>
          <p:cNvPr id="190" name="Google Shape;190;p28"/>
          <p:cNvSpPr txBox="1"/>
          <p:nvPr>
            <p:ph idx="1" type="body"/>
          </p:nvPr>
        </p:nvSpPr>
        <p:spPr>
          <a:xfrm>
            <a:off x="457200" y="1600200"/>
            <a:ext cx="8229600" cy="768300"/>
          </a:xfrm>
          <a:prstGeom prst="rect">
            <a:avLst/>
          </a:prstGeom>
          <a:noFill/>
          <a:ln>
            <a:noFill/>
          </a:ln>
        </p:spPr>
        <p:txBody>
          <a:bodyPr anchorCtr="0" anchor="t" bIns="45700" lIns="91425" spcFirstLastPara="1" rIns="91425" wrap="square" tIns="45700">
            <a:noAutofit/>
          </a:bodyPr>
          <a:lstStyle/>
          <a:p>
            <a:pPr indent="-355600" lvl="0" marL="457200" rtl="0" algn="just">
              <a:lnSpc>
                <a:spcPct val="115000"/>
              </a:lnSpc>
              <a:spcBef>
                <a:spcPts val="1200"/>
              </a:spcBef>
              <a:spcAft>
                <a:spcPts val="0"/>
              </a:spcAft>
              <a:buSzPts val="2000"/>
              <a:buChar char="○"/>
            </a:pPr>
            <a:r>
              <a:rPr lang="en-US" sz="2000"/>
              <a:t>GLANCE captures </a:t>
            </a:r>
            <a:r>
              <a:rPr b="1" lang="en-US" sz="2000"/>
              <a:t>five smartphone photographs</a:t>
            </a:r>
            <a:r>
              <a:rPr lang="en-US" sz="2000"/>
              <a:t>, one per body surface: oral cavity, fingernails, conjunctiva, tongue, and palm.</a:t>
            </a:r>
            <a:endParaRPr sz="2000"/>
          </a:p>
        </p:txBody>
      </p:sp>
      <p:sp>
        <p:nvSpPr>
          <p:cNvPr id="191" name="Google Shape;191;p28"/>
          <p:cNvSpPr txBox="1"/>
          <p:nvPr/>
        </p:nvSpPr>
        <p:spPr>
          <a:xfrm>
            <a:off x="449525" y="2351150"/>
            <a:ext cx="8229600" cy="11430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Each surface is processed by its own </a:t>
            </a:r>
            <a:r>
              <a:rPr b="1" lang="en-US" sz="2000">
                <a:solidFill>
                  <a:schemeClr val="dk1"/>
                </a:solidFill>
                <a:latin typeface="Calibri"/>
                <a:ea typeface="Calibri"/>
                <a:cs typeface="Calibri"/>
                <a:sym typeface="Calibri"/>
              </a:rPr>
              <a:t>ViT-B/16</a:t>
            </a:r>
            <a:r>
              <a:rPr lang="en-US" sz="2000">
                <a:solidFill>
                  <a:schemeClr val="dk1"/>
                </a:solidFill>
                <a:latin typeface="Calibri"/>
                <a:ea typeface="Calibri"/>
                <a:cs typeface="Calibri"/>
                <a:sym typeface="Calibri"/>
              </a:rPr>
              <a:t> encoder. A custom </a:t>
            </a:r>
            <a:r>
              <a:rPr b="1" lang="en-US" sz="2000">
                <a:solidFill>
                  <a:schemeClr val="dk1"/>
                </a:solidFill>
                <a:latin typeface="Calibri"/>
                <a:ea typeface="Calibri"/>
                <a:cs typeface="Calibri"/>
                <a:sym typeface="Calibri"/>
              </a:rPr>
              <a:t>cross-modal attention fusion transformer</a:t>
            </a:r>
            <a:r>
              <a:rPr lang="en-US" sz="2000">
                <a:solidFill>
                  <a:schemeClr val="dk1"/>
                </a:solidFill>
                <a:latin typeface="Calibri"/>
                <a:ea typeface="Calibri"/>
                <a:cs typeface="Calibri"/>
                <a:sym typeface="Calibri"/>
              </a:rPr>
              <a:t> combines the five encoder outputs into one joint assessment.</a:t>
            </a:r>
            <a:endParaRPr sz="2000">
              <a:solidFill>
                <a:schemeClr val="dk1"/>
              </a:solidFill>
              <a:latin typeface="Calibri"/>
              <a:ea typeface="Calibri"/>
              <a:cs typeface="Calibri"/>
              <a:sym typeface="Calibri"/>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
        <p:nvSpPr>
          <p:cNvPr id="192" name="Google Shape;192;p28"/>
          <p:cNvSpPr txBox="1"/>
          <p:nvPr/>
        </p:nvSpPr>
        <p:spPr>
          <a:xfrm>
            <a:off x="435100" y="3460550"/>
            <a:ext cx="8229600" cy="11430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The system adds three things current approaches lack: a </a:t>
            </a:r>
            <a:r>
              <a:rPr b="1" lang="en-US" sz="2000">
                <a:solidFill>
                  <a:schemeClr val="dk1"/>
                </a:solidFill>
                <a:latin typeface="Calibri"/>
                <a:ea typeface="Calibri"/>
                <a:cs typeface="Calibri"/>
                <a:sym typeface="Calibri"/>
              </a:rPr>
              <a:t>confidence score</a:t>
            </a:r>
            <a:r>
              <a:rPr lang="en-US" sz="2000">
                <a:solidFill>
                  <a:schemeClr val="dk1"/>
                </a:solidFill>
                <a:latin typeface="Calibri"/>
                <a:ea typeface="Calibri"/>
                <a:cs typeface="Calibri"/>
                <a:sym typeface="Calibri"/>
              </a:rPr>
              <a:t> via Monte Carlo Dropout, an attention-based</a:t>
            </a:r>
            <a:r>
              <a:rPr b="1" lang="en-US" sz="2000">
                <a:solidFill>
                  <a:schemeClr val="dk1"/>
                </a:solidFill>
                <a:latin typeface="Calibri"/>
                <a:ea typeface="Calibri"/>
                <a:cs typeface="Calibri"/>
                <a:sym typeface="Calibri"/>
              </a:rPr>
              <a:t> visual explanation</a:t>
            </a:r>
            <a:r>
              <a:rPr lang="en-US" sz="2000">
                <a:solidFill>
                  <a:schemeClr val="dk1"/>
                </a:solidFill>
                <a:latin typeface="Calibri"/>
                <a:ea typeface="Calibri"/>
                <a:cs typeface="Calibri"/>
                <a:sym typeface="Calibri"/>
              </a:rPr>
              <a:t> of what drove the result, and robustness when a surface image is </a:t>
            </a:r>
            <a:r>
              <a:rPr b="1" lang="en-US" sz="2000">
                <a:solidFill>
                  <a:schemeClr val="dk1"/>
                </a:solidFill>
                <a:latin typeface="Calibri"/>
                <a:ea typeface="Calibri"/>
                <a:cs typeface="Calibri"/>
                <a:sym typeface="Calibri"/>
              </a:rPr>
              <a:t>missing or low quality</a:t>
            </a:r>
            <a:r>
              <a:rPr lang="en-US" sz="20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193" name="Google Shape;193;p28"/>
          <p:cNvSpPr txBox="1"/>
          <p:nvPr/>
        </p:nvSpPr>
        <p:spPr>
          <a:xfrm>
            <a:off x="435100" y="4944525"/>
            <a:ext cx="8229600" cy="768300"/>
          </a:xfrm>
          <a:prstGeom prst="rect">
            <a:avLst/>
          </a:prstGeom>
          <a:noFill/>
          <a:ln>
            <a:noFill/>
          </a:ln>
        </p:spPr>
        <p:txBody>
          <a:bodyPr anchorCtr="0" anchor="t" bIns="91425" lIns="91425" spcFirstLastPara="1" rIns="91425" wrap="square" tIns="91425">
            <a:noAutofit/>
          </a:bodyPr>
          <a:lstStyle/>
          <a:p>
            <a:pPr indent="-355600" lvl="0" marL="457200" rtl="0" algn="just">
              <a:lnSpc>
                <a:spcPct val="115000"/>
              </a:lnSpc>
              <a:spcBef>
                <a:spcPts val="1200"/>
              </a:spcBef>
              <a:spcAft>
                <a:spcPts val="0"/>
              </a:spcAft>
              <a:buClr>
                <a:schemeClr val="dk1"/>
              </a:buClr>
              <a:buSzPts val="2000"/>
              <a:buChar char="○"/>
            </a:pPr>
            <a:r>
              <a:rPr lang="en-US" sz="2000">
                <a:solidFill>
                  <a:schemeClr val="dk1"/>
                </a:solidFill>
                <a:latin typeface="Calibri"/>
                <a:ea typeface="Calibri"/>
                <a:cs typeface="Calibri"/>
                <a:sym typeface="Calibri"/>
              </a:rPr>
              <a:t>The final output is a </a:t>
            </a:r>
            <a:r>
              <a:rPr b="1" lang="en-US" sz="2000">
                <a:solidFill>
                  <a:schemeClr val="dk1"/>
                </a:solidFill>
                <a:latin typeface="Calibri"/>
                <a:ea typeface="Calibri"/>
                <a:cs typeface="Calibri"/>
                <a:sym typeface="Calibri"/>
              </a:rPr>
              <a:t>risk score</a:t>
            </a:r>
            <a:r>
              <a:rPr lang="en-US" sz="2000">
                <a:solidFill>
                  <a:schemeClr val="dk1"/>
                </a:solidFill>
                <a:latin typeface="Calibri"/>
                <a:ea typeface="Calibri"/>
                <a:cs typeface="Calibri"/>
                <a:sym typeface="Calibri"/>
              </a:rPr>
              <a:t> with its </a:t>
            </a:r>
            <a:r>
              <a:rPr b="1" lang="en-US" sz="2000">
                <a:solidFill>
                  <a:schemeClr val="dk1"/>
                </a:solidFill>
                <a:latin typeface="Calibri"/>
                <a:ea typeface="Calibri"/>
                <a:cs typeface="Calibri"/>
                <a:sym typeface="Calibri"/>
              </a:rPr>
              <a:t>confidence</a:t>
            </a:r>
            <a:r>
              <a:rPr lang="en-US" sz="2000">
                <a:solidFill>
                  <a:schemeClr val="dk1"/>
                </a:solidFill>
                <a:latin typeface="Calibri"/>
                <a:ea typeface="Calibri"/>
                <a:cs typeface="Calibri"/>
                <a:sym typeface="Calibri"/>
              </a:rPr>
              <a:t> and </a:t>
            </a:r>
            <a:r>
              <a:rPr b="1" lang="en-US" sz="2000">
                <a:solidFill>
                  <a:schemeClr val="dk1"/>
                </a:solidFill>
                <a:latin typeface="Calibri"/>
                <a:ea typeface="Calibri"/>
                <a:cs typeface="Calibri"/>
                <a:sym typeface="Calibri"/>
              </a:rPr>
              <a:t>explanation</a:t>
            </a:r>
            <a:r>
              <a:rPr lang="en-US" sz="20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METHODOLOGY</a:t>
            </a:r>
            <a:endParaRPr>
              <a:solidFill>
                <a:srgbClr val="0B3D59"/>
              </a:solidFill>
            </a:endParaRPr>
          </a:p>
        </p:txBody>
      </p:sp>
      <p:sp>
        <p:nvSpPr>
          <p:cNvPr id="199" name="Google Shape;199;p29"/>
          <p:cNvSpPr/>
          <p:nvPr/>
        </p:nvSpPr>
        <p:spPr>
          <a:xfrm>
            <a:off x="457175" y="183552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p:nvPr/>
        </p:nvSpPr>
        <p:spPr>
          <a:xfrm>
            <a:off x="457175" y="183552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Oral</a:t>
            </a:r>
            <a:endParaRPr b="0" i="0" sz="1800" u="none" cap="none" strike="noStrike">
              <a:solidFill>
                <a:srgbClr val="000000"/>
              </a:solidFill>
              <a:latin typeface="Calibri"/>
              <a:ea typeface="Calibri"/>
              <a:cs typeface="Calibri"/>
              <a:sym typeface="Calibri"/>
            </a:endParaRPr>
          </a:p>
        </p:txBody>
      </p:sp>
      <p:cxnSp>
        <p:nvCxnSpPr>
          <p:cNvPr id="201" name="Google Shape;201;p29"/>
          <p:cNvCxnSpPr/>
          <p:nvPr/>
        </p:nvCxnSpPr>
        <p:spPr>
          <a:xfrm>
            <a:off x="1949803" y="2137211"/>
            <a:ext cx="443700" cy="0"/>
          </a:xfrm>
          <a:prstGeom prst="straightConnector1">
            <a:avLst/>
          </a:prstGeom>
          <a:noFill/>
          <a:ln cap="flat" cmpd="sng" w="19050">
            <a:solidFill>
              <a:srgbClr val="1C7293"/>
            </a:solidFill>
            <a:prstDash val="solid"/>
            <a:round/>
            <a:headEnd len="sm" w="sm" type="none"/>
            <a:tailEnd len="med" w="med" type="triangle"/>
          </a:ln>
        </p:spPr>
      </p:cxnSp>
      <p:sp>
        <p:nvSpPr>
          <p:cNvPr id="202" name="Google Shape;202;p29"/>
          <p:cNvSpPr/>
          <p:nvPr/>
        </p:nvSpPr>
        <p:spPr>
          <a:xfrm>
            <a:off x="457175" y="259460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9"/>
          <p:cNvSpPr/>
          <p:nvPr/>
        </p:nvSpPr>
        <p:spPr>
          <a:xfrm>
            <a:off x="457175" y="259460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Nails</a:t>
            </a:r>
            <a:endParaRPr b="0" i="0" sz="1800" u="none" cap="none" strike="noStrike">
              <a:solidFill>
                <a:srgbClr val="000000"/>
              </a:solidFill>
              <a:latin typeface="Calibri"/>
              <a:ea typeface="Calibri"/>
              <a:cs typeface="Calibri"/>
              <a:sym typeface="Calibri"/>
            </a:endParaRPr>
          </a:p>
        </p:txBody>
      </p:sp>
      <p:cxnSp>
        <p:nvCxnSpPr>
          <p:cNvPr id="204" name="Google Shape;204;p29"/>
          <p:cNvCxnSpPr/>
          <p:nvPr/>
        </p:nvCxnSpPr>
        <p:spPr>
          <a:xfrm>
            <a:off x="1949803" y="2896291"/>
            <a:ext cx="443700" cy="0"/>
          </a:xfrm>
          <a:prstGeom prst="straightConnector1">
            <a:avLst/>
          </a:prstGeom>
          <a:noFill/>
          <a:ln cap="flat" cmpd="sng" w="19050">
            <a:solidFill>
              <a:srgbClr val="1C7293"/>
            </a:solidFill>
            <a:prstDash val="solid"/>
            <a:round/>
            <a:headEnd len="sm" w="sm" type="none"/>
            <a:tailEnd len="med" w="med" type="triangle"/>
          </a:ln>
        </p:spPr>
      </p:cxnSp>
      <p:sp>
        <p:nvSpPr>
          <p:cNvPr id="205" name="Google Shape;205;p29"/>
          <p:cNvSpPr/>
          <p:nvPr/>
        </p:nvSpPr>
        <p:spPr>
          <a:xfrm>
            <a:off x="457175" y="335368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9"/>
          <p:cNvSpPr/>
          <p:nvPr/>
        </p:nvSpPr>
        <p:spPr>
          <a:xfrm>
            <a:off x="457175" y="335368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Conjunctiva</a:t>
            </a:r>
            <a:endParaRPr b="0" i="0" sz="1800" u="none" cap="none" strike="noStrike">
              <a:solidFill>
                <a:srgbClr val="000000"/>
              </a:solidFill>
              <a:latin typeface="Calibri"/>
              <a:ea typeface="Calibri"/>
              <a:cs typeface="Calibri"/>
              <a:sym typeface="Calibri"/>
            </a:endParaRPr>
          </a:p>
        </p:txBody>
      </p:sp>
      <p:cxnSp>
        <p:nvCxnSpPr>
          <p:cNvPr id="207" name="Google Shape;207;p29"/>
          <p:cNvCxnSpPr/>
          <p:nvPr/>
        </p:nvCxnSpPr>
        <p:spPr>
          <a:xfrm>
            <a:off x="1949803" y="3655371"/>
            <a:ext cx="443700" cy="0"/>
          </a:xfrm>
          <a:prstGeom prst="straightConnector1">
            <a:avLst/>
          </a:prstGeom>
          <a:noFill/>
          <a:ln cap="flat" cmpd="sng" w="19050">
            <a:solidFill>
              <a:srgbClr val="1C7293"/>
            </a:solidFill>
            <a:prstDash val="solid"/>
            <a:round/>
            <a:headEnd len="sm" w="sm" type="none"/>
            <a:tailEnd len="med" w="med" type="triangle"/>
          </a:ln>
        </p:spPr>
      </p:cxnSp>
      <p:sp>
        <p:nvSpPr>
          <p:cNvPr id="208" name="Google Shape;208;p29"/>
          <p:cNvSpPr/>
          <p:nvPr/>
        </p:nvSpPr>
        <p:spPr>
          <a:xfrm>
            <a:off x="457175" y="411276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9"/>
          <p:cNvSpPr/>
          <p:nvPr/>
        </p:nvSpPr>
        <p:spPr>
          <a:xfrm>
            <a:off x="457175" y="411276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Tongue</a:t>
            </a:r>
            <a:endParaRPr b="0" i="0" sz="1800" u="none" cap="none" strike="noStrike">
              <a:solidFill>
                <a:srgbClr val="000000"/>
              </a:solidFill>
              <a:latin typeface="Calibri"/>
              <a:ea typeface="Calibri"/>
              <a:cs typeface="Calibri"/>
              <a:sym typeface="Calibri"/>
            </a:endParaRPr>
          </a:p>
        </p:txBody>
      </p:sp>
      <p:cxnSp>
        <p:nvCxnSpPr>
          <p:cNvPr id="210" name="Google Shape;210;p29"/>
          <p:cNvCxnSpPr/>
          <p:nvPr/>
        </p:nvCxnSpPr>
        <p:spPr>
          <a:xfrm>
            <a:off x="1949803" y="4414451"/>
            <a:ext cx="443700" cy="0"/>
          </a:xfrm>
          <a:prstGeom prst="straightConnector1">
            <a:avLst/>
          </a:prstGeom>
          <a:noFill/>
          <a:ln cap="flat" cmpd="sng" w="19050">
            <a:solidFill>
              <a:srgbClr val="1C7293"/>
            </a:solidFill>
            <a:prstDash val="solid"/>
            <a:round/>
            <a:headEnd len="sm" w="sm" type="none"/>
            <a:tailEnd len="med" w="med" type="triangle"/>
          </a:ln>
        </p:spPr>
      </p:cxnSp>
      <p:sp>
        <p:nvSpPr>
          <p:cNvPr id="211" name="Google Shape;211;p29"/>
          <p:cNvSpPr/>
          <p:nvPr/>
        </p:nvSpPr>
        <p:spPr>
          <a:xfrm>
            <a:off x="457175" y="4871845"/>
            <a:ext cx="1492500" cy="603300"/>
          </a:xfrm>
          <a:prstGeom prst="roundRect">
            <a:avLst>
              <a:gd fmla="val 9677" name="adj"/>
            </a:avLst>
          </a:prstGeom>
          <a:solidFill>
            <a:srgbClr val="FFFFFF"/>
          </a:solidFill>
          <a:ln cap="flat" cmpd="sng" w="12700">
            <a:solidFill>
              <a:srgbClr val="E1E9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9"/>
          <p:cNvSpPr/>
          <p:nvPr/>
        </p:nvSpPr>
        <p:spPr>
          <a:xfrm>
            <a:off x="457175" y="4871845"/>
            <a:ext cx="14925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3232E"/>
              </a:buClr>
              <a:buSzPts val="1150"/>
              <a:buFont typeface="Calibri"/>
              <a:buNone/>
            </a:pPr>
            <a:r>
              <a:rPr b="1" i="0" lang="en-US" sz="1800" u="none" cap="none" strike="noStrike">
                <a:solidFill>
                  <a:srgbClr val="13232E"/>
                </a:solidFill>
                <a:latin typeface="Calibri"/>
                <a:ea typeface="Calibri"/>
                <a:cs typeface="Calibri"/>
                <a:sym typeface="Calibri"/>
              </a:rPr>
              <a:t>Palm</a:t>
            </a:r>
            <a:endParaRPr b="0" i="0" sz="1800" u="none" cap="none" strike="noStrike">
              <a:solidFill>
                <a:srgbClr val="000000"/>
              </a:solidFill>
              <a:latin typeface="Calibri"/>
              <a:ea typeface="Calibri"/>
              <a:cs typeface="Calibri"/>
              <a:sym typeface="Calibri"/>
            </a:endParaRPr>
          </a:p>
        </p:txBody>
      </p:sp>
      <p:cxnSp>
        <p:nvCxnSpPr>
          <p:cNvPr id="213" name="Google Shape;213;p29"/>
          <p:cNvCxnSpPr/>
          <p:nvPr/>
        </p:nvCxnSpPr>
        <p:spPr>
          <a:xfrm>
            <a:off x="1949803" y="5173530"/>
            <a:ext cx="443700" cy="0"/>
          </a:xfrm>
          <a:prstGeom prst="straightConnector1">
            <a:avLst/>
          </a:prstGeom>
          <a:noFill/>
          <a:ln cap="flat" cmpd="sng" w="19050">
            <a:solidFill>
              <a:srgbClr val="1C7293"/>
            </a:solidFill>
            <a:prstDash val="solid"/>
            <a:round/>
            <a:headEnd len="sm" w="sm" type="none"/>
            <a:tailEnd len="med" w="med" type="triangle"/>
          </a:ln>
        </p:spPr>
      </p:cxnSp>
      <p:sp>
        <p:nvSpPr>
          <p:cNvPr id="214" name="Google Shape;214;p29"/>
          <p:cNvSpPr/>
          <p:nvPr/>
        </p:nvSpPr>
        <p:spPr>
          <a:xfrm>
            <a:off x="2393557" y="183552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9"/>
          <p:cNvSpPr/>
          <p:nvPr/>
        </p:nvSpPr>
        <p:spPr>
          <a:xfrm>
            <a:off x="2393557" y="183552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16" name="Google Shape;216;p29"/>
          <p:cNvCxnSpPr/>
          <p:nvPr/>
        </p:nvCxnSpPr>
        <p:spPr>
          <a:xfrm>
            <a:off x="4128233" y="2137211"/>
            <a:ext cx="403500" cy="0"/>
          </a:xfrm>
          <a:prstGeom prst="straightConnector1">
            <a:avLst/>
          </a:prstGeom>
          <a:noFill/>
          <a:ln cap="flat" cmpd="sng" w="19050">
            <a:solidFill>
              <a:srgbClr val="1C7293"/>
            </a:solidFill>
            <a:prstDash val="solid"/>
            <a:round/>
            <a:headEnd len="sm" w="sm" type="none"/>
            <a:tailEnd len="sm" w="sm" type="none"/>
          </a:ln>
        </p:spPr>
      </p:cxnSp>
      <p:sp>
        <p:nvSpPr>
          <p:cNvPr id="217" name="Google Shape;217;p29"/>
          <p:cNvSpPr/>
          <p:nvPr/>
        </p:nvSpPr>
        <p:spPr>
          <a:xfrm>
            <a:off x="2393557" y="259460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9"/>
          <p:cNvSpPr/>
          <p:nvPr/>
        </p:nvSpPr>
        <p:spPr>
          <a:xfrm>
            <a:off x="2393557" y="259460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19" name="Google Shape;219;p29"/>
          <p:cNvCxnSpPr/>
          <p:nvPr/>
        </p:nvCxnSpPr>
        <p:spPr>
          <a:xfrm>
            <a:off x="4128233" y="2896291"/>
            <a:ext cx="403500" cy="0"/>
          </a:xfrm>
          <a:prstGeom prst="straightConnector1">
            <a:avLst/>
          </a:prstGeom>
          <a:noFill/>
          <a:ln cap="flat" cmpd="sng" w="19050">
            <a:solidFill>
              <a:srgbClr val="1C7293"/>
            </a:solidFill>
            <a:prstDash val="solid"/>
            <a:round/>
            <a:headEnd len="sm" w="sm" type="none"/>
            <a:tailEnd len="sm" w="sm" type="none"/>
          </a:ln>
        </p:spPr>
      </p:cxnSp>
      <p:sp>
        <p:nvSpPr>
          <p:cNvPr id="220" name="Google Shape;220;p29"/>
          <p:cNvSpPr/>
          <p:nvPr/>
        </p:nvSpPr>
        <p:spPr>
          <a:xfrm>
            <a:off x="2393557" y="335368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9"/>
          <p:cNvSpPr/>
          <p:nvPr/>
        </p:nvSpPr>
        <p:spPr>
          <a:xfrm>
            <a:off x="2393557" y="335368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22" name="Google Shape;222;p29"/>
          <p:cNvCxnSpPr/>
          <p:nvPr/>
        </p:nvCxnSpPr>
        <p:spPr>
          <a:xfrm>
            <a:off x="4128233" y="3655371"/>
            <a:ext cx="403500" cy="0"/>
          </a:xfrm>
          <a:prstGeom prst="straightConnector1">
            <a:avLst/>
          </a:prstGeom>
          <a:noFill/>
          <a:ln cap="flat" cmpd="sng" w="19050">
            <a:solidFill>
              <a:srgbClr val="1C7293"/>
            </a:solidFill>
            <a:prstDash val="solid"/>
            <a:round/>
            <a:headEnd len="sm" w="sm" type="none"/>
            <a:tailEnd len="sm" w="sm" type="none"/>
          </a:ln>
        </p:spPr>
      </p:cxnSp>
      <p:sp>
        <p:nvSpPr>
          <p:cNvPr id="223" name="Google Shape;223;p29"/>
          <p:cNvSpPr/>
          <p:nvPr/>
        </p:nvSpPr>
        <p:spPr>
          <a:xfrm>
            <a:off x="2393557" y="411276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9"/>
          <p:cNvSpPr/>
          <p:nvPr/>
        </p:nvSpPr>
        <p:spPr>
          <a:xfrm>
            <a:off x="2393557" y="411276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25" name="Google Shape;225;p29"/>
          <p:cNvCxnSpPr/>
          <p:nvPr/>
        </p:nvCxnSpPr>
        <p:spPr>
          <a:xfrm>
            <a:off x="4128233" y="4414451"/>
            <a:ext cx="403500" cy="0"/>
          </a:xfrm>
          <a:prstGeom prst="straightConnector1">
            <a:avLst/>
          </a:prstGeom>
          <a:noFill/>
          <a:ln cap="flat" cmpd="sng" w="19050">
            <a:solidFill>
              <a:srgbClr val="1C7293"/>
            </a:solidFill>
            <a:prstDash val="solid"/>
            <a:round/>
            <a:headEnd len="sm" w="sm" type="none"/>
            <a:tailEnd len="sm" w="sm" type="none"/>
          </a:ln>
        </p:spPr>
      </p:cxnSp>
      <p:sp>
        <p:nvSpPr>
          <p:cNvPr id="226" name="Google Shape;226;p29"/>
          <p:cNvSpPr/>
          <p:nvPr/>
        </p:nvSpPr>
        <p:spPr>
          <a:xfrm>
            <a:off x="2393557" y="4871845"/>
            <a:ext cx="1734600" cy="603300"/>
          </a:xfrm>
          <a:prstGeom prst="roundRect">
            <a:avLst>
              <a:gd fmla="val 9677" name="adj"/>
            </a:avLst>
          </a:prstGeom>
          <a:solidFill>
            <a:srgbClr val="1C72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9"/>
          <p:cNvSpPr/>
          <p:nvPr/>
        </p:nvSpPr>
        <p:spPr>
          <a:xfrm>
            <a:off x="2393557" y="4871845"/>
            <a:ext cx="1734600" cy="603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050"/>
              <a:buFont typeface="Calibri"/>
              <a:buNone/>
            </a:pPr>
            <a:r>
              <a:rPr b="1" i="0" lang="en-US" sz="1300" u="none" cap="none" strike="noStrike">
                <a:solidFill>
                  <a:srgbClr val="FFFFFF"/>
                </a:solidFill>
                <a:latin typeface="Calibri"/>
                <a:ea typeface="Calibri"/>
                <a:cs typeface="Calibri"/>
                <a:sym typeface="Calibri"/>
              </a:rPr>
              <a:t>ViT-B/16 encoder</a:t>
            </a:r>
            <a:endParaRPr b="0" i="0" sz="1300" u="none" cap="none" strike="noStrike">
              <a:solidFill>
                <a:srgbClr val="000000"/>
              </a:solidFill>
              <a:latin typeface="Calibri"/>
              <a:ea typeface="Calibri"/>
              <a:cs typeface="Calibri"/>
              <a:sym typeface="Calibri"/>
            </a:endParaRPr>
          </a:p>
        </p:txBody>
      </p:sp>
      <p:cxnSp>
        <p:nvCxnSpPr>
          <p:cNvPr id="228" name="Google Shape;228;p29"/>
          <p:cNvCxnSpPr/>
          <p:nvPr/>
        </p:nvCxnSpPr>
        <p:spPr>
          <a:xfrm>
            <a:off x="4128233" y="5173530"/>
            <a:ext cx="403500" cy="0"/>
          </a:xfrm>
          <a:prstGeom prst="straightConnector1">
            <a:avLst/>
          </a:prstGeom>
          <a:noFill/>
          <a:ln cap="flat" cmpd="sng" w="19050">
            <a:solidFill>
              <a:srgbClr val="1C7293"/>
            </a:solidFill>
            <a:prstDash val="solid"/>
            <a:round/>
            <a:headEnd len="sm" w="sm" type="none"/>
            <a:tailEnd len="sm" w="sm" type="none"/>
          </a:ln>
        </p:spPr>
      </p:cxnSp>
      <p:cxnSp>
        <p:nvCxnSpPr>
          <p:cNvPr id="229" name="Google Shape;229;p29"/>
          <p:cNvCxnSpPr/>
          <p:nvPr/>
        </p:nvCxnSpPr>
        <p:spPr>
          <a:xfrm>
            <a:off x="4530839" y="2137211"/>
            <a:ext cx="900" cy="1518300"/>
          </a:xfrm>
          <a:prstGeom prst="straightConnector1">
            <a:avLst/>
          </a:prstGeom>
          <a:noFill/>
          <a:ln cap="flat" cmpd="sng" w="12700">
            <a:solidFill>
              <a:srgbClr val="02C39A"/>
            </a:solidFill>
            <a:prstDash val="dot"/>
            <a:round/>
            <a:headEnd len="sm" w="sm" type="none"/>
            <a:tailEnd len="sm" w="sm" type="none"/>
          </a:ln>
        </p:spPr>
      </p:cxnSp>
      <p:cxnSp>
        <p:nvCxnSpPr>
          <p:cNvPr id="230" name="Google Shape;230;p29"/>
          <p:cNvCxnSpPr/>
          <p:nvPr/>
        </p:nvCxnSpPr>
        <p:spPr>
          <a:xfrm>
            <a:off x="4530839" y="2896291"/>
            <a:ext cx="900" cy="759000"/>
          </a:xfrm>
          <a:prstGeom prst="straightConnector1">
            <a:avLst/>
          </a:prstGeom>
          <a:noFill/>
          <a:ln cap="flat" cmpd="sng" w="12700">
            <a:solidFill>
              <a:srgbClr val="02C39A"/>
            </a:solidFill>
            <a:prstDash val="dot"/>
            <a:round/>
            <a:headEnd len="sm" w="sm" type="none"/>
            <a:tailEnd len="sm" w="sm" type="none"/>
          </a:ln>
        </p:spPr>
      </p:cxnSp>
      <p:cxnSp>
        <p:nvCxnSpPr>
          <p:cNvPr id="231" name="Google Shape;231;p29"/>
          <p:cNvCxnSpPr/>
          <p:nvPr/>
        </p:nvCxnSpPr>
        <p:spPr>
          <a:xfrm>
            <a:off x="4530839" y="3655371"/>
            <a:ext cx="900" cy="0"/>
          </a:xfrm>
          <a:prstGeom prst="straightConnector1">
            <a:avLst/>
          </a:prstGeom>
          <a:noFill/>
          <a:ln cap="flat" cmpd="sng" w="12700">
            <a:solidFill>
              <a:srgbClr val="02C39A"/>
            </a:solidFill>
            <a:prstDash val="dot"/>
            <a:round/>
            <a:headEnd len="sm" w="sm" type="none"/>
            <a:tailEnd len="sm" w="sm" type="none"/>
          </a:ln>
        </p:spPr>
      </p:cxnSp>
      <p:cxnSp>
        <p:nvCxnSpPr>
          <p:cNvPr id="232" name="Google Shape;232;p29"/>
          <p:cNvCxnSpPr/>
          <p:nvPr/>
        </p:nvCxnSpPr>
        <p:spPr>
          <a:xfrm flipH="1" rot="10800000">
            <a:off x="4530839" y="3655451"/>
            <a:ext cx="900" cy="759000"/>
          </a:xfrm>
          <a:prstGeom prst="straightConnector1">
            <a:avLst/>
          </a:prstGeom>
          <a:noFill/>
          <a:ln cap="flat" cmpd="sng" w="12700">
            <a:solidFill>
              <a:srgbClr val="02C39A"/>
            </a:solidFill>
            <a:prstDash val="dot"/>
            <a:round/>
            <a:headEnd len="sm" w="sm" type="none"/>
            <a:tailEnd len="sm" w="sm" type="none"/>
          </a:ln>
        </p:spPr>
      </p:cxnSp>
      <p:cxnSp>
        <p:nvCxnSpPr>
          <p:cNvPr id="233" name="Google Shape;233;p29"/>
          <p:cNvCxnSpPr/>
          <p:nvPr/>
        </p:nvCxnSpPr>
        <p:spPr>
          <a:xfrm flipH="1" rot="10800000">
            <a:off x="4530839" y="3655230"/>
            <a:ext cx="900" cy="1518300"/>
          </a:xfrm>
          <a:prstGeom prst="straightConnector1">
            <a:avLst/>
          </a:prstGeom>
          <a:noFill/>
          <a:ln cap="flat" cmpd="sng" w="12700">
            <a:solidFill>
              <a:srgbClr val="02C39A"/>
            </a:solidFill>
            <a:prstDash val="dot"/>
            <a:round/>
            <a:headEnd len="sm" w="sm" type="none"/>
            <a:tailEnd len="sm" w="sm" type="none"/>
          </a:ln>
        </p:spPr>
      </p:cxnSp>
      <p:sp>
        <p:nvSpPr>
          <p:cNvPr id="234" name="Google Shape;234;p29"/>
          <p:cNvSpPr/>
          <p:nvPr/>
        </p:nvSpPr>
        <p:spPr>
          <a:xfrm>
            <a:off x="4531646" y="1835525"/>
            <a:ext cx="2178600" cy="3639900"/>
          </a:xfrm>
          <a:prstGeom prst="roundRect">
            <a:avLst>
              <a:gd fmla="val 2963" name="adj"/>
            </a:avLst>
          </a:prstGeom>
          <a:solidFill>
            <a:srgbClr val="0B3D59"/>
          </a:solidFill>
          <a:ln>
            <a:noFill/>
          </a:ln>
          <a:effectLst>
            <a:outerShdw blurRad="76200" rotWithShape="0" algn="bl" dir="5400000" dist="25400">
              <a:srgbClr val="000000">
                <a:alpha val="2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9"/>
          <p:cNvSpPr/>
          <p:nvPr/>
        </p:nvSpPr>
        <p:spPr>
          <a:xfrm>
            <a:off x="4612328" y="1835525"/>
            <a:ext cx="2017200" cy="3639900"/>
          </a:xfrm>
          <a:prstGeom prst="rect">
            <a:avLst/>
          </a:prstGeom>
          <a:noFill/>
          <a:ln>
            <a:noFill/>
          </a:ln>
        </p:spPr>
        <p:txBody>
          <a:bodyPr anchorCtr="0" anchor="ctr" bIns="45700" lIns="91425" spcFirstLastPara="1" rIns="91425" wrap="square" tIns="45700">
            <a:noAutofit/>
          </a:bodyPr>
          <a:lstStyle/>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Cross-Modal</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Attention</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Fusion</a:t>
            </a:r>
            <a:endParaRPr b="0" i="0" sz="1600" u="none" cap="none" strike="noStrike">
              <a:solidFill>
                <a:srgbClr val="000000"/>
              </a:solidFill>
              <a:latin typeface="Calibri"/>
              <a:ea typeface="Calibri"/>
              <a:cs typeface="Calibri"/>
              <a:sym typeface="Calibri"/>
            </a:endParaRPr>
          </a:p>
          <a:p>
            <a:pPr indent="0" lvl="0" marL="0" marR="0" rtl="0" algn="ctr">
              <a:lnSpc>
                <a:spcPct val="105000"/>
              </a:lnSpc>
              <a:spcBef>
                <a:spcPts val="0"/>
              </a:spcBef>
              <a:spcAft>
                <a:spcPts val="0"/>
              </a:spcAft>
              <a:buClr>
                <a:srgbClr val="FFFFFF"/>
              </a:buClr>
              <a:buSzPts val="1400"/>
              <a:buFont typeface="Cambria"/>
              <a:buNone/>
            </a:pPr>
            <a:r>
              <a:rPr b="1" i="0" lang="en-US" sz="1600" u="none" cap="none" strike="noStrike">
                <a:solidFill>
                  <a:srgbClr val="FFFFFF"/>
                </a:solidFill>
                <a:latin typeface="Cambria"/>
                <a:ea typeface="Cambria"/>
                <a:cs typeface="Cambria"/>
                <a:sym typeface="Cambria"/>
              </a:rPr>
              <a:t>Transformer</a:t>
            </a:r>
            <a:endParaRPr b="0" i="0" sz="1600" u="none" cap="none" strike="noStrike">
              <a:solidFill>
                <a:srgbClr val="000000"/>
              </a:solidFill>
              <a:latin typeface="Calibri"/>
              <a:ea typeface="Calibri"/>
              <a:cs typeface="Calibri"/>
              <a:sym typeface="Calibri"/>
            </a:endParaRPr>
          </a:p>
        </p:txBody>
      </p:sp>
      <p:cxnSp>
        <p:nvCxnSpPr>
          <p:cNvPr id="236" name="Google Shape;236;p29"/>
          <p:cNvCxnSpPr/>
          <p:nvPr/>
        </p:nvCxnSpPr>
        <p:spPr>
          <a:xfrm>
            <a:off x="6710076" y="3655371"/>
            <a:ext cx="403500" cy="0"/>
          </a:xfrm>
          <a:prstGeom prst="straightConnector1">
            <a:avLst/>
          </a:prstGeom>
          <a:noFill/>
          <a:ln cap="flat" cmpd="sng" w="19050">
            <a:solidFill>
              <a:srgbClr val="1C7293"/>
            </a:solidFill>
            <a:prstDash val="solid"/>
            <a:round/>
            <a:headEnd len="sm" w="sm" type="none"/>
            <a:tailEnd len="med" w="med" type="triangle"/>
          </a:ln>
        </p:spPr>
      </p:cxnSp>
      <p:sp>
        <p:nvSpPr>
          <p:cNvPr id="237" name="Google Shape;237;p29"/>
          <p:cNvSpPr/>
          <p:nvPr/>
        </p:nvSpPr>
        <p:spPr>
          <a:xfrm>
            <a:off x="7113489" y="183552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9"/>
          <p:cNvSpPr/>
          <p:nvPr/>
        </p:nvSpPr>
        <p:spPr>
          <a:xfrm>
            <a:off x="7113489" y="183552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Risk score</a:t>
            </a:r>
            <a:endParaRPr b="0" i="0" sz="1600" u="none" cap="none" strike="noStrike">
              <a:solidFill>
                <a:srgbClr val="000000"/>
              </a:solidFill>
              <a:latin typeface="Calibri"/>
              <a:ea typeface="Calibri"/>
              <a:cs typeface="Calibri"/>
              <a:sym typeface="Calibri"/>
            </a:endParaRPr>
          </a:p>
        </p:txBody>
      </p:sp>
      <p:sp>
        <p:nvSpPr>
          <p:cNvPr id="239" name="Google Shape;239;p29"/>
          <p:cNvSpPr/>
          <p:nvPr/>
        </p:nvSpPr>
        <p:spPr>
          <a:xfrm>
            <a:off x="7113489" y="278437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9"/>
          <p:cNvSpPr/>
          <p:nvPr/>
        </p:nvSpPr>
        <p:spPr>
          <a:xfrm>
            <a:off x="7113489" y="278437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Uncertainty</a:t>
            </a:r>
            <a:endParaRPr b="0" i="0" sz="1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B3D59"/>
              </a:buClr>
              <a:buSzPts val="1000"/>
              <a:buFont typeface="Calibri"/>
              <a:buNone/>
            </a:pPr>
            <a:r>
              <a:rPr b="1" i="0" lang="en-US" sz="1600" u="none" cap="none" strike="noStrike">
                <a:solidFill>
                  <a:srgbClr val="0B3D59"/>
                </a:solidFill>
                <a:latin typeface="Calibri"/>
                <a:ea typeface="Calibri"/>
                <a:cs typeface="Calibri"/>
                <a:sym typeface="Calibri"/>
              </a:rPr>
              <a:t>(MC Dropout)</a:t>
            </a:r>
            <a:endParaRPr b="0" i="0" sz="1600" u="none" cap="none" strike="noStrike">
              <a:solidFill>
                <a:srgbClr val="000000"/>
              </a:solidFill>
              <a:latin typeface="Calibri"/>
              <a:ea typeface="Calibri"/>
              <a:cs typeface="Calibri"/>
              <a:sym typeface="Calibri"/>
            </a:endParaRPr>
          </a:p>
        </p:txBody>
      </p:sp>
      <p:sp>
        <p:nvSpPr>
          <p:cNvPr id="241" name="Google Shape;241;p29"/>
          <p:cNvSpPr/>
          <p:nvPr/>
        </p:nvSpPr>
        <p:spPr>
          <a:xfrm>
            <a:off x="7113489" y="373322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9"/>
          <p:cNvSpPr/>
          <p:nvPr/>
        </p:nvSpPr>
        <p:spPr>
          <a:xfrm>
            <a:off x="7113489" y="373322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lang="en-US" sz="1600">
                <a:solidFill>
                  <a:srgbClr val="0B3D59"/>
                </a:solidFill>
                <a:latin typeface="Calibri"/>
                <a:ea typeface="Calibri"/>
                <a:cs typeface="Calibri"/>
                <a:sym typeface="Calibri"/>
              </a:rPr>
              <a:t>Attention map</a:t>
            </a:r>
            <a:endParaRPr b="0" i="0" sz="1600" u="none" cap="none" strike="noStrike">
              <a:solidFill>
                <a:srgbClr val="000000"/>
              </a:solidFill>
              <a:latin typeface="Calibri"/>
              <a:ea typeface="Calibri"/>
              <a:cs typeface="Calibri"/>
              <a:sym typeface="Calibri"/>
            </a:endParaRPr>
          </a:p>
        </p:txBody>
      </p:sp>
      <p:sp>
        <p:nvSpPr>
          <p:cNvPr id="243" name="Google Shape;243;p29"/>
          <p:cNvSpPr/>
          <p:nvPr/>
        </p:nvSpPr>
        <p:spPr>
          <a:xfrm>
            <a:off x="7113489" y="4682075"/>
            <a:ext cx="1573200" cy="827400"/>
          </a:xfrm>
          <a:prstGeom prst="roundRect">
            <a:avLst>
              <a:gd fmla="val 7059" name="adj"/>
            </a:avLst>
          </a:prstGeom>
          <a:solidFill>
            <a:srgbClr val="FFFFFF"/>
          </a:solidFill>
          <a:ln cap="flat" cmpd="sng" w="15875">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29"/>
          <p:cNvSpPr/>
          <p:nvPr/>
        </p:nvSpPr>
        <p:spPr>
          <a:xfrm>
            <a:off x="7113489" y="4682075"/>
            <a:ext cx="1573200" cy="827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B3D59"/>
              </a:buClr>
              <a:buSzPts val="1000"/>
              <a:buFont typeface="Calibri"/>
              <a:buNone/>
            </a:pPr>
            <a:r>
              <a:rPr b="1" lang="en-US" sz="1600">
                <a:solidFill>
                  <a:srgbClr val="0B3D59"/>
                </a:solidFill>
                <a:latin typeface="Calibri"/>
                <a:ea typeface="Calibri"/>
                <a:cs typeface="Calibri"/>
                <a:sym typeface="Calibri"/>
              </a:rPr>
              <a:t>Modality Contribution Breakdown</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PROJECT SCOPE</a:t>
            </a:r>
            <a:endParaRPr>
              <a:solidFill>
                <a:srgbClr val="0B3D59"/>
              </a:solidFill>
            </a:endParaRPr>
          </a:p>
        </p:txBody>
      </p:sp>
      <p:sp>
        <p:nvSpPr>
          <p:cNvPr id="250" name="Google Shape;250;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SzPts val="1400"/>
              <a:buNone/>
            </a:pPr>
            <a:r>
              <a:rPr b="1" lang="en-US" sz="4000">
                <a:solidFill>
                  <a:srgbClr val="0B3D59"/>
                </a:solidFill>
              </a:rPr>
              <a:t>PROJECT SCOPE</a:t>
            </a:r>
            <a:endParaRPr/>
          </a:p>
        </p:txBody>
      </p:sp>
      <p:sp>
        <p:nvSpPr>
          <p:cNvPr id="256" name="Google Shape;256;p31"/>
          <p:cNvSpPr txBox="1"/>
          <p:nvPr>
            <p:ph idx="1" type="body"/>
          </p:nvPr>
        </p:nvSpPr>
        <p:spPr>
          <a:xfrm>
            <a:off x="457200" y="1268826"/>
            <a:ext cx="8229600" cy="4526100"/>
          </a:xfrm>
          <a:prstGeom prst="rect">
            <a:avLst/>
          </a:prstGeom>
          <a:noFill/>
          <a:ln>
            <a:noFill/>
          </a:ln>
        </p:spPr>
        <p:txBody>
          <a:bodyPr anchorCtr="0" anchor="t" bIns="45700" lIns="91425" spcFirstLastPara="1" rIns="91425" wrap="square" tIns="45700">
            <a:noAutofit/>
          </a:bodyPr>
          <a:lstStyle/>
          <a:p>
            <a:pPr indent="-355600" lvl="0" marL="457200" rtl="0" algn="just">
              <a:lnSpc>
                <a:spcPct val="150000"/>
              </a:lnSpc>
              <a:spcBef>
                <a:spcPts val="0"/>
              </a:spcBef>
              <a:spcAft>
                <a:spcPts val="0"/>
              </a:spcAft>
              <a:buSzPts val="2000"/>
              <a:buChar char="○"/>
            </a:pPr>
            <a:r>
              <a:rPr b="1" lang="en-US" sz="2000"/>
              <a:t>Cross-platform mobile application</a:t>
            </a:r>
            <a:r>
              <a:rPr lang="en-US" sz="2000"/>
              <a:t> for capturing and submitting body-surface images, and viewing results</a:t>
            </a:r>
            <a:endParaRPr sz="2000"/>
          </a:p>
          <a:p>
            <a:pPr indent="-355600" lvl="0" marL="457200" rtl="0" algn="just">
              <a:lnSpc>
                <a:spcPct val="150000"/>
              </a:lnSpc>
              <a:spcBef>
                <a:spcPts val="0"/>
              </a:spcBef>
              <a:spcAft>
                <a:spcPts val="0"/>
              </a:spcAft>
              <a:buSzPts val="2000"/>
              <a:buChar char="○"/>
            </a:pPr>
            <a:r>
              <a:rPr lang="en-US" sz="2000"/>
              <a:t>Screening across </a:t>
            </a:r>
            <a:r>
              <a:rPr b="1" lang="en-US" sz="2000"/>
              <a:t>five body surfaces</a:t>
            </a:r>
            <a:r>
              <a:rPr lang="en-US" sz="2000"/>
              <a:t>: oral cavity, fingernails, conjunctiva, tongue, palm, with a modular design allowing a surface to be substituted if needed</a:t>
            </a:r>
            <a:endParaRPr sz="2000"/>
          </a:p>
          <a:p>
            <a:pPr indent="-355600" lvl="0" marL="457200" rtl="0" algn="just">
              <a:lnSpc>
                <a:spcPct val="150000"/>
              </a:lnSpc>
              <a:spcBef>
                <a:spcPts val="0"/>
              </a:spcBef>
              <a:spcAft>
                <a:spcPts val="0"/>
              </a:spcAft>
              <a:buSzPts val="2000"/>
              <a:buChar char="○"/>
            </a:pPr>
            <a:r>
              <a:rPr lang="en-US" sz="2000"/>
              <a:t>Custom </a:t>
            </a:r>
            <a:r>
              <a:rPr b="1" lang="en-US" sz="2000"/>
              <a:t>cross-modal attention fusion </a:t>
            </a:r>
            <a:r>
              <a:rPr lang="en-US" sz="2000"/>
              <a:t>transformer, built in PyTorch</a:t>
            </a:r>
            <a:endParaRPr sz="2000"/>
          </a:p>
          <a:p>
            <a:pPr indent="-355600" lvl="0" marL="457200" rtl="0" algn="just">
              <a:lnSpc>
                <a:spcPct val="150000"/>
              </a:lnSpc>
              <a:spcBef>
                <a:spcPts val="0"/>
              </a:spcBef>
              <a:spcAft>
                <a:spcPts val="0"/>
              </a:spcAft>
              <a:buSzPts val="2000"/>
              <a:buChar char="○"/>
            </a:pPr>
            <a:r>
              <a:rPr lang="en-US" sz="2000"/>
              <a:t>Monte Carlo Dropout for </a:t>
            </a:r>
            <a:r>
              <a:rPr b="1" lang="en-US" sz="2000"/>
              <a:t>uncertainty estimation</a:t>
            </a:r>
            <a:endParaRPr b="1" sz="2000"/>
          </a:p>
          <a:p>
            <a:pPr indent="-355600" lvl="0" marL="457200" rtl="0" algn="just">
              <a:lnSpc>
                <a:spcPct val="150000"/>
              </a:lnSpc>
              <a:spcBef>
                <a:spcPts val="0"/>
              </a:spcBef>
              <a:spcAft>
                <a:spcPts val="0"/>
              </a:spcAft>
              <a:buSzPts val="2000"/>
              <a:buChar char="○"/>
            </a:pPr>
            <a:r>
              <a:rPr lang="en-US" sz="2000"/>
              <a:t>Attention-based </a:t>
            </a:r>
            <a:r>
              <a:rPr b="1" lang="en-US" sz="2000"/>
              <a:t>Visual explanation</a:t>
            </a:r>
            <a:r>
              <a:rPr lang="en-US" sz="2000"/>
              <a:t> showing which regions influenced the result</a:t>
            </a:r>
            <a:endParaRPr sz="2000"/>
          </a:p>
          <a:p>
            <a:pPr indent="-355600" lvl="0" marL="457200" rtl="0" algn="just">
              <a:lnSpc>
                <a:spcPct val="150000"/>
              </a:lnSpc>
              <a:spcBef>
                <a:spcPts val="0"/>
              </a:spcBef>
              <a:spcAft>
                <a:spcPts val="0"/>
              </a:spcAft>
              <a:buSzPts val="2000"/>
              <a:buChar char="○"/>
            </a:pPr>
            <a:r>
              <a:rPr b="1" lang="en-US" sz="2000"/>
              <a:t>Missing-modality robustness</a:t>
            </a:r>
            <a:r>
              <a:rPr lang="en-US" sz="2000"/>
              <a:t> handling</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2"/>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Major Challenges</a:t>
            </a:r>
            <a:endParaRPr>
              <a:solidFill>
                <a:srgbClr val="0B3D59"/>
              </a:solidFill>
            </a:endParaRPr>
          </a:p>
        </p:txBody>
      </p:sp>
      <p:sp>
        <p:nvSpPr>
          <p:cNvPr id="262" name="Google Shape;262;p32"/>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Challenges</a:t>
            </a:r>
            <a:endParaRPr/>
          </a:p>
        </p:txBody>
      </p:sp>
      <p:sp>
        <p:nvSpPr>
          <p:cNvPr id="268" name="Google Shape;268;p33"/>
          <p:cNvSpPr txBox="1"/>
          <p:nvPr/>
        </p:nvSpPr>
        <p:spPr>
          <a:xfrm>
            <a:off x="342900" y="1418725"/>
            <a:ext cx="8343900" cy="4292700"/>
          </a:xfrm>
          <a:prstGeom prst="rect">
            <a:avLst/>
          </a:prstGeom>
          <a:noFill/>
          <a:ln>
            <a:noFill/>
          </a:ln>
        </p:spPr>
        <p:txBody>
          <a:bodyPr anchorCtr="0" anchor="t" bIns="91425" lIns="91425" spcFirstLastPara="1" rIns="91425" wrap="square" tIns="91425">
            <a:noAutofit/>
          </a:bodyPr>
          <a:lstStyle/>
          <a:p>
            <a:pPr indent="-355600" lvl="0" marL="457200" rtl="0" algn="just">
              <a:lnSpc>
                <a:spcPct val="150000"/>
              </a:lnSpc>
              <a:spcBef>
                <a:spcPts val="0"/>
              </a:spcBef>
              <a:spcAft>
                <a:spcPts val="0"/>
              </a:spcAft>
              <a:buClr>
                <a:schemeClr val="dk1"/>
              </a:buClr>
              <a:buSzPts val="2000"/>
              <a:buFont typeface="Calibri"/>
              <a:buChar char="○"/>
            </a:pPr>
            <a:r>
              <a:rPr b="1" lang="en-US" sz="2000">
                <a:solidFill>
                  <a:schemeClr val="dk1"/>
                </a:solidFill>
                <a:latin typeface="Calibri"/>
                <a:ea typeface="Calibri"/>
                <a:cs typeface="Calibri"/>
                <a:sym typeface="Calibri"/>
              </a:rPr>
              <a:t>Class imbalance varies across modalities, </a:t>
            </a:r>
            <a:r>
              <a:rPr lang="en-US" sz="2000">
                <a:solidFill>
                  <a:schemeClr val="dk1"/>
                </a:solidFill>
                <a:latin typeface="Calibri"/>
                <a:ea typeface="Calibri"/>
                <a:cs typeface="Calibri"/>
                <a:sym typeface="Calibri"/>
              </a:rPr>
              <a:t>so each modality requires its own mitigation strategy.</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en-US" sz="2000">
                <a:solidFill>
                  <a:schemeClr val="dk1"/>
                </a:solidFill>
                <a:latin typeface="Calibri"/>
                <a:ea typeface="Calibri"/>
                <a:cs typeface="Calibri"/>
                <a:sym typeface="Calibri"/>
              </a:rPr>
              <a:t>Fusing five independent encoders into one coherent model.</a:t>
            </a:r>
            <a:r>
              <a:rPr lang="en-US" sz="2000">
                <a:solidFill>
                  <a:schemeClr val="dk1"/>
                </a:solidFill>
                <a:latin typeface="Calibri"/>
                <a:ea typeface="Calibri"/>
                <a:cs typeface="Calibri"/>
                <a:sym typeface="Calibri"/>
              </a:rPr>
              <a:t> Cross-modal attention fusion is the core contribution and the highest-risk component. No prior system fuses this many surfaces this way.</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en-US" sz="2000">
                <a:solidFill>
                  <a:schemeClr val="dk1"/>
                </a:solidFill>
                <a:latin typeface="Calibri"/>
                <a:ea typeface="Calibri"/>
                <a:cs typeface="Calibri"/>
                <a:sym typeface="Calibri"/>
              </a:rPr>
              <a:t>Explainability on Vision Transformers.</a:t>
            </a:r>
            <a:r>
              <a:rPr lang="en-US" sz="2000">
                <a:solidFill>
                  <a:schemeClr val="dk1"/>
                </a:solidFill>
                <a:latin typeface="Calibri"/>
                <a:ea typeface="Calibri"/>
                <a:cs typeface="Calibri"/>
                <a:sym typeface="Calibri"/>
              </a:rPr>
              <a:t> Standard Grad-CAM doesn't apply to ViT architectures. They require an attention-based method adapted specifically for transformers.</a:t>
            </a:r>
            <a:endParaRPr sz="2000">
              <a:solidFill>
                <a:schemeClr val="dk1"/>
              </a:solidFill>
              <a:latin typeface="Calibri"/>
              <a:ea typeface="Calibri"/>
              <a:cs typeface="Calibri"/>
              <a:sym typeface="Calibri"/>
            </a:endParaRPr>
          </a:p>
          <a:p>
            <a:pPr indent="-355600" lvl="0" marL="457200" rtl="0" algn="just">
              <a:lnSpc>
                <a:spcPct val="150000"/>
              </a:lnSpc>
              <a:spcBef>
                <a:spcPts val="0"/>
              </a:spcBef>
              <a:spcAft>
                <a:spcPts val="0"/>
              </a:spcAft>
              <a:buClr>
                <a:schemeClr val="dk1"/>
              </a:buClr>
              <a:buSzPts val="2000"/>
              <a:buFont typeface="Calibri"/>
              <a:buChar char="○"/>
            </a:pPr>
            <a:r>
              <a:rPr b="1" lang="en-US" sz="2000">
                <a:solidFill>
                  <a:schemeClr val="dk1"/>
                </a:solidFill>
                <a:latin typeface="Calibri"/>
                <a:ea typeface="Calibri"/>
                <a:cs typeface="Calibri"/>
                <a:sym typeface="Calibri"/>
              </a:rPr>
              <a:t>Domain Shift: </a:t>
            </a:r>
            <a:r>
              <a:rPr lang="en-US" sz="2000">
                <a:solidFill>
                  <a:schemeClr val="dk1"/>
                </a:solidFill>
                <a:latin typeface="Calibri"/>
                <a:ea typeface="Calibri"/>
                <a:cs typeface="Calibri"/>
                <a:sym typeface="Calibri"/>
              </a:rPr>
              <a:t>Domain gap between training data and real-world captures.</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2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4"/>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rPr lang="en-US">
                <a:solidFill>
                  <a:srgbClr val="0B3D59"/>
                </a:solidFill>
              </a:rPr>
              <a:t>Work Breakdown &amp; Structure</a:t>
            </a:r>
            <a:endParaRPr>
              <a:solidFill>
                <a:srgbClr val="0B3D59"/>
              </a:solidFill>
            </a:endParaRPr>
          </a:p>
        </p:txBody>
      </p:sp>
      <p:sp>
        <p:nvSpPr>
          <p:cNvPr id="274" name="Google Shape;274;p34"/>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1400"/>
              <a:buFont typeface="Arial"/>
              <a:buNone/>
            </a:pPr>
            <a:r>
              <a:rPr b="1" lang="en-US" sz="4000">
                <a:solidFill>
                  <a:srgbClr val="0B3D59"/>
                </a:solidFill>
              </a:rPr>
              <a:t>Work Breakdown</a:t>
            </a:r>
            <a:endParaRPr/>
          </a:p>
        </p:txBody>
      </p:sp>
      <p:sp>
        <p:nvSpPr>
          <p:cNvPr id="280" name="Google Shape;280;p35"/>
          <p:cNvSpPr txBox="1"/>
          <p:nvPr/>
        </p:nvSpPr>
        <p:spPr>
          <a:xfrm>
            <a:off x="342900" y="1418725"/>
            <a:ext cx="8343900" cy="4292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Clr>
                <a:schemeClr val="dk1"/>
              </a:buClr>
              <a:buSzPts val="1100"/>
              <a:buFont typeface="Arial"/>
              <a:buNone/>
            </a:pPr>
            <a:r>
              <a:rPr b="1" lang="en-US" sz="1900">
                <a:solidFill>
                  <a:srgbClr val="0B3D59"/>
                </a:solidFill>
                <a:latin typeface="Calibri"/>
                <a:ea typeface="Calibri"/>
                <a:cs typeface="Calibri"/>
                <a:sym typeface="Calibri"/>
              </a:rPr>
              <a:t>Phase 1: Proposal &amp; Literature Foundation (Weeks 1–4)</a:t>
            </a:r>
            <a:br>
              <a:rPr b="1"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Finalize literature review, gap analysis, problem statement. Build and deliver proposal presentation.</a:t>
            </a:r>
            <a:endParaRPr i="1" sz="1900">
              <a:solidFill>
                <a:schemeClr val="dk1"/>
              </a:solidFill>
              <a:latin typeface="Calibri"/>
              <a:ea typeface="Calibri"/>
              <a:cs typeface="Calibri"/>
              <a:sym typeface="Calibri"/>
            </a:endParaRPr>
          </a:p>
          <a:p>
            <a:pPr indent="0" lvl="0" marL="0" rtl="0" algn="just">
              <a:lnSpc>
                <a:spcPct val="150000"/>
              </a:lnSpc>
              <a:spcBef>
                <a:spcPts val="1200"/>
              </a:spcBef>
              <a:spcAft>
                <a:spcPts val="0"/>
              </a:spcAft>
              <a:buClr>
                <a:schemeClr val="dk1"/>
              </a:buClr>
              <a:buSzPts val="1100"/>
              <a:buFont typeface="Arial"/>
              <a:buNone/>
            </a:pPr>
            <a:r>
              <a:rPr b="1" lang="en-US" sz="1900">
                <a:solidFill>
                  <a:srgbClr val="0B3D59"/>
                </a:solidFill>
                <a:latin typeface="Calibri"/>
                <a:ea typeface="Calibri"/>
                <a:cs typeface="Calibri"/>
                <a:sym typeface="Calibri"/>
              </a:rPr>
              <a:t>Phase 2: Data Pipeline &amp; Preprocessing (Weeks 5–7)</a:t>
            </a:r>
            <a:br>
              <a:rPr b="1"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Collect and standardize all five modality datasets. Address class imbalance. Build train/validation/test splits.</a:t>
            </a:r>
            <a:endParaRPr sz="1900">
              <a:solidFill>
                <a:schemeClr val="dk1"/>
              </a:solidFill>
              <a:latin typeface="Calibri"/>
              <a:ea typeface="Calibri"/>
              <a:cs typeface="Calibri"/>
              <a:sym typeface="Calibri"/>
            </a:endParaRPr>
          </a:p>
          <a:p>
            <a:pPr indent="0" lvl="0" marL="0" rtl="0" algn="just">
              <a:lnSpc>
                <a:spcPct val="150000"/>
              </a:lnSpc>
              <a:spcBef>
                <a:spcPts val="1200"/>
              </a:spcBef>
              <a:spcAft>
                <a:spcPts val="0"/>
              </a:spcAft>
              <a:buClr>
                <a:schemeClr val="dk1"/>
              </a:buClr>
              <a:buSzPts val="1100"/>
              <a:buFont typeface="Arial"/>
              <a:buNone/>
            </a:pPr>
            <a:r>
              <a:rPr b="1" lang="en-US" sz="1900">
                <a:solidFill>
                  <a:srgbClr val="0B3D59"/>
                </a:solidFill>
                <a:latin typeface="Calibri"/>
                <a:ea typeface="Calibri"/>
                <a:cs typeface="Calibri"/>
                <a:sym typeface="Calibri"/>
              </a:rPr>
              <a:t>Phase 3: Encoder &amp; Fusion Development (Weeks 8–10)</a:t>
            </a:r>
            <a:br>
              <a:rPr b="1" lang="en-US" sz="1900">
                <a:solidFill>
                  <a:srgbClr val="0B3D59"/>
                </a:solidFill>
                <a:latin typeface="Calibri"/>
                <a:ea typeface="Calibri"/>
                <a:cs typeface="Calibri"/>
                <a:sym typeface="Calibri"/>
              </a:rPr>
            </a:br>
            <a:r>
              <a:rPr lang="en-US" sz="1900">
                <a:solidFill>
                  <a:schemeClr val="dk1"/>
                </a:solidFill>
                <a:latin typeface="Calibri"/>
                <a:ea typeface="Calibri"/>
                <a:cs typeface="Calibri"/>
                <a:sym typeface="Calibri"/>
              </a:rPr>
              <a:t>Train five ViT-B/16 specialist encoders. Implement the cross-modal attention fusion transformer, designed to handle a missing modality input. Begin mobile app development in parallel.</a:t>
            </a:r>
            <a:endParaRPr sz="1900">
              <a:solidFill>
                <a:schemeClr val="dk1"/>
              </a:solidFill>
              <a:latin typeface="Calibri"/>
              <a:ea typeface="Calibri"/>
              <a:cs typeface="Calibri"/>
              <a:sym typeface="Calibri"/>
            </a:endParaRPr>
          </a:p>
          <a:p>
            <a:pPr indent="0" lvl="0" marL="0" rtl="0" algn="just">
              <a:lnSpc>
                <a:spcPct val="150000"/>
              </a:lnSpc>
              <a:spcBef>
                <a:spcPts val="1200"/>
              </a:spcBef>
              <a:spcAft>
                <a:spcPts val="0"/>
              </a:spcAft>
              <a:buNone/>
            </a:pPr>
            <a:r>
              <a:t/>
            </a:r>
            <a:endParaRPr b="1" sz="2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1400"/>
              <a:buNone/>
            </a:pPr>
            <a:r>
              <a:rPr b="1" lang="en-US" sz="4000">
                <a:solidFill>
                  <a:srgbClr val="0B3D59"/>
                </a:solidFill>
              </a:rPr>
              <a:t>Work Breakdown</a:t>
            </a:r>
            <a:endParaRPr/>
          </a:p>
        </p:txBody>
      </p:sp>
      <p:sp>
        <p:nvSpPr>
          <p:cNvPr id="286" name="Google Shape;286;p36"/>
          <p:cNvSpPr txBox="1"/>
          <p:nvPr/>
        </p:nvSpPr>
        <p:spPr>
          <a:xfrm>
            <a:off x="342900" y="1418725"/>
            <a:ext cx="8343900" cy="4292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1200"/>
              </a:spcBef>
              <a:spcAft>
                <a:spcPts val="0"/>
              </a:spcAft>
              <a:buClr>
                <a:schemeClr val="dk1"/>
              </a:buClr>
              <a:buSzPts val="1100"/>
              <a:buFont typeface="Arial"/>
              <a:buNone/>
            </a:pPr>
            <a:r>
              <a:rPr b="1" lang="en-US" sz="1900">
                <a:solidFill>
                  <a:srgbClr val="0B3D59"/>
                </a:solidFill>
                <a:latin typeface="Calibri"/>
                <a:ea typeface="Calibri"/>
                <a:cs typeface="Calibri"/>
                <a:sym typeface="Calibri"/>
              </a:rPr>
              <a:t>Phase 4: Model Testing &amp; App Integration (Weeks 11–13)</a:t>
            </a:r>
            <a:br>
              <a:rPr b="1"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Full model training and evaluation. Continue app development, connect app to the model pipeline end-to-end.</a:t>
            </a:r>
            <a:endParaRPr sz="1900">
              <a:solidFill>
                <a:schemeClr val="dk1"/>
              </a:solidFill>
              <a:latin typeface="Calibri"/>
              <a:ea typeface="Calibri"/>
              <a:cs typeface="Calibri"/>
              <a:sym typeface="Calibri"/>
            </a:endParaRPr>
          </a:p>
          <a:p>
            <a:pPr indent="0" lvl="0" marL="0" rtl="0" algn="just">
              <a:lnSpc>
                <a:spcPct val="150000"/>
              </a:lnSpc>
              <a:spcBef>
                <a:spcPts val="1200"/>
              </a:spcBef>
              <a:spcAft>
                <a:spcPts val="0"/>
              </a:spcAft>
              <a:buClr>
                <a:schemeClr val="dk1"/>
              </a:buClr>
              <a:buSzPts val="1100"/>
              <a:buFont typeface="Arial"/>
              <a:buNone/>
            </a:pPr>
            <a:r>
              <a:rPr b="1" lang="en-US" sz="1900">
                <a:solidFill>
                  <a:srgbClr val="0B3D59"/>
                </a:solidFill>
                <a:latin typeface="Calibri"/>
                <a:ea typeface="Calibri"/>
                <a:cs typeface="Calibri"/>
                <a:sym typeface="Calibri"/>
              </a:rPr>
              <a:t>Phase 5: Integration, Testing &amp; Documentation (Weeks 14–16)</a:t>
            </a:r>
            <a:br>
              <a:rPr b="1" lang="en-US" sz="1900">
                <a:solidFill>
                  <a:srgbClr val="0B3D59"/>
                </a:solidFill>
                <a:latin typeface="Calibri"/>
                <a:ea typeface="Calibri"/>
                <a:cs typeface="Calibri"/>
                <a:sym typeface="Calibri"/>
              </a:rPr>
            </a:br>
            <a:r>
              <a:rPr lang="en-US" sz="1900">
                <a:solidFill>
                  <a:schemeClr val="dk1"/>
                </a:solidFill>
                <a:latin typeface="Calibri"/>
                <a:ea typeface="Calibri"/>
                <a:cs typeface="Calibri"/>
                <a:sym typeface="Calibri"/>
              </a:rPr>
              <a:t>Final integration testing between app and model. Benchmark against literature baselines. Finalize documentation.</a:t>
            </a:r>
            <a:endParaRPr sz="1900">
              <a:solidFill>
                <a:schemeClr val="dk1"/>
              </a:solidFill>
              <a:latin typeface="Calibri"/>
              <a:ea typeface="Calibri"/>
              <a:cs typeface="Calibri"/>
              <a:sym typeface="Calibri"/>
            </a:endParaRPr>
          </a:p>
          <a:p>
            <a:pPr indent="0" lvl="0" marL="0" rtl="0" algn="just">
              <a:lnSpc>
                <a:spcPct val="150000"/>
              </a:lnSpc>
              <a:spcBef>
                <a:spcPts val="1200"/>
              </a:spcBef>
              <a:spcAft>
                <a:spcPts val="1200"/>
              </a:spcAft>
              <a:buClr>
                <a:schemeClr val="dk1"/>
              </a:buClr>
              <a:buSzPts val="1100"/>
              <a:buFont typeface="Arial"/>
              <a:buNone/>
            </a:pPr>
            <a:r>
              <a:rPr b="1" lang="en-US" sz="1900">
                <a:solidFill>
                  <a:srgbClr val="0B3D59"/>
                </a:solidFill>
                <a:latin typeface="Calibri"/>
                <a:ea typeface="Calibri"/>
                <a:cs typeface="Calibri"/>
                <a:sym typeface="Calibri"/>
              </a:rPr>
              <a:t>Phase 6: Part 1 Defense Prep (After Finals)</a:t>
            </a:r>
            <a:br>
              <a:rPr b="1"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Rehearse and deliver Part 1 Defense.</a:t>
            </a:r>
            <a:endParaRPr b="1" sz="19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00"/>
              <a:buNone/>
            </a:pPr>
            <a:r>
              <a:rPr b="0" lang="en-US" sz="4400">
                <a:solidFill>
                  <a:srgbClr val="0B3D59"/>
                </a:solidFill>
              </a:rPr>
              <a:t>Roles &amp; Responsibilities</a:t>
            </a:r>
            <a:endParaRPr/>
          </a:p>
        </p:txBody>
      </p:sp>
      <p:sp>
        <p:nvSpPr>
          <p:cNvPr id="292" name="Google Shape;292;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p>
            <a:pPr indent="0" lvl="0" marL="44450" rtl="0" algn="l">
              <a:lnSpc>
                <a:spcPct val="100000"/>
              </a:lnSpc>
              <a:spcBef>
                <a:spcPts val="0"/>
              </a:spcBef>
              <a:spcAft>
                <a:spcPts val="0"/>
              </a:spcAft>
              <a:buClr>
                <a:srgbClr val="888888"/>
              </a:buClr>
              <a:buSzPts val="2000"/>
              <a:buFont typeface="Arial"/>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Roles &amp; Responsibilities</a:t>
            </a:r>
            <a:endParaRPr>
              <a:solidFill>
                <a:srgbClr val="0B3D59"/>
              </a:solidFill>
            </a:endParaRPr>
          </a:p>
        </p:txBody>
      </p:sp>
      <p:graphicFrame>
        <p:nvGraphicFramePr>
          <p:cNvPr id="298" name="Google Shape;298;p38"/>
          <p:cNvGraphicFramePr/>
          <p:nvPr/>
        </p:nvGraphicFramePr>
        <p:xfrm>
          <a:off x="457200" y="1556325"/>
          <a:ext cx="3000000" cy="3000000"/>
        </p:xfrm>
        <a:graphic>
          <a:graphicData uri="http://schemas.openxmlformats.org/drawingml/2006/table">
            <a:tbl>
              <a:tblPr>
                <a:noFill/>
                <a:tableStyleId>{B72C5A8D-5030-47FC-9FBE-639BE6E02443}</a:tableStyleId>
              </a:tblPr>
              <a:tblGrid>
                <a:gridCol w="2720975"/>
                <a:gridCol w="2720975"/>
                <a:gridCol w="2720975"/>
              </a:tblGrid>
              <a:tr h="469075">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Member</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Role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Responsibilities</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627200">
                <a:tc>
                  <a:txBody>
                    <a:bodyPr/>
                    <a:lstStyle/>
                    <a:p>
                      <a:pPr indent="0" lvl="0" marL="0" rtl="0" algn="l">
                        <a:lnSpc>
                          <a:spcPct val="150000"/>
                        </a:lnSpc>
                        <a:spcBef>
                          <a:spcPts val="0"/>
                        </a:spcBef>
                        <a:spcAft>
                          <a:spcPts val="0"/>
                        </a:spcAft>
                        <a:buNone/>
                      </a:pPr>
                      <a:r>
                        <a:rPr b="1" lang="en-US" sz="1800">
                          <a:solidFill>
                            <a:schemeClr val="dk1"/>
                          </a:solidFill>
                          <a:latin typeface="Calibri"/>
                          <a:ea typeface="Calibri"/>
                          <a:cs typeface="Calibri"/>
                          <a:sym typeface="Calibri"/>
                        </a:rPr>
                        <a:t>Sir Islam Abbasi</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Project Supervisor</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Provides technical guidance, reviews progress at each milestone, approves scope and methodology decisions</a:t>
                      </a:r>
                      <a:endParaRPr sz="1800">
                        <a:latin typeface="Calibri"/>
                        <a:ea typeface="Calibri"/>
                        <a:cs typeface="Calibri"/>
                        <a:sym typeface="Calibri"/>
                      </a:endParaRPr>
                    </a:p>
                  </a:txBody>
                  <a:tcPr marT="91425" marB="91425" marR="91425" marL="91425"/>
                </a:tc>
              </a:tr>
              <a:tr h="1627200">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Jaffar</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Project Lead + Oral Cavity Pipeline + Fusion Lead</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latin typeface="Calibri"/>
                          <a:ea typeface="Calibri"/>
                          <a:cs typeface="Calibri"/>
                          <a:sym typeface="Calibri"/>
                        </a:rPr>
                        <a:t>Oral cavity pipeline; cross-modal fusion; </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latin typeface="Calibri"/>
                          <a:ea typeface="Calibri"/>
                          <a:cs typeface="Calibri"/>
                          <a:sym typeface="Calibri"/>
                        </a:rPr>
                        <a:t>backend API;</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latin typeface="Calibri"/>
                          <a:ea typeface="Calibri"/>
                          <a:cs typeface="Calibri"/>
                          <a:sym typeface="Calibri"/>
                        </a:rPr>
                        <a:t>overall coordination</a:t>
                      </a:r>
                      <a:endParaRPr sz="18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US">
                <a:solidFill>
                  <a:srgbClr val="0B3D59"/>
                </a:solidFill>
              </a:rPr>
              <a:t>Roles &amp; Responsibilities</a:t>
            </a:r>
            <a:endParaRPr>
              <a:solidFill>
                <a:srgbClr val="0B3D59"/>
              </a:solidFill>
            </a:endParaRPr>
          </a:p>
        </p:txBody>
      </p:sp>
      <p:graphicFrame>
        <p:nvGraphicFramePr>
          <p:cNvPr id="304" name="Google Shape;304;p39"/>
          <p:cNvGraphicFramePr/>
          <p:nvPr/>
        </p:nvGraphicFramePr>
        <p:xfrm>
          <a:off x="457200" y="1556325"/>
          <a:ext cx="3000000" cy="3000000"/>
        </p:xfrm>
        <a:graphic>
          <a:graphicData uri="http://schemas.openxmlformats.org/drawingml/2006/table">
            <a:tbl>
              <a:tblPr>
                <a:noFill/>
                <a:tableStyleId>{B72C5A8D-5030-47FC-9FBE-639BE6E02443}</a:tableStyleId>
              </a:tblPr>
              <a:tblGrid>
                <a:gridCol w="2720975"/>
                <a:gridCol w="2720975"/>
                <a:gridCol w="2720975"/>
              </a:tblGrid>
              <a:tr h="469075">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Member</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Role</a:t>
                      </a:r>
                      <a:endParaRPr b="1" sz="2000">
                        <a:solidFill>
                          <a:schemeClr val="lt1"/>
                        </a:solidFill>
                        <a:latin typeface="Calibri"/>
                        <a:ea typeface="Calibri"/>
                        <a:cs typeface="Calibri"/>
                        <a:sym typeface="Calibri"/>
                      </a:endParaRPr>
                    </a:p>
                  </a:txBody>
                  <a:tcPr marT="91425" marB="91425" marR="91425" marL="91425">
                    <a:solidFill>
                      <a:srgbClr val="1C7293"/>
                    </a:solidFill>
                  </a:tcPr>
                </a:tc>
                <a:tc>
                  <a:txBody>
                    <a:bodyPr/>
                    <a:lstStyle/>
                    <a:p>
                      <a:pPr indent="0" lvl="0" marL="0" rtl="0" algn="l">
                        <a:spcBef>
                          <a:spcPts val="0"/>
                        </a:spcBef>
                        <a:spcAft>
                          <a:spcPts val="0"/>
                        </a:spcAft>
                        <a:buNone/>
                      </a:pPr>
                      <a:r>
                        <a:rPr b="1" lang="en-US" sz="2000">
                          <a:solidFill>
                            <a:schemeClr val="lt1"/>
                          </a:solidFill>
                          <a:latin typeface="Calibri"/>
                          <a:ea typeface="Calibri"/>
                          <a:cs typeface="Calibri"/>
                          <a:sym typeface="Calibri"/>
                        </a:rPr>
                        <a:t>Responsibilities</a:t>
                      </a:r>
                      <a:endParaRPr b="1" sz="2000">
                        <a:solidFill>
                          <a:schemeClr val="lt1"/>
                        </a:solidFill>
                        <a:latin typeface="Calibri"/>
                        <a:ea typeface="Calibri"/>
                        <a:cs typeface="Calibri"/>
                        <a:sym typeface="Calibri"/>
                      </a:endParaRPr>
                    </a:p>
                  </a:txBody>
                  <a:tcPr marT="91425" marB="91425" marR="91425" marL="91425">
                    <a:solidFill>
                      <a:srgbClr val="1C7293"/>
                    </a:solidFill>
                  </a:tcPr>
                </a:tc>
              </a:tr>
              <a:tr h="1140625">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Shahroz</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solidFill>
                            <a:schemeClr val="dk1"/>
                          </a:solidFill>
                          <a:latin typeface="Calibri"/>
                          <a:ea typeface="Calibri"/>
                          <a:cs typeface="Calibri"/>
                          <a:sym typeface="Calibri"/>
                        </a:rPr>
                        <a:t>Palm &amp; Conjunctiva Pipelines</a:t>
                      </a:r>
                      <a:r>
                        <a:rPr lang="en-US" sz="1800">
                          <a:latin typeface="Calibri"/>
                          <a:ea typeface="Calibri"/>
                          <a:cs typeface="Calibri"/>
                          <a:sym typeface="Calibri"/>
                        </a:rPr>
                        <a:t> + </a:t>
                      </a:r>
                      <a:r>
                        <a:rPr lang="en-US" sz="1800">
                          <a:solidFill>
                            <a:schemeClr val="dk1"/>
                          </a:solidFill>
                          <a:latin typeface="Calibri"/>
                          <a:ea typeface="Calibri"/>
                          <a:cs typeface="Calibri"/>
                          <a:sym typeface="Calibri"/>
                        </a:rPr>
                        <a:t>Deployment Lead</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solidFill>
                            <a:schemeClr val="dk1"/>
                          </a:solidFill>
                          <a:latin typeface="Calibri"/>
                          <a:ea typeface="Calibri"/>
                          <a:cs typeface="Calibri"/>
                          <a:sym typeface="Calibri"/>
                        </a:rPr>
                        <a:t>Full pipeline for palm and conjunctiva (data, encoder, evaluation)</a:t>
                      </a:r>
                      <a:r>
                        <a:rPr lang="en-US" sz="1800">
                          <a:latin typeface="Calibri"/>
                          <a:ea typeface="Calibri"/>
                          <a:cs typeface="Calibri"/>
                          <a:sym typeface="Calibri"/>
                        </a:rPr>
                        <a:t> </a:t>
                      </a:r>
                      <a:r>
                        <a:rPr lang="en-US" sz="1800">
                          <a:solidFill>
                            <a:schemeClr val="dk1"/>
                          </a:solidFill>
                          <a:latin typeface="Calibri"/>
                          <a:ea typeface="Calibri"/>
                          <a:cs typeface="Calibri"/>
                          <a:sym typeface="Calibri"/>
                        </a:rPr>
                        <a:t>handles deployment</a:t>
                      </a:r>
                      <a:endParaRPr sz="1800">
                        <a:latin typeface="Calibri"/>
                        <a:ea typeface="Calibri"/>
                        <a:cs typeface="Calibri"/>
                        <a:sym typeface="Calibri"/>
                      </a:endParaRPr>
                    </a:p>
                  </a:txBody>
                  <a:tcPr marT="91425" marB="91425" marR="91425" marL="91425"/>
                </a:tc>
              </a:tr>
              <a:tr h="2396300">
                <a:tc>
                  <a:txBody>
                    <a:bodyPr/>
                    <a:lstStyle/>
                    <a:p>
                      <a:pPr indent="0" lvl="0" marL="0" rtl="0" algn="l">
                        <a:lnSpc>
                          <a:spcPct val="150000"/>
                        </a:lnSpc>
                        <a:spcBef>
                          <a:spcPts val="0"/>
                        </a:spcBef>
                        <a:spcAft>
                          <a:spcPts val="0"/>
                        </a:spcAft>
                        <a:buNone/>
                      </a:pPr>
                      <a:r>
                        <a:rPr b="1" lang="en-US" sz="1800">
                          <a:latin typeface="Calibri"/>
                          <a:ea typeface="Calibri"/>
                          <a:cs typeface="Calibri"/>
                          <a:sym typeface="Calibri"/>
                        </a:rPr>
                        <a:t>Sarmad</a:t>
                      </a:r>
                      <a:endParaRPr b="1"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None/>
                      </a:pPr>
                      <a:r>
                        <a:rPr lang="en-US" sz="1800">
                          <a:solidFill>
                            <a:schemeClr val="dk1"/>
                          </a:solidFill>
                          <a:latin typeface="Calibri"/>
                          <a:ea typeface="Calibri"/>
                          <a:cs typeface="Calibri"/>
                          <a:sym typeface="Calibri"/>
                        </a:rPr>
                        <a:t>Tongue &amp; Fingernail Pipelines</a:t>
                      </a:r>
                      <a:r>
                        <a:rPr lang="en-US" sz="1800">
                          <a:latin typeface="Calibri"/>
                          <a:ea typeface="Calibri"/>
                          <a:cs typeface="Calibri"/>
                          <a:sym typeface="Calibri"/>
                        </a:rPr>
                        <a:t> +</a:t>
                      </a:r>
                      <a:endParaRPr sz="1800">
                        <a:latin typeface="Calibri"/>
                        <a:ea typeface="Calibri"/>
                        <a:cs typeface="Calibri"/>
                        <a:sym typeface="Calibri"/>
                      </a:endParaRPr>
                    </a:p>
                    <a:p>
                      <a:pPr indent="0" lvl="0" marL="0" rtl="0" algn="l">
                        <a:lnSpc>
                          <a:spcPct val="150000"/>
                        </a:lnSpc>
                        <a:spcBef>
                          <a:spcPts val="0"/>
                        </a:spcBef>
                        <a:spcAft>
                          <a:spcPts val="0"/>
                        </a:spcAft>
                        <a:buNone/>
                      </a:pPr>
                      <a:r>
                        <a:rPr lang="en-US" sz="1800">
                          <a:solidFill>
                            <a:schemeClr val="dk1"/>
                          </a:solidFill>
                          <a:latin typeface="Calibri"/>
                          <a:ea typeface="Calibri"/>
                          <a:cs typeface="Calibri"/>
                          <a:sym typeface="Calibri"/>
                        </a:rPr>
                        <a:t>App Lead </a:t>
                      </a:r>
                      <a:r>
                        <a:rPr lang="en-US" sz="1800">
                          <a:latin typeface="Calibri"/>
                          <a:ea typeface="Calibri"/>
                          <a:cs typeface="Calibri"/>
                          <a:sym typeface="Calibri"/>
                        </a:rPr>
                        <a:t> </a:t>
                      </a:r>
                      <a:endParaRPr sz="1800">
                        <a:latin typeface="Calibri"/>
                        <a:ea typeface="Calibri"/>
                        <a:cs typeface="Calibri"/>
                        <a:sym typeface="Calibri"/>
                      </a:endParaRPr>
                    </a:p>
                  </a:txBody>
                  <a:tcPr marT="91425" marB="91425" marR="91425" marL="91425"/>
                </a:tc>
                <a:tc>
                  <a:txBody>
                    <a:bodyPr/>
                    <a:lstStyle/>
                    <a:p>
                      <a:pPr indent="0" lvl="0" marL="0" rtl="0" algn="l">
                        <a:lnSpc>
                          <a:spcPct val="150000"/>
                        </a:lnSpc>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Full pipeline for tongue and nail (data, encoder, evaluation); App development and app-to-model integration</a:t>
                      </a:r>
                      <a:endParaRPr b="1" sz="1800">
                        <a:solidFill>
                          <a:schemeClr val="dk1"/>
                        </a:solidFill>
                        <a:latin typeface="Calibri"/>
                        <a:ea typeface="Calibri"/>
                        <a:cs typeface="Calibri"/>
                        <a:sym typeface="Calibri"/>
                      </a:endParaRPr>
                    </a:p>
                    <a:p>
                      <a:pPr indent="0" lvl="0" marL="0" rtl="0" algn="l">
                        <a:lnSpc>
                          <a:spcPct val="150000"/>
                        </a:lnSpc>
                        <a:spcBef>
                          <a:spcPts val="0"/>
                        </a:spcBef>
                        <a:spcAft>
                          <a:spcPts val="0"/>
                        </a:spcAft>
                        <a:buNone/>
                      </a:pPr>
                      <a:r>
                        <a:t/>
                      </a:r>
                      <a:endParaRPr sz="1800">
                        <a:latin typeface="Calibri"/>
                        <a:ea typeface="Calibri"/>
                        <a:cs typeface="Calibri"/>
                        <a:sym typeface="Calibri"/>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